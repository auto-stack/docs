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84" r:id="rId4"/>
    <p:sldId id="285" r:id="rId5"/>
    <p:sldId id="260" r:id="rId6"/>
    <p:sldId id="259" r:id="rId7"/>
    <p:sldId id="275" r:id="rId8"/>
    <p:sldId id="262" r:id="rId9"/>
    <p:sldId id="287" r:id="rId10"/>
    <p:sldId id="288" r:id="rId11"/>
    <p:sldId id="263" r:id="rId12"/>
    <p:sldId id="264" r:id="rId13"/>
    <p:sldId id="286" r:id="rId14"/>
    <p:sldId id="265" r:id="rId15"/>
    <p:sldId id="266" r:id="rId16"/>
    <p:sldId id="276" r:id="rId17"/>
    <p:sldId id="277" r:id="rId18"/>
    <p:sldId id="279" r:id="rId19"/>
    <p:sldId id="278" r:id="rId20"/>
    <p:sldId id="280" r:id="rId21"/>
    <p:sldId id="267" r:id="rId22"/>
    <p:sldId id="268" r:id="rId23"/>
    <p:sldId id="291" r:id="rId24"/>
    <p:sldId id="258" r:id="rId25"/>
    <p:sldId id="261" r:id="rId26"/>
    <p:sldId id="282" r:id="rId27"/>
    <p:sldId id="269" r:id="rId28"/>
    <p:sldId id="283" r:id="rId29"/>
    <p:sldId id="270" r:id="rId30"/>
    <p:sldId id="274" r:id="rId31"/>
    <p:sldId id="294" r:id="rId32"/>
    <p:sldId id="271" r:id="rId33"/>
    <p:sldId id="290" r:id="rId34"/>
    <p:sldId id="293" r:id="rId35"/>
    <p:sldId id="272" r:id="rId36"/>
    <p:sldId id="289" r:id="rId37"/>
    <p:sldId id="273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489A"/>
    <a:srgbClr val="C084FC"/>
    <a:srgbClr val="660066"/>
    <a:srgbClr val="22D3EE"/>
    <a:srgbClr val="FF5050"/>
    <a:srgbClr val="EC4899"/>
    <a:srgbClr val="60A5FA"/>
    <a:srgbClr val="F472B6"/>
    <a:srgbClr val="3B82F6"/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51" y="8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20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4096-9190-330D-9344-0457BBA9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BB0D7D-9641-3A30-5F6E-59D056E3E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75771-2449-E67E-B8FD-B66DC01B7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50683-5649-280B-622B-2B0A74810F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98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33BA-B2FC-7301-E04E-FEA83D1A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B9A53-26DF-43FC-4EC3-98A863487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06FFD-A56B-0877-D743-E25F39150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809CB-A286-D132-6EAC-78E56D3C5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145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9FBDD-D581-AAC8-E430-420997B05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2A8D55-F301-54DB-FA18-3B2B8FA3E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D90FDD-5847-C4FD-9D5D-C8B653740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A540-0D95-7F04-E57A-41A50BC5C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79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3A0F3-1484-51C0-8A12-26ACACD88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9997C-7EA1-FB4E-46EF-DFEE827FA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BC3E0-BFB7-49B1-1260-00530E8D0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49CE5-203B-3545-6FE8-611D13693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94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B7AEF-9921-CA71-5901-2BD9E58D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E24250-D2E7-5720-80D4-B2E817B4E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0D87D-6B67-6838-D39D-8C6AA77B9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42943-4D1B-6ADE-4715-AD59F97C9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46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54D98-B79F-A3DE-C397-53A365CC6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BB901-A532-D7E2-85B5-648C7CAF5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90957-105B-24A8-A630-4ED5C5A01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CAC44-E169-9316-A790-5C2E546C7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65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6255-89D6-4E9E-85F8-9F2ECF668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28D58D-F469-4520-4C17-5DD88DDBB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A66A8-71C7-4779-21B3-F2B24494F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4D0C8-F1A7-EF0F-ECB2-998B94D1C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39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D7D58-8C95-0CB0-AC50-FF15B9A29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8E786-A319-B714-50DB-46F5DFA0F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F70E9-A9CC-5BC4-F07C-EE9ABAA3C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95C67-7054-92B5-C321-0D2304EFA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35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3C368-A2AD-F6BB-58EC-168DA6E5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D390E-77F2-AE11-BD90-F7E67619BD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4DDBB-E1F9-366B-C0F7-02D9B88EC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80971-3DC4-246C-F971-93BF48B892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815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83952-DFE2-D62E-1D1D-41E661FB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59F35-E5D2-5675-8FE8-2B9D46654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325F90-8080-72E7-3185-CEDA1DC2A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DBD9E-A752-4DDB-505D-B87EAED7A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5610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978BD-97A2-EA1A-A461-4221F71CA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AF8AD-7CF5-144E-9768-326DA9648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4CA28-6E9E-E218-6DAB-3E8846E1D7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82149-5051-8B9C-8E88-2F17DE6F1E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94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7D784-5C36-FFC2-F4E9-DC43CED2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7686F-3037-6D0C-5FE6-B7CA6F1FE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E4DA7-4CA8-AD31-DFD2-3ACFDC76C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67868-46A8-E716-72E6-8027673A2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177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20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9111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2155D-DF5B-1FC5-6AAE-7CE0B86C7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3D008-0E08-C088-E60E-F93EBEDB1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4A4AF-AD13-131D-26CD-25CE52688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81248-162F-6FC0-74D8-CD93ED629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770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E07A-3F85-D30C-C106-F4817F7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18769-41BF-14C1-6D5C-9BDCEA53F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FA82E1-294B-3CF8-C258-7EAAB39C3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D0696-9EDB-992B-CD20-13542566A4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90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D70E5-466C-2ABD-11BA-7027E3DF8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120BF-6820-5308-B24F-9FA2CF20D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A4177-3ABD-4A27-8D2C-8C322C165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3AF5E-767D-5992-B3AD-B5DED4131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001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094C-551C-01DD-2628-2000D73E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CC28DB-8BCB-DE58-B2BD-BB06B4797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2CC52-A251-449D-644F-A8AFBA562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B009E-BC4B-64CF-905D-5375BFFB0F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36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490B-7EDA-F7CE-0E9B-9624511E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C2881E-4329-2F4D-1AE5-29892B574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BD29E-172C-74D3-78F3-B96D5ADE7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92B22-B162-D4AD-99F6-FB00B2D166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9632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3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7.png"/><Relationship Id="rId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1.png"/><Relationship Id="rId21" Type="http://schemas.openxmlformats.org/officeDocument/2006/relationships/image" Target="../media/image48.png"/><Relationship Id="rId7" Type="http://schemas.openxmlformats.org/officeDocument/2006/relationships/image" Target="../media/image22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20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19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8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21" Type="http://schemas.openxmlformats.org/officeDocument/2006/relationships/image" Target="../media/image74.png"/><Relationship Id="rId34" Type="http://schemas.openxmlformats.org/officeDocument/2006/relationships/image" Target="../media/image87.png"/><Relationship Id="rId7" Type="http://schemas.openxmlformats.org/officeDocument/2006/relationships/image" Target="../media/image22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32" Type="http://schemas.openxmlformats.org/officeDocument/2006/relationships/image" Target="../media/image85.png"/><Relationship Id="rId37" Type="http://schemas.openxmlformats.org/officeDocument/2006/relationships/image" Target="../media/image90.png"/><Relationship Id="rId5" Type="http://schemas.openxmlformats.org/officeDocument/2006/relationships/image" Target="../media/image20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36" Type="http://schemas.openxmlformats.org/officeDocument/2006/relationships/image" Target="../media/image89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31" Type="http://schemas.openxmlformats.org/officeDocument/2006/relationships/image" Target="../media/image84.png"/><Relationship Id="rId4" Type="http://schemas.openxmlformats.org/officeDocument/2006/relationships/image" Target="../media/image19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Relationship Id="rId35" Type="http://schemas.openxmlformats.org/officeDocument/2006/relationships/image" Target="../media/image88.png"/><Relationship Id="rId8" Type="http://schemas.openxmlformats.org/officeDocument/2006/relationships/image" Target="../media/image61.png"/><Relationship Id="rId3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3" Type="http://schemas.openxmlformats.org/officeDocument/2006/relationships/image" Target="../media/image1.png"/><Relationship Id="rId21" Type="http://schemas.openxmlformats.org/officeDocument/2006/relationships/image" Target="../media/image15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97.png"/><Relationship Id="rId5" Type="http://schemas.openxmlformats.org/officeDocument/2006/relationships/image" Target="../media/image92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4" Type="http://schemas.openxmlformats.org/officeDocument/2006/relationships/image" Target="../media/image91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2.png"/><Relationship Id="rId4" Type="http://schemas.openxmlformats.org/officeDocument/2006/relationships/image" Target="../media/image9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4.png"/><Relationship Id="rId18" Type="http://schemas.openxmlformats.org/officeDocument/2006/relationships/image" Target="../media/image118.png"/><Relationship Id="rId26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121.png"/><Relationship Id="rId7" Type="http://schemas.openxmlformats.org/officeDocument/2006/relationships/image" Target="../media/image22.png"/><Relationship Id="rId12" Type="http://schemas.openxmlformats.org/officeDocument/2006/relationships/image" Target="../media/image89.pn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6.png"/><Relationship Id="rId20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3.png"/><Relationship Id="rId24" Type="http://schemas.openxmlformats.org/officeDocument/2006/relationships/image" Target="../media/image124.png"/><Relationship Id="rId5" Type="http://schemas.openxmlformats.org/officeDocument/2006/relationships/image" Target="../media/image108.png"/><Relationship Id="rId15" Type="http://schemas.openxmlformats.org/officeDocument/2006/relationships/image" Target="../media/image115.png"/><Relationship Id="rId23" Type="http://schemas.openxmlformats.org/officeDocument/2006/relationships/image" Target="../media/image123.png"/><Relationship Id="rId10" Type="http://schemas.openxmlformats.org/officeDocument/2006/relationships/image" Target="../media/image112.png"/><Relationship Id="rId19" Type="http://schemas.openxmlformats.org/officeDocument/2006/relationships/image" Target="../media/image119.png"/><Relationship Id="rId4" Type="http://schemas.openxmlformats.org/officeDocument/2006/relationships/image" Target="../media/image91.png"/><Relationship Id="rId9" Type="http://schemas.openxmlformats.org/officeDocument/2006/relationships/image" Target="../media/image111.png"/><Relationship Id="rId14" Type="http://schemas.openxmlformats.org/officeDocument/2006/relationships/image" Target="../media/image88.png"/><Relationship Id="rId22" Type="http://schemas.openxmlformats.org/officeDocument/2006/relationships/image" Target="../media/image1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.png"/><Relationship Id="rId7" Type="http://schemas.openxmlformats.org/officeDocument/2006/relationships/image" Target="../media/image111.png"/><Relationship Id="rId12" Type="http://schemas.openxmlformats.org/officeDocument/2006/relationships/image" Target="../media/image1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18.png"/><Relationship Id="rId5" Type="http://schemas.openxmlformats.org/officeDocument/2006/relationships/image" Target="../media/image22.png"/><Relationship Id="rId10" Type="http://schemas.openxmlformats.org/officeDocument/2006/relationships/image" Target="../media/image127.png"/><Relationship Id="rId4" Type="http://schemas.openxmlformats.org/officeDocument/2006/relationships/image" Target="../media/image91.png"/><Relationship Id="rId9" Type="http://schemas.openxmlformats.org/officeDocument/2006/relationships/image" Target="../media/image1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.png"/><Relationship Id="rId7" Type="http://schemas.openxmlformats.org/officeDocument/2006/relationships/image" Target="../media/image117.png"/><Relationship Id="rId12" Type="http://schemas.openxmlformats.org/officeDocument/2006/relationships/image" Target="../media/image9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30.png"/><Relationship Id="rId5" Type="http://schemas.openxmlformats.org/officeDocument/2006/relationships/image" Target="../media/image22.png"/><Relationship Id="rId10" Type="http://schemas.openxmlformats.org/officeDocument/2006/relationships/image" Target="../media/image129.png"/><Relationship Id="rId4" Type="http://schemas.openxmlformats.org/officeDocument/2006/relationships/image" Target="../media/image91.png"/><Relationship Id="rId9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2.png"/><Relationship Id="rId3" Type="http://schemas.openxmlformats.org/officeDocument/2006/relationships/image" Target="../media/image1.png"/><Relationship Id="rId21" Type="http://schemas.openxmlformats.org/officeDocument/2006/relationships/image" Target="../media/image145.png"/><Relationship Id="rId7" Type="http://schemas.openxmlformats.org/officeDocument/2006/relationships/image" Target="../media/image22.png"/><Relationship Id="rId12" Type="http://schemas.openxmlformats.org/officeDocument/2006/relationships/image" Target="../media/image137.png"/><Relationship Id="rId17" Type="http://schemas.openxmlformats.org/officeDocument/2006/relationships/image" Target="../media/image141.png"/><Relationship Id="rId25" Type="http://schemas.openxmlformats.org/officeDocument/2006/relationships/image" Target="../media/image14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11" Type="http://schemas.openxmlformats.org/officeDocument/2006/relationships/image" Target="../media/image136.png"/><Relationship Id="rId24" Type="http://schemas.openxmlformats.org/officeDocument/2006/relationships/image" Target="../media/image148.png"/><Relationship Id="rId5" Type="http://schemas.openxmlformats.org/officeDocument/2006/relationships/image" Target="../media/image131.png"/><Relationship Id="rId15" Type="http://schemas.openxmlformats.org/officeDocument/2006/relationships/image" Target="../media/image15.png"/><Relationship Id="rId23" Type="http://schemas.openxmlformats.org/officeDocument/2006/relationships/image" Target="../media/image147.png"/><Relationship Id="rId10" Type="http://schemas.openxmlformats.org/officeDocument/2006/relationships/image" Target="../media/image135.png"/><Relationship Id="rId19" Type="http://schemas.openxmlformats.org/officeDocument/2006/relationships/image" Target="../media/image143.png"/><Relationship Id="rId4" Type="http://schemas.openxmlformats.org/officeDocument/2006/relationships/image" Target="../media/image91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156.png"/><Relationship Id="rId18" Type="http://schemas.openxmlformats.org/officeDocument/2006/relationships/image" Target="../media/image160.png"/><Relationship Id="rId3" Type="http://schemas.openxmlformats.org/officeDocument/2006/relationships/image" Target="../media/image1.png"/><Relationship Id="rId21" Type="http://schemas.openxmlformats.org/officeDocument/2006/relationships/image" Target="../media/image163.png"/><Relationship Id="rId7" Type="http://schemas.openxmlformats.org/officeDocument/2006/relationships/image" Target="../media/image151.png"/><Relationship Id="rId12" Type="http://schemas.openxmlformats.org/officeDocument/2006/relationships/image" Target="../media/image90.png"/><Relationship Id="rId17" Type="http://schemas.openxmlformats.org/officeDocument/2006/relationships/image" Target="../media/image15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5.png"/><Relationship Id="rId20" Type="http://schemas.openxmlformats.org/officeDocument/2006/relationships/image" Target="../media/image1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24" Type="http://schemas.openxmlformats.org/officeDocument/2006/relationships/image" Target="../media/image166.png"/><Relationship Id="rId5" Type="http://schemas.openxmlformats.org/officeDocument/2006/relationships/image" Target="../media/image36.png"/><Relationship Id="rId15" Type="http://schemas.openxmlformats.org/officeDocument/2006/relationships/image" Target="../media/image158.png"/><Relationship Id="rId23" Type="http://schemas.openxmlformats.org/officeDocument/2006/relationships/image" Target="../media/image165.png"/><Relationship Id="rId10" Type="http://schemas.openxmlformats.org/officeDocument/2006/relationships/image" Target="../media/image154.png"/><Relationship Id="rId19" Type="http://schemas.openxmlformats.org/officeDocument/2006/relationships/image" Target="../media/image161.png"/><Relationship Id="rId4" Type="http://schemas.openxmlformats.org/officeDocument/2006/relationships/image" Target="../media/image91.png"/><Relationship Id="rId9" Type="http://schemas.openxmlformats.org/officeDocument/2006/relationships/image" Target="../media/image153.png"/><Relationship Id="rId14" Type="http://schemas.openxmlformats.org/officeDocument/2006/relationships/image" Target="../media/image157.png"/><Relationship Id="rId22" Type="http://schemas.openxmlformats.org/officeDocument/2006/relationships/image" Target="../media/image1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1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71.png"/><Relationship Id="rId5" Type="http://schemas.openxmlformats.org/officeDocument/2006/relationships/image" Target="../media/image150.png"/><Relationship Id="rId10" Type="http://schemas.openxmlformats.org/officeDocument/2006/relationships/image" Target="../media/image170.png"/><Relationship Id="rId4" Type="http://schemas.openxmlformats.org/officeDocument/2006/relationships/image" Target="../media/image91.png"/><Relationship Id="rId9" Type="http://schemas.openxmlformats.org/officeDocument/2006/relationships/image" Target="../media/image1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178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177.png"/><Relationship Id="rId17" Type="http://schemas.openxmlformats.org/officeDocument/2006/relationships/image" Target="../media/image18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76.png"/><Relationship Id="rId5" Type="http://schemas.openxmlformats.org/officeDocument/2006/relationships/image" Target="../media/image20.png"/><Relationship Id="rId15" Type="http://schemas.openxmlformats.org/officeDocument/2006/relationships/image" Target="../media/image180.png"/><Relationship Id="rId10" Type="http://schemas.openxmlformats.org/officeDocument/2006/relationships/image" Target="../media/image175.png"/><Relationship Id="rId4" Type="http://schemas.openxmlformats.org/officeDocument/2006/relationships/image" Target="../media/image19.png"/><Relationship Id="rId9" Type="http://schemas.openxmlformats.org/officeDocument/2006/relationships/image" Target="../media/image174.png"/><Relationship Id="rId14" Type="http://schemas.openxmlformats.org/officeDocument/2006/relationships/image" Target="../media/image17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87.png"/><Relationship Id="rId18" Type="http://schemas.openxmlformats.org/officeDocument/2006/relationships/image" Target="../media/image190.png"/><Relationship Id="rId26" Type="http://schemas.openxmlformats.org/officeDocument/2006/relationships/image" Target="../media/image198.png"/><Relationship Id="rId3" Type="http://schemas.openxmlformats.org/officeDocument/2006/relationships/image" Target="../media/image1.png"/><Relationship Id="rId21" Type="http://schemas.openxmlformats.org/officeDocument/2006/relationships/image" Target="../media/image193.png"/><Relationship Id="rId7" Type="http://schemas.openxmlformats.org/officeDocument/2006/relationships/image" Target="../media/image183.png"/><Relationship Id="rId12" Type="http://schemas.openxmlformats.org/officeDocument/2006/relationships/image" Target="../media/image186.png"/><Relationship Id="rId17" Type="http://schemas.openxmlformats.org/officeDocument/2006/relationships/image" Target="../media/image172.png"/><Relationship Id="rId25" Type="http://schemas.openxmlformats.org/officeDocument/2006/relationships/image" Target="../media/image19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1.png"/><Relationship Id="rId20" Type="http://schemas.openxmlformats.org/officeDocument/2006/relationships/image" Target="../media/image192.png"/><Relationship Id="rId29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185.png"/><Relationship Id="rId24" Type="http://schemas.openxmlformats.org/officeDocument/2006/relationships/image" Target="../media/image196.png"/><Relationship Id="rId5" Type="http://schemas.openxmlformats.org/officeDocument/2006/relationships/image" Target="../media/image92.png"/><Relationship Id="rId15" Type="http://schemas.openxmlformats.org/officeDocument/2006/relationships/image" Target="../media/image189.png"/><Relationship Id="rId23" Type="http://schemas.openxmlformats.org/officeDocument/2006/relationships/image" Target="../media/image195.png"/><Relationship Id="rId28" Type="http://schemas.openxmlformats.org/officeDocument/2006/relationships/image" Target="../media/image200.png"/><Relationship Id="rId10" Type="http://schemas.openxmlformats.org/officeDocument/2006/relationships/image" Target="../media/image184.png"/><Relationship Id="rId19" Type="http://schemas.openxmlformats.org/officeDocument/2006/relationships/image" Target="../media/image191.png"/><Relationship Id="rId4" Type="http://schemas.openxmlformats.org/officeDocument/2006/relationships/image" Target="../media/image91.png"/><Relationship Id="rId9" Type="http://schemas.openxmlformats.org/officeDocument/2006/relationships/image" Target="../media/image170.png"/><Relationship Id="rId14" Type="http://schemas.openxmlformats.org/officeDocument/2006/relationships/image" Target="../media/image188.png"/><Relationship Id="rId22" Type="http://schemas.openxmlformats.org/officeDocument/2006/relationships/image" Target="../media/image194.png"/><Relationship Id="rId27" Type="http://schemas.openxmlformats.org/officeDocument/2006/relationships/image" Target="../media/image199.png"/><Relationship Id="rId30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5" Type="http://schemas.openxmlformats.org/officeDocument/2006/relationships/image" Target="../media/image22.png"/><Relationship Id="rId4" Type="http://schemas.openxmlformats.org/officeDocument/2006/relationships/image" Target="../media/image9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png"/><Relationship Id="rId5" Type="http://schemas.openxmlformats.org/officeDocument/2006/relationships/image" Target="../media/image22.png"/><Relationship Id="rId4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4.png"/><Relationship Id="rId5" Type="http://schemas.openxmlformats.org/officeDocument/2006/relationships/image" Target="../media/image22.png"/><Relationship Id="rId4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5" Type="http://schemas.openxmlformats.org/officeDocument/2006/relationships/image" Target="../media/image22.png"/><Relationship Id="rId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png"/><Relationship Id="rId5" Type="http://schemas.openxmlformats.org/officeDocument/2006/relationships/image" Target="../media/image22.png"/><Relationship Id="rId4" Type="http://schemas.openxmlformats.org/officeDocument/2006/relationships/image" Target="../media/image9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11.png"/><Relationship Id="rId18" Type="http://schemas.openxmlformats.org/officeDocument/2006/relationships/image" Target="../media/image216.png"/><Relationship Id="rId3" Type="http://schemas.openxmlformats.org/officeDocument/2006/relationships/image" Target="../media/image1.png"/><Relationship Id="rId21" Type="http://schemas.openxmlformats.org/officeDocument/2006/relationships/image" Target="../media/image219.png"/><Relationship Id="rId7" Type="http://schemas.openxmlformats.org/officeDocument/2006/relationships/image" Target="../media/image22.png"/><Relationship Id="rId12" Type="http://schemas.openxmlformats.org/officeDocument/2006/relationships/image" Target="../media/image210.png"/><Relationship Id="rId17" Type="http://schemas.openxmlformats.org/officeDocument/2006/relationships/image" Target="../media/image21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214.png"/><Relationship Id="rId20" Type="http://schemas.openxmlformats.org/officeDocument/2006/relationships/image" Target="../media/image2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09.png"/><Relationship Id="rId5" Type="http://schemas.openxmlformats.org/officeDocument/2006/relationships/image" Target="../media/image20.png"/><Relationship Id="rId15" Type="http://schemas.openxmlformats.org/officeDocument/2006/relationships/image" Target="../media/image213.png"/><Relationship Id="rId10" Type="http://schemas.openxmlformats.org/officeDocument/2006/relationships/image" Target="../media/image208.png"/><Relationship Id="rId19" Type="http://schemas.openxmlformats.org/officeDocument/2006/relationships/image" Target="../media/image217.png"/><Relationship Id="rId4" Type="http://schemas.openxmlformats.org/officeDocument/2006/relationships/image" Target="../media/image19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Relationship Id="rId22" Type="http://schemas.openxmlformats.org/officeDocument/2006/relationships/image" Target="../media/image220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7.png"/><Relationship Id="rId18" Type="http://schemas.openxmlformats.org/officeDocument/2006/relationships/image" Target="../media/image232.png"/><Relationship Id="rId26" Type="http://schemas.openxmlformats.org/officeDocument/2006/relationships/image" Target="../media/image240.png"/><Relationship Id="rId3" Type="http://schemas.openxmlformats.org/officeDocument/2006/relationships/image" Target="../media/image1.png"/><Relationship Id="rId21" Type="http://schemas.openxmlformats.org/officeDocument/2006/relationships/image" Target="../media/image235.png"/><Relationship Id="rId7" Type="http://schemas.openxmlformats.org/officeDocument/2006/relationships/image" Target="../media/image22.png"/><Relationship Id="rId12" Type="http://schemas.openxmlformats.org/officeDocument/2006/relationships/image" Target="../media/image226.png"/><Relationship Id="rId17" Type="http://schemas.openxmlformats.org/officeDocument/2006/relationships/image" Target="../media/image231.png"/><Relationship Id="rId25" Type="http://schemas.openxmlformats.org/officeDocument/2006/relationships/image" Target="../media/image239.png"/><Relationship Id="rId3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230.png"/><Relationship Id="rId20" Type="http://schemas.openxmlformats.org/officeDocument/2006/relationships/image" Target="../media/image234.png"/><Relationship Id="rId29" Type="http://schemas.openxmlformats.org/officeDocument/2006/relationships/image" Target="../media/image2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11" Type="http://schemas.openxmlformats.org/officeDocument/2006/relationships/image" Target="../media/image225.png"/><Relationship Id="rId24" Type="http://schemas.openxmlformats.org/officeDocument/2006/relationships/image" Target="../media/image238.png"/><Relationship Id="rId32" Type="http://schemas.openxmlformats.org/officeDocument/2006/relationships/image" Target="../media/image246.png"/><Relationship Id="rId5" Type="http://schemas.openxmlformats.org/officeDocument/2006/relationships/image" Target="../media/image92.png"/><Relationship Id="rId15" Type="http://schemas.openxmlformats.org/officeDocument/2006/relationships/image" Target="../media/image229.png"/><Relationship Id="rId23" Type="http://schemas.openxmlformats.org/officeDocument/2006/relationships/image" Target="../media/image237.png"/><Relationship Id="rId28" Type="http://schemas.openxmlformats.org/officeDocument/2006/relationships/image" Target="../media/image242.png"/><Relationship Id="rId10" Type="http://schemas.openxmlformats.org/officeDocument/2006/relationships/image" Target="../media/image224.png"/><Relationship Id="rId19" Type="http://schemas.openxmlformats.org/officeDocument/2006/relationships/image" Target="../media/image233.png"/><Relationship Id="rId31" Type="http://schemas.openxmlformats.org/officeDocument/2006/relationships/image" Target="../media/image245.png"/><Relationship Id="rId4" Type="http://schemas.openxmlformats.org/officeDocument/2006/relationships/image" Target="../media/image91.png"/><Relationship Id="rId9" Type="http://schemas.openxmlformats.org/officeDocument/2006/relationships/image" Target="../media/image223.png"/><Relationship Id="rId14" Type="http://schemas.openxmlformats.org/officeDocument/2006/relationships/image" Target="../media/image228.png"/><Relationship Id="rId22" Type="http://schemas.openxmlformats.org/officeDocument/2006/relationships/image" Target="../media/image236.png"/><Relationship Id="rId27" Type="http://schemas.openxmlformats.org/officeDocument/2006/relationships/image" Target="../media/image241.png"/><Relationship Id="rId30" Type="http://schemas.openxmlformats.org/officeDocument/2006/relationships/image" Target="../media/image244.png"/><Relationship Id="rId8" Type="http://schemas.openxmlformats.org/officeDocument/2006/relationships/image" Target="../media/image22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31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3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3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48.png"/><Relationship Id="rId12" Type="http://schemas.openxmlformats.org/officeDocument/2006/relationships/image" Target="../media/image252.png"/><Relationship Id="rId17" Type="http://schemas.openxmlformats.org/officeDocument/2006/relationships/image" Target="../media/image257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56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7.png"/><Relationship Id="rId11" Type="http://schemas.openxmlformats.org/officeDocument/2006/relationships/image" Target="../media/image22.png"/><Relationship Id="rId5" Type="http://schemas.openxmlformats.org/officeDocument/2006/relationships/image" Target="../media/image36.png"/><Relationship Id="rId15" Type="http://schemas.openxmlformats.org/officeDocument/2006/relationships/image" Target="../media/image255.png"/><Relationship Id="rId10" Type="http://schemas.openxmlformats.org/officeDocument/2006/relationships/image" Target="../media/image251.png"/><Relationship Id="rId19" Type="http://schemas.openxmlformats.org/officeDocument/2006/relationships/image" Target="../media/image17.png"/><Relationship Id="rId4" Type="http://schemas.openxmlformats.org/officeDocument/2006/relationships/image" Target="../media/image91.png"/><Relationship Id="rId9" Type="http://schemas.openxmlformats.org/officeDocument/2006/relationships/image" Target="../media/image250.png"/><Relationship Id="rId14" Type="http://schemas.openxmlformats.org/officeDocument/2006/relationships/image" Target="../media/image25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63.png"/><Relationship Id="rId18" Type="http://schemas.openxmlformats.org/officeDocument/2006/relationships/image" Target="../media/image268.png"/><Relationship Id="rId3" Type="http://schemas.openxmlformats.org/officeDocument/2006/relationships/image" Target="../media/image1.png"/><Relationship Id="rId21" Type="http://schemas.openxmlformats.org/officeDocument/2006/relationships/image" Target="../media/image271.png"/><Relationship Id="rId7" Type="http://schemas.openxmlformats.org/officeDocument/2006/relationships/image" Target="../media/image22.png"/><Relationship Id="rId12" Type="http://schemas.openxmlformats.org/officeDocument/2006/relationships/image" Target="../media/image262.png"/><Relationship Id="rId17" Type="http://schemas.openxmlformats.org/officeDocument/2006/relationships/image" Target="../media/image267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66.png"/><Relationship Id="rId20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1.png"/><Relationship Id="rId5" Type="http://schemas.openxmlformats.org/officeDocument/2006/relationships/image" Target="../media/image20.png"/><Relationship Id="rId15" Type="http://schemas.openxmlformats.org/officeDocument/2006/relationships/image" Target="../media/image265.png"/><Relationship Id="rId23" Type="http://schemas.openxmlformats.org/officeDocument/2006/relationships/image" Target="../media/image15.png"/><Relationship Id="rId10" Type="http://schemas.openxmlformats.org/officeDocument/2006/relationships/image" Target="../media/image260.png"/><Relationship Id="rId19" Type="http://schemas.openxmlformats.org/officeDocument/2006/relationships/image" Target="../media/image269.png"/><Relationship Id="rId4" Type="http://schemas.openxmlformats.org/officeDocument/2006/relationships/image" Target="../media/image19.png"/><Relationship Id="rId9" Type="http://schemas.openxmlformats.org/officeDocument/2006/relationships/image" Target="../media/image259.png"/><Relationship Id="rId14" Type="http://schemas.openxmlformats.org/officeDocument/2006/relationships/image" Target="../media/image264.png"/><Relationship Id="rId22" Type="http://schemas.openxmlformats.org/officeDocument/2006/relationships/image" Target="../media/image27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3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48.png"/><Relationship Id="rId12" Type="http://schemas.openxmlformats.org/officeDocument/2006/relationships/image" Target="../media/image252.png"/><Relationship Id="rId17" Type="http://schemas.openxmlformats.org/officeDocument/2006/relationships/image" Target="../media/image257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56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7.png"/><Relationship Id="rId11" Type="http://schemas.openxmlformats.org/officeDocument/2006/relationships/image" Target="../media/image22.png"/><Relationship Id="rId5" Type="http://schemas.openxmlformats.org/officeDocument/2006/relationships/image" Target="../media/image36.png"/><Relationship Id="rId15" Type="http://schemas.openxmlformats.org/officeDocument/2006/relationships/image" Target="../media/image255.png"/><Relationship Id="rId10" Type="http://schemas.openxmlformats.org/officeDocument/2006/relationships/image" Target="../media/image251.png"/><Relationship Id="rId19" Type="http://schemas.openxmlformats.org/officeDocument/2006/relationships/image" Target="../media/image17.png"/><Relationship Id="rId4" Type="http://schemas.openxmlformats.org/officeDocument/2006/relationships/image" Target="../media/image91.png"/><Relationship Id="rId9" Type="http://schemas.openxmlformats.org/officeDocument/2006/relationships/image" Target="../media/image250.png"/><Relationship Id="rId14" Type="http://schemas.openxmlformats.org/officeDocument/2006/relationships/image" Target="../media/image25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8.png"/><Relationship Id="rId18" Type="http://schemas.openxmlformats.org/officeDocument/2006/relationships/image" Target="../media/image283.png"/><Relationship Id="rId26" Type="http://schemas.openxmlformats.org/officeDocument/2006/relationships/image" Target="../media/image290.png"/><Relationship Id="rId3" Type="http://schemas.openxmlformats.org/officeDocument/2006/relationships/image" Target="../media/image1.png"/><Relationship Id="rId21" Type="http://schemas.openxmlformats.org/officeDocument/2006/relationships/image" Target="../media/image285.png"/><Relationship Id="rId7" Type="http://schemas.openxmlformats.org/officeDocument/2006/relationships/image" Target="../media/image273.png"/><Relationship Id="rId12" Type="http://schemas.openxmlformats.org/officeDocument/2006/relationships/image" Target="../media/image277.png"/><Relationship Id="rId17" Type="http://schemas.openxmlformats.org/officeDocument/2006/relationships/image" Target="../media/image282.png"/><Relationship Id="rId25" Type="http://schemas.openxmlformats.org/officeDocument/2006/relationships/image" Target="../media/image289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81.png"/><Relationship Id="rId20" Type="http://schemas.openxmlformats.org/officeDocument/2006/relationships/image" Target="../media/image2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11" Type="http://schemas.openxmlformats.org/officeDocument/2006/relationships/image" Target="../media/image276.png"/><Relationship Id="rId24" Type="http://schemas.openxmlformats.org/officeDocument/2006/relationships/image" Target="../media/image288.png"/><Relationship Id="rId5" Type="http://schemas.openxmlformats.org/officeDocument/2006/relationships/image" Target="../media/image92.png"/><Relationship Id="rId15" Type="http://schemas.openxmlformats.org/officeDocument/2006/relationships/image" Target="../media/image280.png"/><Relationship Id="rId23" Type="http://schemas.openxmlformats.org/officeDocument/2006/relationships/image" Target="../media/image287.png"/><Relationship Id="rId10" Type="http://schemas.openxmlformats.org/officeDocument/2006/relationships/image" Target="../media/image275.png"/><Relationship Id="rId19" Type="http://schemas.openxmlformats.org/officeDocument/2006/relationships/image" Target="../media/image185.png"/><Relationship Id="rId4" Type="http://schemas.openxmlformats.org/officeDocument/2006/relationships/image" Target="../media/image91.png"/><Relationship Id="rId9" Type="http://schemas.openxmlformats.org/officeDocument/2006/relationships/image" Target="../media/image274.png"/><Relationship Id="rId14" Type="http://schemas.openxmlformats.org/officeDocument/2006/relationships/image" Target="../media/image279.png"/><Relationship Id="rId22" Type="http://schemas.openxmlformats.org/officeDocument/2006/relationships/image" Target="../media/image286.png"/><Relationship Id="rId27" Type="http://schemas.openxmlformats.org/officeDocument/2006/relationships/image" Target="../media/image29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53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48.png"/><Relationship Id="rId12" Type="http://schemas.openxmlformats.org/officeDocument/2006/relationships/image" Target="../media/image252.png"/><Relationship Id="rId17" Type="http://schemas.openxmlformats.org/officeDocument/2006/relationships/image" Target="../media/image257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256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7.png"/><Relationship Id="rId11" Type="http://schemas.openxmlformats.org/officeDocument/2006/relationships/image" Target="../media/image22.png"/><Relationship Id="rId5" Type="http://schemas.openxmlformats.org/officeDocument/2006/relationships/image" Target="../media/image36.png"/><Relationship Id="rId15" Type="http://schemas.openxmlformats.org/officeDocument/2006/relationships/image" Target="../media/image255.png"/><Relationship Id="rId10" Type="http://schemas.openxmlformats.org/officeDocument/2006/relationships/image" Target="../media/image251.png"/><Relationship Id="rId19" Type="http://schemas.openxmlformats.org/officeDocument/2006/relationships/image" Target="../media/image17.png"/><Relationship Id="rId4" Type="http://schemas.openxmlformats.org/officeDocument/2006/relationships/image" Target="../media/image91.png"/><Relationship Id="rId9" Type="http://schemas.openxmlformats.org/officeDocument/2006/relationships/image" Target="../media/image250.png"/><Relationship Id="rId14" Type="http://schemas.openxmlformats.org/officeDocument/2006/relationships/image" Target="../media/image25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png"/><Relationship Id="rId3" Type="http://schemas.openxmlformats.org/officeDocument/2006/relationships/image" Target="../media/image1.png"/><Relationship Id="rId7" Type="http://schemas.openxmlformats.org/officeDocument/2006/relationships/image" Target="../media/image292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73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29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00.png"/><Relationship Id="rId18" Type="http://schemas.openxmlformats.org/officeDocument/2006/relationships/image" Target="../media/image305.png"/><Relationship Id="rId3" Type="http://schemas.openxmlformats.org/officeDocument/2006/relationships/image" Target="../media/image1.png"/><Relationship Id="rId21" Type="http://schemas.openxmlformats.org/officeDocument/2006/relationships/image" Target="../media/image306.png"/><Relationship Id="rId7" Type="http://schemas.openxmlformats.org/officeDocument/2006/relationships/image" Target="../media/image296.png"/><Relationship Id="rId12" Type="http://schemas.openxmlformats.org/officeDocument/2006/relationships/image" Target="../media/image299.png"/><Relationship Id="rId17" Type="http://schemas.openxmlformats.org/officeDocument/2006/relationships/image" Target="../media/image304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303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5.png"/><Relationship Id="rId11" Type="http://schemas.openxmlformats.org/officeDocument/2006/relationships/image" Target="../media/image298.png"/><Relationship Id="rId5" Type="http://schemas.openxmlformats.org/officeDocument/2006/relationships/image" Target="../media/image4.png"/><Relationship Id="rId15" Type="http://schemas.openxmlformats.org/officeDocument/2006/relationships/image" Target="../media/image302.png"/><Relationship Id="rId10" Type="http://schemas.openxmlformats.org/officeDocument/2006/relationships/image" Target="../media/image297.png"/><Relationship Id="rId19" Type="http://schemas.openxmlformats.org/officeDocument/2006/relationships/image" Target="../media/image273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14" Type="http://schemas.openxmlformats.org/officeDocument/2006/relationships/image" Target="../media/image30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31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3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7.png"/><Relationship Id="rId13" Type="http://schemas.openxmlformats.org/officeDocument/2006/relationships/image" Target="../media/image311.png"/><Relationship Id="rId18" Type="http://schemas.openxmlformats.org/officeDocument/2006/relationships/image" Target="../media/image316.png"/><Relationship Id="rId26" Type="http://schemas.openxmlformats.org/officeDocument/2006/relationships/image" Target="../media/image15.png"/><Relationship Id="rId3" Type="http://schemas.openxmlformats.org/officeDocument/2006/relationships/image" Target="../media/image1.png"/><Relationship Id="rId21" Type="http://schemas.openxmlformats.org/officeDocument/2006/relationships/image" Target="../media/image319.png"/><Relationship Id="rId7" Type="http://schemas.openxmlformats.org/officeDocument/2006/relationships/image" Target="../media/image22.png"/><Relationship Id="rId12" Type="http://schemas.openxmlformats.org/officeDocument/2006/relationships/image" Target="../media/image310.png"/><Relationship Id="rId17" Type="http://schemas.openxmlformats.org/officeDocument/2006/relationships/image" Target="../media/image315.png"/><Relationship Id="rId25" Type="http://schemas.openxmlformats.org/officeDocument/2006/relationships/image" Target="../media/image323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314.png"/><Relationship Id="rId20" Type="http://schemas.openxmlformats.org/officeDocument/2006/relationships/image" Target="../media/image3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2.png"/><Relationship Id="rId24" Type="http://schemas.openxmlformats.org/officeDocument/2006/relationships/image" Target="../media/image322.png"/><Relationship Id="rId5" Type="http://schemas.openxmlformats.org/officeDocument/2006/relationships/image" Target="../media/image20.png"/><Relationship Id="rId15" Type="http://schemas.openxmlformats.org/officeDocument/2006/relationships/image" Target="../media/image313.png"/><Relationship Id="rId23" Type="http://schemas.openxmlformats.org/officeDocument/2006/relationships/image" Target="../media/image321.png"/><Relationship Id="rId10" Type="http://schemas.openxmlformats.org/officeDocument/2006/relationships/image" Target="../media/image309.png"/><Relationship Id="rId19" Type="http://schemas.openxmlformats.org/officeDocument/2006/relationships/image" Target="../media/image317.png"/><Relationship Id="rId4" Type="http://schemas.openxmlformats.org/officeDocument/2006/relationships/image" Target="../media/image19.png"/><Relationship Id="rId9" Type="http://schemas.openxmlformats.org/officeDocument/2006/relationships/image" Target="../media/image308.png"/><Relationship Id="rId14" Type="http://schemas.openxmlformats.org/officeDocument/2006/relationships/image" Target="../media/image312.png"/><Relationship Id="rId22" Type="http://schemas.openxmlformats.org/officeDocument/2006/relationships/image" Target="../media/image320.png"/><Relationship Id="rId27" Type="http://schemas.openxmlformats.org/officeDocument/2006/relationships/image" Target="../media/image324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0.png"/><Relationship Id="rId18" Type="http://schemas.openxmlformats.org/officeDocument/2006/relationships/image" Target="../media/image334.png"/><Relationship Id="rId26" Type="http://schemas.openxmlformats.org/officeDocument/2006/relationships/image" Target="../media/image342.png"/><Relationship Id="rId3" Type="http://schemas.openxmlformats.org/officeDocument/2006/relationships/image" Target="../media/image1.png"/><Relationship Id="rId21" Type="http://schemas.openxmlformats.org/officeDocument/2006/relationships/image" Target="../media/image337.png"/><Relationship Id="rId34" Type="http://schemas.openxmlformats.org/officeDocument/2006/relationships/image" Target="../media/image18.svg"/><Relationship Id="rId7" Type="http://schemas.openxmlformats.org/officeDocument/2006/relationships/image" Target="../media/image22.png"/><Relationship Id="rId12" Type="http://schemas.openxmlformats.org/officeDocument/2006/relationships/image" Target="../media/image329.png"/><Relationship Id="rId17" Type="http://schemas.openxmlformats.org/officeDocument/2006/relationships/image" Target="../media/image333.png"/><Relationship Id="rId25" Type="http://schemas.openxmlformats.org/officeDocument/2006/relationships/image" Target="../media/image341.png"/><Relationship Id="rId3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332.png"/><Relationship Id="rId20" Type="http://schemas.openxmlformats.org/officeDocument/2006/relationships/image" Target="../media/image336.png"/><Relationship Id="rId29" Type="http://schemas.openxmlformats.org/officeDocument/2006/relationships/image" Target="../media/image3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328.png"/><Relationship Id="rId24" Type="http://schemas.openxmlformats.org/officeDocument/2006/relationships/image" Target="../media/image340.png"/><Relationship Id="rId32" Type="http://schemas.openxmlformats.org/officeDocument/2006/relationships/image" Target="../media/image348.png"/><Relationship Id="rId5" Type="http://schemas.openxmlformats.org/officeDocument/2006/relationships/image" Target="../media/image36.png"/><Relationship Id="rId15" Type="http://schemas.openxmlformats.org/officeDocument/2006/relationships/image" Target="../media/image331.png"/><Relationship Id="rId23" Type="http://schemas.openxmlformats.org/officeDocument/2006/relationships/image" Target="../media/image339.png"/><Relationship Id="rId28" Type="http://schemas.openxmlformats.org/officeDocument/2006/relationships/image" Target="../media/image344.png"/><Relationship Id="rId10" Type="http://schemas.openxmlformats.org/officeDocument/2006/relationships/image" Target="../media/image327.png"/><Relationship Id="rId19" Type="http://schemas.openxmlformats.org/officeDocument/2006/relationships/image" Target="../media/image335.png"/><Relationship Id="rId31" Type="http://schemas.openxmlformats.org/officeDocument/2006/relationships/image" Target="../media/image347.png"/><Relationship Id="rId4" Type="http://schemas.openxmlformats.org/officeDocument/2006/relationships/image" Target="../media/image91.png"/><Relationship Id="rId9" Type="http://schemas.openxmlformats.org/officeDocument/2006/relationships/image" Target="../media/image326.png"/><Relationship Id="rId14" Type="http://schemas.openxmlformats.org/officeDocument/2006/relationships/image" Target="../media/image40.png"/><Relationship Id="rId22" Type="http://schemas.openxmlformats.org/officeDocument/2006/relationships/image" Target="../media/image338.png"/><Relationship Id="rId27" Type="http://schemas.openxmlformats.org/officeDocument/2006/relationships/image" Target="../media/image343.png"/><Relationship Id="rId30" Type="http://schemas.openxmlformats.org/officeDocument/2006/relationships/image" Target="../media/image346.png"/><Relationship Id="rId8" Type="http://schemas.openxmlformats.org/officeDocument/2006/relationships/image" Target="../media/image32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28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7.png"/><Relationship Id="rId5" Type="http://schemas.openxmlformats.org/officeDocument/2006/relationships/image" Target="../media/image20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png"/><Relationship Id="rId13" Type="http://schemas.openxmlformats.org/officeDocument/2006/relationships/image" Target="../media/image354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12" Type="http://schemas.openxmlformats.org/officeDocument/2006/relationships/image" Target="../media/image353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2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352.png"/><Relationship Id="rId5" Type="http://schemas.openxmlformats.org/officeDocument/2006/relationships/image" Target="../media/image20.png"/><Relationship Id="rId15" Type="http://schemas.openxmlformats.org/officeDocument/2006/relationships/image" Target="../media/image356.png"/><Relationship Id="rId10" Type="http://schemas.openxmlformats.org/officeDocument/2006/relationships/image" Target="../media/image351.png"/><Relationship Id="rId4" Type="http://schemas.openxmlformats.org/officeDocument/2006/relationships/image" Target="../media/image19.png"/><Relationship Id="rId9" Type="http://schemas.openxmlformats.org/officeDocument/2006/relationships/image" Target="../media/image350.png"/><Relationship Id="rId14" Type="http://schemas.openxmlformats.org/officeDocument/2006/relationships/image" Target="../media/image3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7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png"/><Relationship Id="rId13" Type="http://schemas.openxmlformats.org/officeDocument/2006/relationships/image" Target="../media/image365.png"/><Relationship Id="rId3" Type="http://schemas.openxmlformats.org/officeDocument/2006/relationships/image" Target="../media/image1.png"/><Relationship Id="rId7" Type="http://schemas.openxmlformats.org/officeDocument/2006/relationships/image" Target="../media/image36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3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364.png"/><Relationship Id="rId5" Type="http://schemas.openxmlformats.org/officeDocument/2006/relationships/image" Target="../media/image359.png"/><Relationship Id="rId15" Type="http://schemas.openxmlformats.org/officeDocument/2006/relationships/image" Target="../media/image18.svg"/><Relationship Id="rId10" Type="http://schemas.openxmlformats.org/officeDocument/2006/relationships/image" Target="../media/image363.png"/><Relationship Id="rId4" Type="http://schemas.openxmlformats.org/officeDocument/2006/relationships/image" Target="../media/image358.png"/><Relationship Id="rId9" Type="http://schemas.openxmlformats.org/officeDocument/2006/relationships/image" Target="../media/image362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358" y="557358"/>
            <a:ext cx="1399883" cy="139988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228" y="4054428"/>
            <a:ext cx="882744" cy="8827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6521" y="45391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5219" y="1372238"/>
            <a:ext cx="1654541" cy="9607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1832" y="1391416"/>
            <a:ext cx="1017014" cy="101701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6771" y="2712584"/>
            <a:ext cx="1972384" cy="72565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1371600"/>
            <a:ext cx="381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0" y="2400300"/>
            <a:ext cx="38100" cy="38100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0C2228AF-5D33-B361-2175-CC6BA2F2B50D}"/>
              </a:ext>
            </a:extLst>
          </p:cNvPr>
          <p:cNvGrpSpPr/>
          <p:nvPr/>
        </p:nvGrpSpPr>
        <p:grpSpPr>
          <a:xfrm>
            <a:off x="7602766" y="4474545"/>
            <a:ext cx="1658545" cy="453108"/>
            <a:chOff x="4875568" y="4457700"/>
            <a:chExt cx="1658545" cy="453108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5568" y="4457862"/>
              <a:ext cx="1658545" cy="452946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76800" y="4457700"/>
              <a:ext cx="38100" cy="38100"/>
            </a:xfrm>
            <a:prstGeom prst="rect">
              <a:avLst/>
            </a:prstGeom>
          </p:spPr>
        </p:pic>
      </p:grpSp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38400" y="3429000"/>
            <a:ext cx="381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0138" y="3700054"/>
            <a:ext cx="381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4521" y="476250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4471" y="4762500"/>
            <a:ext cx="114300" cy="114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28545" y="4762500"/>
            <a:ext cx="114300" cy="114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666445" y="6267450"/>
            <a:ext cx="38100" cy="38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4450080" y="1207470"/>
            <a:ext cx="3291840" cy="1000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6600" b="1" kern="0" spc="-108" dirty="0">
                <a:solidFill>
                  <a:schemeClr val="accent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</a:t>
            </a:r>
            <a:endParaRPr lang="en-US" sz="6000" dirty="0">
              <a:solidFill>
                <a:schemeClr val="accent2"/>
              </a:solidFill>
            </a:endParaRPr>
          </a:p>
        </p:txBody>
      </p:sp>
      <p:sp>
        <p:nvSpPr>
          <p:cNvPr id="22" name="Text 2"/>
          <p:cNvSpPr/>
          <p:nvPr/>
        </p:nvSpPr>
        <p:spPr>
          <a:xfrm>
            <a:off x="6469365" y="1447800"/>
            <a:ext cx="822960" cy="1000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23" name="Text 3"/>
          <p:cNvSpPr/>
          <p:nvPr/>
        </p:nvSpPr>
        <p:spPr>
          <a:xfrm>
            <a:off x="-213360" y="2495550"/>
            <a:ext cx="1261872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</a:t>
            </a:r>
            <a:r>
              <a:rPr lang="en-US" sz="3600" b="1" dirty="0">
                <a:solidFill>
                  <a:schemeClr val="bg2">
                    <a:lumMod val="9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Made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</a:t>
            </a:r>
            <a:r>
              <a:rPr lang="en-US" sz="3600" b="1" dirty="0">
                <a:solidFill>
                  <a:schemeClr val="bg2">
                    <a:lumMod val="9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360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r>
              <a:rPr lang="en-US" sz="3600" b="1" dirty="0">
                <a:solidFill>
                  <a:schemeClr val="bg2">
                    <a:lumMod val="9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3600" b="1" dirty="0">
                <a:solidFill>
                  <a:schemeClr val="accent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OS</a:t>
            </a:r>
            <a:endParaRPr lang="en-US" sz="3600" dirty="0">
              <a:solidFill>
                <a:schemeClr val="accent6"/>
              </a:solidFill>
            </a:endParaRPr>
          </a:p>
        </p:txBody>
      </p:sp>
      <p:sp>
        <p:nvSpPr>
          <p:cNvPr id="24" name="Text 4"/>
          <p:cNvSpPr/>
          <p:nvPr/>
        </p:nvSpPr>
        <p:spPr>
          <a:xfrm>
            <a:off x="4656919" y="3146462"/>
            <a:ext cx="411480" cy="314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4799341" y="3179800"/>
            <a:ext cx="18288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 err="1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Language.</a:t>
            </a:r>
            <a:r>
              <a:rPr lang="en-US" sz="15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new</a:t>
            </a:r>
            <a:endParaRPr lang="en-US" sz="1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Text 6"/>
          <p:cNvSpPr/>
          <p:nvPr/>
        </p:nvSpPr>
        <p:spPr>
          <a:xfrm>
            <a:off x="6348559" y="3184562"/>
            <a:ext cx="2286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6363699" y="3184562"/>
            <a:ext cx="9144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“Auto”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28" name="Text 8"/>
          <p:cNvSpPr/>
          <p:nvPr/>
        </p:nvSpPr>
        <p:spPr>
          <a:xfrm>
            <a:off x="7080129" y="3189324"/>
            <a:ext cx="228600" cy="2381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4076700" y="4392925"/>
            <a:ext cx="4038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“</a:t>
            </a:r>
            <a:r>
              <a:rPr lang="en-US" sz="15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从群众中来，到群众中去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”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3966046" y="470535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5206618" y="4705350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608862" y="470535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9A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OF AI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4795760" y="6172200"/>
            <a:ext cx="121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2026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5725206" y="6172200"/>
            <a:ext cx="13846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</a:rPr>
              <a:t>赵普明</a:t>
            </a:r>
            <a:r>
              <a:rPr lang="en-US" altLang="zh-CN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@</a:t>
            </a:r>
            <a:r>
              <a:rPr lang="zh-CN" altLang="en-US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</a:rPr>
              <a:t>索维软件</a:t>
            </a:r>
            <a:endParaRPr lang="en-US" sz="1200" dirty="0">
              <a:solidFill>
                <a:schemeClr val="accent6"/>
              </a:solidFill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A3D69A3-1A5E-C94D-4073-91C432C7A0E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71145" y="5360356"/>
            <a:ext cx="1040444" cy="1040444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56142806-A376-D8B1-7E64-99DC32548407}"/>
              </a:ext>
            </a:extLst>
          </p:cNvPr>
          <p:cNvGrpSpPr/>
          <p:nvPr/>
        </p:nvGrpSpPr>
        <p:grpSpPr>
          <a:xfrm>
            <a:off x="8962941" y="5314865"/>
            <a:ext cx="1054376" cy="1085935"/>
            <a:chOff x="5418879" y="1488666"/>
            <a:chExt cx="1350497" cy="135049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E432263-FDB7-E83D-4310-3346B155B078}"/>
                </a:ext>
              </a:extLst>
            </p:cNvPr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" name="图形 39">
              <a:extLst>
                <a:ext uri="{FF2B5EF4-FFF2-40B4-BE49-F238E27FC236}">
                  <a16:creationId xmlns:a16="http://schemas.microsoft.com/office/drawing/2014/main" id="{BDD3F322-7732-8E8C-D688-2EED9B8DD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57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5433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9100" y="1371600"/>
            <a:ext cx="3543300" cy="1905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16764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2427" y="1373762"/>
            <a:ext cx="3543300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1704976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3619500"/>
            <a:ext cx="3543300" cy="2133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3848100"/>
            <a:ext cx="25717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9100" y="3619500"/>
            <a:ext cx="3543300" cy="2133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7700" y="384810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大纲概览</a:t>
            </a:r>
            <a:endParaRPr lang="en-US" sz="27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9A233F7-2DE5-34FE-78B9-7E1B5C57939F}"/>
              </a:ext>
            </a:extLst>
          </p:cNvPr>
          <p:cNvGrpSpPr/>
          <p:nvPr/>
        </p:nvGrpSpPr>
        <p:grpSpPr>
          <a:xfrm>
            <a:off x="612009" y="2204357"/>
            <a:ext cx="518368" cy="381000"/>
            <a:chOff x="609600" y="1485900"/>
            <a:chExt cx="518368" cy="3810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09600" y="1485900"/>
              <a:ext cx="381000" cy="381000"/>
            </a:xfrm>
            <a:prstGeom prst="rect">
              <a:avLst/>
            </a:prstGeom>
          </p:spPr>
        </p:pic>
        <p:sp>
          <p:nvSpPr>
            <p:cNvPr id="21" name="Text 1"/>
            <p:cNvSpPr/>
            <p:nvPr/>
          </p:nvSpPr>
          <p:spPr>
            <a:xfrm>
              <a:off x="746968" y="1485900"/>
              <a:ext cx="3810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"/>
          <p:cNvSpPr/>
          <p:nvPr/>
        </p:nvSpPr>
        <p:spPr>
          <a:xfrm>
            <a:off x="1130377" y="222885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</a:t>
            </a:r>
            <a:r>
              <a:rPr lang="en-US" altLang="zh-CN" sz="1400" b="1" dirty="0">
                <a:solidFill>
                  <a:schemeClr val="bg1"/>
                </a:solidFill>
              </a:rPr>
              <a:t>×</a:t>
            </a: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 </a:t>
            </a:r>
            <a:endParaRPr lang="en-US" sz="1500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C3F7F81-5A4D-85DF-483C-C18CA768BF35}"/>
              </a:ext>
            </a:extLst>
          </p:cNvPr>
          <p:cNvGrpSpPr/>
          <p:nvPr/>
        </p:nvGrpSpPr>
        <p:grpSpPr>
          <a:xfrm>
            <a:off x="612009" y="1514476"/>
            <a:ext cx="518368" cy="381000"/>
            <a:chOff x="609600" y="2171700"/>
            <a:chExt cx="518368" cy="3810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09600" y="2171700"/>
              <a:ext cx="381000" cy="381000"/>
            </a:xfrm>
            <a:prstGeom prst="rect">
              <a:avLst/>
            </a:prstGeom>
          </p:spPr>
        </p:pic>
        <p:sp>
          <p:nvSpPr>
            <p:cNvPr id="23" name="Text 3"/>
            <p:cNvSpPr/>
            <p:nvPr/>
          </p:nvSpPr>
          <p:spPr>
            <a:xfrm>
              <a:off x="746968" y="2171700"/>
              <a:ext cx="3810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24" name="Text 4"/>
          <p:cNvSpPr/>
          <p:nvPr/>
        </p:nvSpPr>
        <p:spPr>
          <a:xfrm>
            <a:off x="1130377" y="1547813"/>
            <a:ext cx="146477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46968" y="28575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43000" y="2914650"/>
            <a:ext cx="190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融合与突破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746968" y="35433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143000" y="3600450"/>
            <a:ext cx="190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行业应用</a:t>
            </a:r>
            <a:r>
              <a:rPr lang="en-US" sz="1500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愿景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4495800" y="22098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495800" y="2552700"/>
            <a:ext cx="3086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把语言生态当作操作系统来开发，实现去年的愿景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267700" y="22098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</a:t>
            </a:r>
            <a:r>
              <a:rPr lang="en-US" altLang="zh-CN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</a:t>
            </a: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语言与</a:t>
            </a:r>
            <a:r>
              <a:rPr lang="en-US" altLang="zh-CN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的关系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8267699" y="2552700"/>
            <a:ext cx="3174923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 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到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4495800" y="43434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融合与突破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14"/>
          <p:cNvSpPr/>
          <p:nvPr/>
        </p:nvSpPr>
        <p:spPr>
          <a:xfrm>
            <a:off x="4495800" y="468630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AI与OS的深度融合，打破不可能三角限制，实现开发效率、程序安全与运行性能的全面突破。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8267699" y="4343400"/>
            <a:ext cx="34507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行业应用</a:t>
            </a: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愿景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6" name="Text 16"/>
          <p:cNvSpPr/>
          <p:nvPr/>
        </p:nvSpPr>
        <p:spPr>
          <a:xfrm>
            <a:off x="8267700" y="468630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从单一OS到跨行业应用，Auto语言将扩展至汽车、机器人和通用应用开发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10668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outline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16002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1676400" y="6067425"/>
            <a:ext cx="13868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"2026"</a:t>
            </a:r>
            <a:endParaRPr lang="en-US" sz="1050" dirty="0"/>
          </a:p>
        </p:txBody>
      </p:sp>
      <p:sp>
        <p:nvSpPr>
          <p:cNvPr id="42" name="Text 22"/>
          <p:cNvSpPr/>
          <p:nvPr/>
        </p:nvSpPr>
        <p:spPr>
          <a:xfrm>
            <a:off x="21336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66B8F5B-094A-110E-2014-E51D624C45C3}"/>
              </a:ext>
            </a:extLst>
          </p:cNvPr>
          <p:cNvSpPr txBox="1"/>
          <p:nvPr/>
        </p:nvSpPr>
        <p:spPr>
          <a:xfrm>
            <a:off x="4798018" y="3820597"/>
            <a:ext cx="655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+ OS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13B5FD9-88D2-12AD-3C34-49FEC6C63DDE}"/>
              </a:ext>
            </a:extLst>
          </p:cNvPr>
          <p:cNvSpPr txBox="1"/>
          <p:nvPr/>
        </p:nvSpPr>
        <p:spPr>
          <a:xfrm>
            <a:off x="8696325" y="3851001"/>
            <a:ext cx="6555782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400" b="1" dirty="0">
                <a:solidFill>
                  <a:srgbClr val="22C5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Once, Run Anywhere</a:t>
            </a:r>
            <a:endParaRPr lang="en-US" altLang="zh-CN" sz="1400" dirty="0">
              <a:solidFill>
                <a:srgbClr val="22C55E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4CABB5C-2DAB-29B6-7109-4C3AE017DFF6}"/>
              </a:ext>
            </a:extLst>
          </p:cNvPr>
          <p:cNvSpPr txBox="1"/>
          <p:nvPr/>
        </p:nvSpPr>
        <p:spPr>
          <a:xfrm>
            <a:off x="4873087" y="1692729"/>
            <a:ext cx="764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LaOS</a:t>
            </a:r>
            <a:endParaRPr lang="zh-CN" altLang="en-US" dirty="0">
              <a:solidFill>
                <a:srgbClr val="60A5FA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5C41594-97A4-0852-B0C4-AE14DE68A787}"/>
              </a:ext>
            </a:extLst>
          </p:cNvPr>
          <p:cNvSpPr txBox="1"/>
          <p:nvPr/>
        </p:nvSpPr>
        <p:spPr>
          <a:xfrm>
            <a:off x="8610600" y="1664734"/>
            <a:ext cx="764647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800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</a:t>
            </a:r>
            <a:r>
              <a:rPr lang="en-US" altLang="zh-CN" sz="1600" b="1" dirty="0">
                <a:solidFill>
                  <a:srgbClr val="EC4899"/>
                </a:solidFill>
              </a:rPr>
              <a:t>×</a:t>
            </a:r>
            <a:r>
              <a:rPr lang="en-US" altLang="zh-CN" sz="1800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</a:t>
            </a:r>
            <a:endParaRPr lang="en-US" altLang="zh-CN" sz="1800" dirty="0">
              <a:solidFill>
                <a:srgbClr val="EC48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C1DF-0E17-88EB-A72A-C47BB0B9A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3C1C0F5-08F1-F119-3D59-D3373201A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E37F1CC-428E-5774-73DC-B75386389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E34ADAEB-52BF-AF35-874C-B6DF5C5DB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A602EAA4-DD22-EF70-198B-96E883FBE0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FB20CA4-4F1D-B609-49F9-A9B7A89E3E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E77E406C-6182-5D5C-FCA3-93572576EC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760CE7E7-B483-9A07-8767-1D7D0FC5A976}"/>
              </a:ext>
            </a:extLst>
          </p:cNvPr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 – </a:t>
            </a:r>
            <a:r>
              <a:rPr lang="en-US" altLang="zh-CN" sz="2700" b="1" dirty="0">
                <a:solidFill>
                  <a:schemeClr val="accent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</a:t>
            </a: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编程语言开放社区（</a:t>
            </a:r>
            <a:r>
              <a:rPr lang="en-US" altLang="zh-CN" sz="270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PLOC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270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6A81D996-9D45-9988-3340-03CBBD2A4B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3662" y="1321292"/>
            <a:ext cx="6588863" cy="4215416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A1582072-2D85-683F-BE33-6883B181BB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1145" y="5360356"/>
            <a:ext cx="1040444" cy="1040444"/>
          </a:xfrm>
          <a:prstGeom prst="rect">
            <a:avLst/>
          </a:prstGeom>
        </p:spPr>
      </p:pic>
      <p:grpSp>
        <p:nvGrpSpPr>
          <p:cNvPr id="53" name="组合 52">
            <a:extLst>
              <a:ext uri="{FF2B5EF4-FFF2-40B4-BE49-F238E27FC236}">
                <a16:creationId xmlns:a16="http://schemas.microsoft.com/office/drawing/2014/main" id="{F04F7D62-786A-B15A-B1F4-AB6CDAF809AE}"/>
              </a:ext>
            </a:extLst>
          </p:cNvPr>
          <p:cNvGrpSpPr/>
          <p:nvPr/>
        </p:nvGrpSpPr>
        <p:grpSpPr>
          <a:xfrm>
            <a:off x="609600" y="5337610"/>
            <a:ext cx="1054376" cy="1085935"/>
            <a:chOff x="5418879" y="1488666"/>
            <a:chExt cx="1350497" cy="1350497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468DC65D-861A-B992-A57E-CEB747719AC0}"/>
                </a:ext>
              </a:extLst>
            </p:cNvPr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形 54">
              <a:extLst>
                <a:ext uri="{FF2B5EF4-FFF2-40B4-BE49-F238E27FC236}">
                  <a16:creationId xmlns:a16="http://schemas.microsoft.com/office/drawing/2014/main" id="{6DA2C686-8808-C460-2242-63379D869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4274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E409E-956E-6133-4976-9E66D999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31E8C28-1A34-8240-5B5F-0E7FE85FF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BC17CEA-B046-D631-FFC5-4B4DC1E406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80FA3575-6FF7-3B7A-940F-B96666579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621138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65C21B31-4B1E-6979-D518-8344D5A59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735717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E7505F48-6599-CDEE-1D63-FC100160E7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0200AE7E-17F8-1FC5-3ECF-3238F52EC1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6E41685D-0DB7-D389-0194-100C4F06ECE7}"/>
              </a:ext>
            </a:extLst>
          </p:cNvPr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 – </a:t>
            </a:r>
            <a:r>
              <a:rPr lang="en-US" altLang="zh-CN" sz="2700" b="1" dirty="0">
                <a:solidFill>
                  <a:schemeClr val="accent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</a:t>
            </a: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</a:t>
            </a:r>
            <a:r>
              <a:rPr lang="en-US" altLang="zh-CN" sz="27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Simpler</a:t>
            </a: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altLang="zh-CN" sz="270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</a:t>
            </a: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, </a:t>
            </a:r>
            <a:r>
              <a:rPr lang="en-US" altLang="zh-CN" sz="27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Better</a:t>
            </a: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altLang="zh-CN" sz="2700" b="1" dirty="0">
                <a:solidFill>
                  <a:srgbClr val="FFC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</a:t>
            </a:r>
            <a:endParaRPr lang="en-US" sz="2700" dirty="0">
              <a:solidFill>
                <a:srgbClr val="FFC000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825" y="2683421"/>
            <a:ext cx="2342051" cy="2342051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6910" y="1587496"/>
            <a:ext cx="4160490" cy="76200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50195" y="1739896"/>
            <a:ext cx="304800" cy="30480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26395" y="1816096"/>
            <a:ext cx="152400" cy="152400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6910" y="2425696"/>
            <a:ext cx="4160490" cy="647700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21210" y="2539996"/>
            <a:ext cx="342900" cy="381000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7410" y="2644771"/>
            <a:ext cx="190500" cy="152400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6910" y="3225796"/>
            <a:ext cx="4160490" cy="647700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821210" y="3340096"/>
            <a:ext cx="304800" cy="381000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897410" y="3444871"/>
            <a:ext cx="152400" cy="152400"/>
          </a:xfrm>
          <a:prstGeom prst="rect">
            <a:avLst/>
          </a:prstGeom>
        </p:spPr>
      </p:pic>
      <p:pic>
        <p:nvPicPr>
          <p:cNvPr id="21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6910" y="4025896"/>
            <a:ext cx="4160490" cy="647700"/>
          </a:xfrm>
          <a:prstGeom prst="rect">
            <a:avLst/>
          </a:prstGeom>
        </p:spPr>
      </p:pic>
      <p:pic>
        <p:nvPicPr>
          <p:cNvPr id="22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21210" y="4140196"/>
            <a:ext cx="304800" cy="381000"/>
          </a:xfrm>
          <a:prstGeom prst="rect">
            <a:avLst/>
          </a:prstGeom>
        </p:spPr>
      </p:pic>
      <p:pic>
        <p:nvPicPr>
          <p:cNvPr id="23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897410" y="4244971"/>
            <a:ext cx="152400" cy="152400"/>
          </a:xfrm>
          <a:prstGeom prst="rect">
            <a:avLst/>
          </a:prstGeom>
        </p:spPr>
      </p:pic>
      <p:pic>
        <p:nvPicPr>
          <p:cNvPr id="24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06910" y="4825996"/>
            <a:ext cx="4160490" cy="647700"/>
          </a:xfrm>
          <a:prstGeom prst="rect">
            <a:avLst/>
          </a:prstGeom>
        </p:spPr>
      </p:pic>
      <p:pic>
        <p:nvPicPr>
          <p:cNvPr id="25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21210" y="4940296"/>
            <a:ext cx="342900" cy="381000"/>
          </a:xfrm>
          <a:prstGeom prst="rect">
            <a:avLst/>
          </a:prstGeom>
        </p:spPr>
      </p:pic>
      <p:pic>
        <p:nvPicPr>
          <p:cNvPr id="26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97410" y="5045071"/>
            <a:ext cx="190500" cy="152400"/>
          </a:xfrm>
          <a:prstGeom prst="rect">
            <a:avLst/>
          </a:prstGeom>
        </p:spPr>
      </p:pic>
      <p:pic>
        <p:nvPicPr>
          <p:cNvPr id="27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4600" y="1587496"/>
            <a:ext cx="4160490" cy="762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28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663755" y="1739896"/>
            <a:ext cx="304800" cy="304800"/>
          </a:xfrm>
          <a:prstGeom prst="rect">
            <a:avLst/>
          </a:prstGeom>
        </p:spPr>
      </p:pic>
      <p:pic>
        <p:nvPicPr>
          <p:cNvPr id="29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759005" y="1816096"/>
            <a:ext cx="114300" cy="152400"/>
          </a:xfrm>
          <a:prstGeom prst="rect">
            <a:avLst/>
          </a:prstGeom>
        </p:spPr>
      </p:pic>
      <p:pic>
        <p:nvPicPr>
          <p:cNvPr id="30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2425696"/>
            <a:ext cx="4160490" cy="647700"/>
          </a:xfrm>
          <a:prstGeom prst="rect">
            <a:avLst/>
          </a:prstGeom>
        </p:spPr>
      </p:pic>
      <p:pic>
        <p:nvPicPr>
          <p:cNvPr id="31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38900" y="2539996"/>
            <a:ext cx="323850" cy="381000"/>
          </a:xfrm>
          <a:prstGeom prst="rect">
            <a:avLst/>
          </a:prstGeom>
        </p:spPr>
      </p:pic>
      <p:pic>
        <p:nvPicPr>
          <p:cNvPr id="32" name="Image 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15100" y="2644771"/>
            <a:ext cx="171450" cy="152400"/>
          </a:xfrm>
          <a:prstGeom prst="rect">
            <a:avLst/>
          </a:prstGeom>
        </p:spPr>
      </p:pic>
      <p:pic>
        <p:nvPicPr>
          <p:cNvPr id="33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3225796"/>
            <a:ext cx="4160490" cy="647700"/>
          </a:xfrm>
          <a:prstGeom prst="rect">
            <a:avLst/>
          </a:prstGeom>
        </p:spPr>
      </p:pic>
      <p:pic>
        <p:nvPicPr>
          <p:cNvPr id="34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38900" y="3340096"/>
            <a:ext cx="323850" cy="381000"/>
          </a:xfrm>
          <a:prstGeom prst="rect">
            <a:avLst/>
          </a:prstGeom>
        </p:spPr>
      </p:pic>
      <p:pic>
        <p:nvPicPr>
          <p:cNvPr id="35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15100" y="3444871"/>
            <a:ext cx="171450" cy="152400"/>
          </a:xfrm>
          <a:prstGeom prst="rect">
            <a:avLst/>
          </a:prstGeom>
        </p:spPr>
      </p:pic>
      <p:pic>
        <p:nvPicPr>
          <p:cNvPr id="36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4025896"/>
            <a:ext cx="4160490" cy="647700"/>
          </a:xfrm>
          <a:prstGeom prst="rect">
            <a:avLst/>
          </a:prstGeom>
        </p:spPr>
      </p:pic>
      <p:pic>
        <p:nvPicPr>
          <p:cNvPr id="37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8900" y="4140196"/>
            <a:ext cx="304800" cy="381000"/>
          </a:xfrm>
          <a:prstGeom prst="rect">
            <a:avLst/>
          </a:prstGeom>
        </p:spPr>
      </p:pic>
      <p:pic>
        <p:nvPicPr>
          <p:cNvPr id="38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15100" y="4244971"/>
            <a:ext cx="152400" cy="152400"/>
          </a:xfrm>
          <a:prstGeom prst="rect">
            <a:avLst/>
          </a:prstGeom>
        </p:spPr>
      </p:pic>
      <p:pic>
        <p:nvPicPr>
          <p:cNvPr id="39" name="Image 3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24600" y="4825996"/>
            <a:ext cx="4160490" cy="647700"/>
          </a:xfrm>
          <a:prstGeom prst="rect">
            <a:avLst/>
          </a:prstGeom>
        </p:spPr>
      </p:pic>
      <p:pic>
        <p:nvPicPr>
          <p:cNvPr id="40" name="Image 3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38900" y="4940296"/>
            <a:ext cx="304800" cy="381000"/>
          </a:xfrm>
          <a:prstGeom prst="rect">
            <a:avLst/>
          </a:prstGeom>
        </p:spPr>
      </p:pic>
      <p:pic>
        <p:nvPicPr>
          <p:cNvPr id="41" name="Image 35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15100" y="5045071"/>
            <a:ext cx="152400" cy="152400"/>
          </a:xfrm>
          <a:prstGeom prst="rect">
            <a:avLst/>
          </a:prstGeom>
        </p:spPr>
      </p:pic>
      <p:sp>
        <p:nvSpPr>
          <p:cNvPr id="43" name="Text 2"/>
          <p:cNvSpPr/>
          <p:nvPr/>
        </p:nvSpPr>
        <p:spPr>
          <a:xfrm>
            <a:off x="2350710" y="1739896"/>
            <a:ext cx="3291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Simpler </a:t>
            </a:r>
            <a:r>
              <a:rPr lang="en-US" sz="1800" b="1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1800" dirty="0">
              <a:solidFill>
                <a:schemeClr val="accent5"/>
              </a:solidFill>
            </a:endParaRPr>
          </a:p>
        </p:txBody>
      </p:sp>
      <p:sp>
        <p:nvSpPr>
          <p:cNvPr id="44" name="Text 3"/>
          <p:cNvSpPr/>
          <p:nvPr/>
        </p:nvSpPr>
        <p:spPr>
          <a:xfrm>
            <a:off x="1859310" y="2044696"/>
            <a:ext cx="38556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zh-CN" alt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提高开发效率</a:t>
            </a:r>
            <a:endParaRPr lang="en-US" sz="900" dirty="0"/>
          </a:p>
        </p:txBody>
      </p:sp>
      <p:sp>
        <p:nvSpPr>
          <p:cNvPr id="46" name="Text 4"/>
          <p:cNvSpPr/>
          <p:nvPr/>
        </p:nvSpPr>
        <p:spPr>
          <a:xfrm>
            <a:off x="2278410" y="2539996"/>
            <a:ext cx="6400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Script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mode with </a:t>
            </a:r>
            <a:r>
              <a:rPr lang="en-US" sz="1200" b="1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AutoVM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interpreter</a:t>
            </a:r>
            <a:endParaRPr lang="en-US" sz="1200" dirty="0"/>
          </a:p>
        </p:txBody>
      </p:sp>
      <p:sp>
        <p:nvSpPr>
          <p:cNvPr id="48" name="Text 5"/>
          <p:cNvSpPr/>
          <p:nvPr/>
        </p:nvSpPr>
        <p:spPr>
          <a:xfrm>
            <a:off x="2278410" y="2768596"/>
            <a:ext cx="31966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脚本模式，无需编译</a:t>
            </a:r>
            <a:endParaRPr lang="en-US" sz="1050" dirty="0"/>
          </a:p>
        </p:txBody>
      </p:sp>
      <p:sp>
        <p:nvSpPr>
          <p:cNvPr id="49" name="Text 6"/>
          <p:cNvSpPr/>
          <p:nvPr/>
        </p:nvSpPr>
        <p:spPr>
          <a:xfrm>
            <a:off x="2240310" y="3340096"/>
            <a:ext cx="2926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Simpler </a:t>
            </a:r>
            <a:r>
              <a:rPr lang="en-US" sz="1200" b="1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Lifetime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50" name="Text 7"/>
          <p:cNvSpPr/>
          <p:nvPr/>
        </p:nvSpPr>
        <p:spPr>
          <a:xfrm>
            <a:off x="2240310" y="3568696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简化生命周期管理</a:t>
            </a:r>
            <a:endParaRPr lang="en-US" sz="1050" dirty="0"/>
          </a:p>
        </p:txBody>
      </p:sp>
      <p:sp>
        <p:nvSpPr>
          <p:cNvPr id="51" name="Text 8"/>
          <p:cNvSpPr/>
          <p:nvPr/>
        </p:nvSpPr>
        <p:spPr>
          <a:xfrm>
            <a:off x="2240310" y="4140196"/>
            <a:ext cx="2926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Simpler </a:t>
            </a:r>
            <a:r>
              <a:rPr 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Generics</a:t>
            </a:r>
            <a:endParaRPr lang="en-US" sz="1200" dirty="0">
              <a:solidFill>
                <a:srgbClr val="C084FC"/>
              </a:solidFill>
            </a:endParaRPr>
          </a:p>
        </p:txBody>
      </p:sp>
      <p:sp>
        <p:nvSpPr>
          <p:cNvPr id="52" name="Text 9"/>
          <p:cNvSpPr/>
          <p:nvPr/>
        </p:nvSpPr>
        <p:spPr>
          <a:xfrm>
            <a:off x="2240310" y="4368796"/>
            <a:ext cx="2133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更简洁的泛型语法</a:t>
            </a:r>
            <a:endParaRPr lang="en-US" sz="1050" dirty="0"/>
          </a:p>
        </p:txBody>
      </p:sp>
      <p:sp>
        <p:nvSpPr>
          <p:cNvPr id="56" name="Text 10"/>
          <p:cNvSpPr/>
          <p:nvPr/>
        </p:nvSpPr>
        <p:spPr>
          <a:xfrm>
            <a:off x="2278410" y="4940296"/>
            <a:ext cx="4389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Simpler </a:t>
            </a:r>
            <a:r>
              <a:rPr lang="en-US" sz="1200" b="1" dirty="0">
                <a:solidFill>
                  <a:srgbClr val="FFC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Meta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programming</a:t>
            </a:r>
            <a:endParaRPr lang="en-US" sz="1200" dirty="0"/>
          </a:p>
        </p:txBody>
      </p:sp>
      <p:sp>
        <p:nvSpPr>
          <p:cNvPr id="57" name="Text 11"/>
          <p:cNvSpPr/>
          <p:nvPr/>
        </p:nvSpPr>
        <p:spPr>
          <a:xfrm>
            <a:off x="2278410" y="5168896"/>
            <a:ext cx="236100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类</a:t>
            </a:r>
            <a:r>
              <a:rPr lang="en-US" sz="1050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Zig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的元编程体验</a:t>
            </a:r>
            <a:endParaRPr lang="en-US" sz="1050" dirty="0"/>
          </a:p>
        </p:txBody>
      </p:sp>
      <p:sp>
        <p:nvSpPr>
          <p:cNvPr id="58" name="Text 12"/>
          <p:cNvSpPr/>
          <p:nvPr/>
        </p:nvSpPr>
        <p:spPr>
          <a:xfrm>
            <a:off x="7517115" y="1739896"/>
            <a:ext cx="21945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Better </a:t>
            </a:r>
            <a:r>
              <a:rPr lang="en-US" sz="1800" b="1" dirty="0">
                <a:solidFill>
                  <a:srgbClr val="FFC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59" name="Text 13"/>
          <p:cNvSpPr/>
          <p:nvPr/>
        </p:nvSpPr>
        <p:spPr>
          <a:xfrm>
            <a:off x="6477000" y="2044696"/>
            <a:ext cx="385569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zh-CN" alt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增强语言能力</a:t>
            </a:r>
            <a:endParaRPr lang="en-US" sz="900" dirty="0"/>
          </a:p>
        </p:txBody>
      </p:sp>
      <p:sp>
        <p:nvSpPr>
          <p:cNvPr id="60" name="Text 14"/>
          <p:cNvSpPr/>
          <p:nvPr/>
        </p:nvSpPr>
        <p:spPr>
          <a:xfrm>
            <a:off x="6877050" y="2539996"/>
            <a:ext cx="13564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 + </a:t>
            </a:r>
            <a:r>
              <a:rPr 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OOP</a:t>
            </a:r>
            <a:endParaRPr lang="en-US" sz="1200" dirty="0">
              <a:solidFill>
                <a:srgbClr val="C084FC"/>
              </a:solidFill>
            </a:endParaRPr>
          </a:p>
        </p:txBody>
      </p:sp>
      <p:sp>
        <p:nvSpPr>
          <p:cNvPr id="61" name="Text 15"/>
          <p:cNvSpPr/>
          <p:nvPr/>
        </p:nvSpPr>
        <p:spPr>
          <a:xfrm>
            <a:off x="6877050" y="2768596"/>
            <a:ext cx="2773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C语言 + 面向对象特性</a:t>
            </a:r>
            <a:endParaRPr lang="en-US" sz="1050" dirty="0"/>
          </a:p>
        </p:txBody>
      </p:sp>
      <p:sp>
        <p:nvSpPr>
          <p:cNvPr id="62" name="Text 16"/>
          <p:cNvSpPr/>
          <p:nvPr/>
        </p:nvSpPr>
        <p:spPr>
          <a:xfrm>
            <a:off x="6877050" y="3340096"/>
            <a:ext cx="2377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Module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system</a:t>
            </a:r>
            <a:endParaRPr lang="en-US" sz="1200" dirty="0"/>
          </a:p>
        </p:txBody>
      </p:sp>
      <p:sp>
        <p:nvSpPr>
          <p:cNvPr id="63" name="Text 17"/>
          <p:cNvSpPr/>
          <p:nvPr/>
        </p:nvSpPr>
        <p:spPr>
          <a:xfrm>
            <a:off x="6877050" y="3568696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现代模块系统</a:t>
            </a:r>
            <a:endParaRPr lang="en-US" sz="1050" dirty="0"/>
          </a:p>
        </p:txBody>
      </p:sp>
      <p:sp>
        <p:nvSpPr>
          <p:cNvPr id="64" name="Text 18"/>
          <p:cNvSpPr/>
          <p:nvPr/>
        </p:nvSpPr>
        <p:spPr>
          <a:xfrm>
            <a:off x="6858000" y="4140196"/>
            <a:ext cx="2926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Generics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</a:t>
            </a:r>
            <a:r>
              <a:rPr lang="en-US" sz="1200" b="1" dirty="0">
                <a:solidFill>
                  <a:schemeClr val="accent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CTE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65" name="Text 19"/>
          <p:cNvSpPr/>
          <p:nvPr/>
        </p:nvSpPr>
        <p:spPr>
          <a:xfrm>
            <a:off x="6858000" y="4368796"/>
            <a:ext cx="2346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泛型 + 编译期执行</a:t>
            </a:r>
            <a:endParaRPr lang="en-US" sz="1050" dirty="0"/>
          </a:p>
        </p:txBody>
      </p:sp>
      <p:sp>
        <p:nvSpPr>
          <p:cNvPr id="66" name="Text 20"/>
          <p:cNvSpPr/>
          <p:nvPr/>
        </p:nvSpPr>
        <p:spPr>
          <a:xfrm>
            <a:off x="6858000" y="4940296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505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Safety</a:t>
            </a:r>
            <a:endParaRPr lang="en-US" sz="1200" dirty="0">
              <a:solidFill>
                <a:srgbClr val="FF5050"/>
              </a:solidFill>
            </a:endParaRPr>
          </a:p>
        </p:txBody>
      </p:sp>
      <p:sp>
        <p:nvSpPr>
          <p:cNvPr id="67" name="Text 21"/>
          <p:cNvSpPr/>
          <p:nvPr/>
        </p:nvSpPr>
        <p:spPr>
          <a:xfrm>
            <a:off x="6858000" y="5168896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内存安全保障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1623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680647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22872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333625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90443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199705"/>
            <a:ext cx="1255514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2714" y="4199705"/>
            <a:ext cx="1384846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97560" y="4199705"/>
            <a:ext cx="1384846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2405" y="4199705"/>
            <a:ext cx="1384995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4550355"/>
            <a:ext cx="1255514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12714" y="4542605"/>
            <a:ext cx="1384846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97560" y="4542605"/>
            <a:ext cx="1384846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82405" y="4542605"/>
            <a:ext cx="1384995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4885505"/>
            <a:ext cx="1255514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12714" y="4885505"/>
            <a:ext cx="1384846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097560" y="4885505"/>
            <a:ext cx="1384846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82405" y="4885505"/>
            <a:ext cx="1384995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5228405"/>
            <a:ext cx="1255514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12714" y="5228405"/>
            <a:ext cx="1384846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97560" y="5228405"/>
            <a:ext cx="1384846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82405" y="5228405"/>
            <a:ext cx="1384995" cy="342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7200" y="5571305"/>
            <a:ext cx="5410200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" y="5571305"/>
            <a:ext cx="1255514" cy="342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712714" y="5571305"/>
            <a:ext cx="1384846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097560" y="5571305"/>
            <a:ext cx="1384846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482405" y="5571305"/>
            <a:ext cx="1384995" cy="342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34150" y="1524000"/>
            <a:ext cx="4762500" cy="3810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352258" y="5543550"/>
            <a:ext cx="114300" cy="114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82570" y="5543550"/>
            <a:ext cx="114300" cy="1143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36534" y="5543550"/>
            <a:ext cx="114300" cy="114300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457200" y="457200"/>
            <a:ext cx="112776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 – 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编程语言的</a:t>
            </a:r>
            <a:r>
              <a:rPr lang="en-US" sz="2700" b="1" dirty="0" err="1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不可能三角</a:t>
            </a:r>
            <a:endParaRPr lang="en-US" sz="2700" dirty="0">
              <a:solidFill>
                <a:schemeClr val="accent4"/>
              </a:solidFill>
            </a:endParaRPr>
          </a:p>
        </p:txBody>
      </p:sp>
      <p:sp>
        <p:nvSpPr>
          <p:cNvPr id="42" name="Text 1"/>
          <p:cNvSpPr/>
          <p:nvPr/>
        </p:nvSpPr>
        <p:spPr>
          <a:xfrm>
            <a:off x="762000" y="11811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传统不可能三角</a:t>
            </a:r>
            <a:endParaRPr lang="en-US" sz="1800" dirty="0"/>
          </a:p>
        </p:txBody>
      </p:sp>
      <p:sp>
        <p:nvSpPr>
          <p:cNvPr id="43" name="Text 2"/>
          <p:cNvSpPr/>
          <p:nvPr/>
        </p:nvSpPr>
        <p:spPr>
          <a:xfrm>
            <a:off x="457200" y="1600200"/>
            <a:ext cx="5410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开发效率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、</a:t>
            </a:r>
            <a:r>
              <a:rPr lang="en-US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程序安全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、</a:t>
            </a:r>
            <a:r>
              <a:rPr lang="en-US" sz="120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运行性能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三者不可兼得，传统语言必须在其中两个方面做出妥协。</a:t>
            </a:r>
            <a:endParaRPr lang="en-US" sz="1200" dirty="0"/>
          </a:p>
        </p:txBody>
      </p:sp>
      <p:sp>
        <p:nvSpPr>
          <p:cNvPr id="44" name="Text 3"/>
          <p:cNvSpPr/>
          <p:nvPr/>
        </p:nvSpPr>
        <p:spPr>
          <a:xfrm>
            <a:off x="762000" y="2286000"/>
            <a:ext cx="5410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</a:t>
            </a: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的突破</a:t>
            </a:r>
            <a:endParaRPr lang="en-US" sz="1800" dirty="0"/>
          </a:p>
        </p:txBody>
      </p:sp>
      <p:sp>
        <p:nvSpPr>
          <p:cNvPr id="45" name="Text 4"/>
          <p:cNvSpPr/>
          <p:nvPr/>
        </p:nvSpPr>
        <p:spPr>
          <a:xfrm>
            <a:off x="1102286" y="2704353"/>
            <a:ext cx="80989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开发效率</a:t>
            </a:r>
            <a:endParaRPr lang="en-US" sz="1200" dirty="0"/>
          </a:p>
        </p:txBody>
      </p:sp>
      <p:sp>
        <p:nvSpPr>
          <p:cNvPr id="56" name="Text 15"/>
          <p:cNvSpPr/>
          <p:nvPr/>
        </p:nvSpPr>
        <p:spPr>
          <a:xfrm>
            <a:off x="723900" y="3856805"/>
            <a:ext cx="5410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四语言对比 (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10分制</a:t>
            </a: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1500" dirty="0"/>
          </a:p>
        </p:txBody>
      </p:sp>
      <p:sp>
        <p:nvSpPr>
          <p:cNvPr id="57" name="Text 16"/>
          <p:cNvSpPr/>
          <p:nvPr/>
        </p:nvSpPr>
        <p:spPr>
          <a:xfrm>
            <a:off x="457200" y="4199705"/>
            <a:ext cx="102691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</a:t>
            </a:r>
            <a:endParaRPr lang="en-US" sz="1050" dirty="0"/>
          </a:p>
        </p:txBody>
      </p:sp>
      <p:sp>
        <p:nvSpPr>
          <p:cNvPr id="58" name="Text 17"/>
          <p:cNvSpPr/>
          <p:nvPr/>
        </p:nvSpPr>
        <p:spPr>
          <a:xfrm>
            <a:off x="1712714" y="41997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开发效率</a:t>
            </a:r>
            <a:endParaRPr lang="en-US" sz="1050" dirty="0">
              <a:solidFill>
                <a:schemeClr val="accent5"/>
              </a:solidFill>
            </a:endParaRPr>
          </a:p>
        </p:txBody>
      </p:sp>
      <p:sp>
        <p:nvSpPr>
          <p:cNvPr id="59" name="Text 18"/>
          <p:cNvSpPr/>
          <p:nvPr/>
        </p:nvSpPr>
        <p:spPr>
          <a:xfrm>
            <a:off x="3097560" y="41997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程序安全</a:t>
            </a:r>
            <a:endParaRPr lang="en-US" sz="1050" dirty="0">
              <a:solidFill>
                <a:schemeClr val="accent6"/>
              </a:solidFill>
            </a:endParaRPr>
          </a:p>
        </p:txBody>
      </p:sp>
      <p:sp>
        <p:nvSpPr>
          <p:cNvPr id="60" name="Text 19"/>
          <p:cNvSpPr/>
          <p:nvPr/>
        </p:nvSpPr>
        <p:spPr>
          <a:xfrm>
            <a:off x="4482405" y="4199705"/>
            <a:ext cx="115639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运行性能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61" name="Text 20"/>
          <p:cNvSpPr/>
          <p:nvPr/>
        </p:nvSpPr>
        <p:spPr>
          <a:xfrm>
            <a:off x="457200" y="4542605"/>
            <a:ext cx="102691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050" dirty="0"/>
          </a:p>
        </p:txBody>
      </p:sp>
      <p:sp>
        <p:nvSpPr>
          <p:cNvPr id="62" name="Text 21"/>
          <p:cNvSpPr/>
          <p:nvPr/>
        </p:nvSpPr>
        <p:spPr>
          <a:xfrm>
            <a:off x="1712714" y="45426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3" name="Text 22"/>
          <p:cNvSpPr/>
          <p:nvPr/>
        </p:nvSpPr>
        <p:spPr>
          <a:xfrm>
            <a:off x="3097560" y="45426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4" name="Text 23"/>
          <p:cNvSpPr/>
          <p:nvPr/>
        </p:nvSpPr>
        <p:spPr>
          <a:xfrm>
            <a:off x="4482405" y="4542605"/>
            <a:ext cx="115639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65" name="Text 24"/>
          <p:cNvSpPr/>
          <p:nvPr/>
        </p:nvSpPr>
        <p:spPr>
          <a:xfrm>
            <a:off x="457200" y="4885505"/>
            <a:ext cx="102691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1050" dirty="0"/>
          </a:p>
        </p:txBody>
      </p:sp>
      <p:sp>
        <p:nvSpPr>
          <p:cNvPr id="66" name="Text 25"/>
          <p:cNvSpPr/>
          <p:nvPr/>
        </p:nvSpPr>
        <p:spPr>
          <a:xfrm>
            <a:off x="1712714" y="48855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7" name="Text 26"/>
          <p:cNvSpPr/>
          <p:nvPr/>
        </p:nvSpPr>
        <p:spPr>
          <a:xfrm>
            <a:off x="3097560" y="48855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68" name="Text 27"/>
          <p:cNvSpPr/>
          <p:nvPr/>
        </p:nvSpPr>
        <p:spPr>
          <a:xfrm>
            <a:off x="4482405" y="4885505"/>
            <a:ext cx="115639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</a:rPr>
              <a:t>9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69" name="Text 28"/>
          <p:cNvSpPr/>
          <p:nvPr/>
        </p:nvSpPr>
        <p:spPr>
          <a:xfrm>
            <a:off x="457200" y="5228405"/>
            <a:ext cx="102691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1050" dirty="0"/>
          </a:p>
        </p:txBody>
      </p:sp>
      <p:sp>
        <p:nvSpPr>
          <p:cNvPr id="70" name="Text 29"/>
          <p:cNvSpPr/>
          <p:nvPr/>
        </p:nvSpPr>
        <p:spPr>
          <a:xfrm>
            <a:off x="1712714" y="52284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71" name="Text 30"/>
          <p:cNvSpPr/>
          <p:nvPr/>
        </p:nvSpPr>
        <p:spPr>
          <a:xfrm>
            <a:off x="3097560" y="52284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2" name="Text 31"/>
          <p:cNvSpPr/>
          <p:nvPr/>
        </p:nvSpPr>
        <p:spPr>
          <a:xfrm>
            <a:off x="4482405" y="5228405"/>
            <a:ext cx="115639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3" name="Text 32"/>
          <p:cNvSpPr/>
          <p:nvPr/>
        </p:nvSpPr>
        <p:spPr>
          <a:xfrm>
            <a:off x="457200" y="5571305"/>
            <a:ext cx="102691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</a:t>
            </a:r>
            <a:endParaRPr lang="en-US" sz="1050" dirty="0"/>
          </a:p>
        </p:txBody>
      </p:sp>
      <p:sp>
        <p:nvSpPr>
          <p:cNvPr id="74" name="Text 33"/>
          <p:cNvSpPr/>
          <p:nvPr/>
        </p:nvSpPr>
        <p:spPr>
          <a:xfrm>
            <a:off x="1712714" y="55713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050" dirty="0">
              <a:solidFill>
                <a:srgbClr val="C084FC"/>
              </a:solidFill>
            </a:endParaRPr>
          </a:p>
        </p:txBody>
      </p:sp>
      <p:sp>
        <p:nvSpPr>
          <p:cNvPr id="75" name="Text 34"/>
          <p:cNvSpPr/>
          <p:nvPr/>
        </p:nvSpPr>
        <p:spPr>
          <a:xfrm>
            <a:off x="3097560" y="5571305"/>
            <a:ext cx="115624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</a:t>
            </a:r>
            <a:endParaRPr lang="en-US" sz="1050" dirty="0">
              <a:solidFill>
                <a:srgbClr val="C084FC"/>
              </a:solidFill>
            </a:endParaRPr>
          </a:p>
        </p:txBody>
      </p:sp>
      <p:sp>
        <p:nvSpPr>
          <p:cNvPr id="76" name="Text 35"/>
          <p:cNvSpPr/>
          <p:nvPr/>
        </p:nvSpPr>
        <p:spPr>
          <a:xfrm>
            <a:off x="4482405" y="5571305"/>
            <a:ext cx="115639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050" dirty="0">
              <a:solidFill>
                <a:srgbClr val="C084FC"/>
              </a:solidFill>
            </a:endParaRPr>
          </a:p>
        </p:txBody>
      </p:sp>
      <p:sp>
        <p:nvSpPr>
          <p:cNvPr id="77" name="Text 36"/>
          <p:cNvSpPr/>
          <p:nvPr/>
        </p:nvSpPr>
        <p:spPr>
          <a:xfrm>
            <a:off x="7542758" y="5486400"/>
            <a:ext cx="792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C语言</a:t>
            </a:r>
            <a:endParaRPr lang="en-US" sz="1200" dirty="0"/>
          </a:p>
        </p:txBody>
      </p:sp>
      <p:sp>
        <p:nvSpPr>
          <p:cNvPr id="78" name="Text 37"/>
          <p:cNvSpPr/>
          <p:nvPr/>
        </p:nvSpPr>
        <p:spPr>
          <a:xfrm>
            <a:off x="8373070" y="54864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endParaRPr lang="en-US" sz="1200" dirty="0"/>
          </a:p>
        </p:txBody>
      </p:sp>
      <p:sp>
        <p:nvSpPr>
          <p:cNvPr id="79" name="Text 38"/>
          <p:cNvSpPr/>
          <p:nvPr/>
        </p:nvSpPr>
        <p:spPr>
          <a:xfrm>
            <a:off x="9127034" y="548640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endParaRPr lang="en-US" sz="1200" dirty="0"/>
          </a:p>
        </p:txBody>
      </p:sp>
      <p:sp>
        <p:nvSpPr>
          <p:cNvPr id="80" name="Text 39"/>
          <p:cNvSpPr/>
          <p:nvPr/>
        </p:nvSpPr>
        <p:spPr>
          <a:xfrm>
            <a:off x="10074473" y="5486400"/>
            <a:ext cx="731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81" name="Text 40"/>
          <p:cNvSpPr/>
          <p:nvPr/>
        </p:nvSpPr>
        <p:spPr>
          <a:xfrm>
            <a:off x="457200" y="62198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82" name="Text 41"/>
          <p:cNvSpPr/>
          <p:nvPr/>
        </p:nvSpPr>
        <p:spPr>
          <a:xfrm>
            <a:off x="762000" y="62198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83" name="Text 42"/>
          <p:cNvSpPr/>
          <p:nvPr/>
        </p:nvSpPr>
        <p:spPr>
          <a:xfrm>
            <a:off x="914400" y="6219825"/>
            <a:ext cx="18669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突破不可能三角</a:t>
            </a:r>
            <a:endParaRPr lang="en-US" sz="1050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4B8D589C-5E45-BBEE-9034-32F7A77A77DC}"/>
              </a:ext>
            </a:extLst>
          </p:cNvPr>
          <p:cNvSpPr/>
          <p:nvPr/>
        </p:nvSpPr>
        <p:spPr>
          <a:xfrm>
            <a:off x="9911647" y="5546073"/>
            <a:ext cx="126193" cy="1265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Text 4">
            <a:extLst>
              <a:ext uri="{FF2B5EF4-FFF2-40B4-BE49-F238E27FC236}">
                <a16:creationId xmlns:a16="http://schemas.microsoft.com/office/drawing/2014/main" id="{FA5C18D3-9FC6-10F0-B482-432F0E3D5888}"/>
              </a:ext>
            </a:extLst>
          </p:cNvPr>
          <p:cNvSpPr/>
          <p:nvPr/>
        </p:nvSpPr>
        <p:spPr>
          <a:xfrm>
            <a:off x="983174" y="3006194"/>
            <a:ext cx="11634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</a:t>
            </a:r>
            <a:r>
              <a:rPr lang="en-US" altLang="zh-CN" sz="120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zh-CN" sz="1200" dirty="0" err="1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AutoVM</a:t>
            </a:r>
            <a:r>
              <a:rPr lang="en-US" altLang="zh-CN" sz="120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解释器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0041FF7F-6391-CD14-D44B-D6AB8F50AF64}"/>
              </a:ext>
            </a:extLst>
          </p:cNvPr>
          <p:cNvSpPr/>
          <p:nvPr/>
        </p:nvSpPr>
        <p:spPr>
          <a:xfrm>
            <a:off x="3979258" y="2956331"/>
            <a:ext cx="2571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r>
              <a:rPr lang="en-US" altLang="zh-CN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a2c </a:t>
            </a:r>
            <a:r>
              <a:rPr lang="en-US" altLang="zh-CN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r>
              <a:rPr lang="zh-CN" altLang="en-US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语言转译器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86" name="Image 12" descr="preencoded.png">
            <a:extLst>
              <a:ext uri="{FF2B5EF4-FFF2-40B4-BE49-F238E27FC236}">
                <a16:creationId xmlns:a16="http://schemas.microsoft.com/office/drawing/2014/main" id="{B0E7A668-DEEC-F272-C507-F628B27D2590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2692" y="2725595"/>
            <a:ext cx="180975" cy="180975"/>
          </a:xfrm>
          <a:prstGeom prst="rect">
            <a:avLst/>
          </a:prstGeom>
        </p:spPr>
      </p:pic>
      <p:pic>
        <p:nvPicPr>
          <p:cNvPr id="87" name="Image 10" descr="preencoded.png">
            <a:extLst>
              <a:ext uri="{FF2B5EF4-FFF2-40B4-BE49-F238E27FC236}">
                <a16:creationId xmlns:a16="http://schemas.microsoft.com/office/drawing/2014/main" id="{647EDCBE-B794-A33E-951F-A7D22EF25525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57974" y="2740784"/>
            <a:ext cx="190500" cy="190500"/>
          </a:xfrm>
          <a:prstGeom prst="rect">
            <a:avLst/>
          </a:prstGeom>
        </p:spPr>
      </p:pic>
      <p:pic>
        <p:nvPicPr>
          <p:cNvPr id="88" name="Image 9" descr="preencoded.png">
            <a:extLst>
              <a:ext uri="{FF2B5EF4-FFF2-40B4-BE49-F238E27FC236}">
                <a16:creationId xmlns:a16="http://schemas.microsoft.com/office/drawing/2014/main" id="{3FA01DC3-CC3E-CABA-EF1C-C4D770B7DC5E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27758" y="2721734"/>
            <a:ext cx="228600" cy="228600"/>
          </a:xfrm>
          <a:prstGeom prst="rect">
            <a:avLst/>
          </a:prstGeom>
        </p:spPr>
      </p:pic>
      <p:sp>
        <p:nvSpPr>
          <p:cNvPr id="89" name="Text 4">
            <a:extLst>
              <a:ext uri="{FF2B5EF4-FFF2-40B4-BE49-F238E27FC236}">
                <a16:creationId xmlns:a16="http://schemas.microsoft.com/office/drawing/2014/main" id="{3D45DE9D-3CEB-D5A7-A7ED-956808A55D24}"/>
              </a:ext>
            </a:extLst>
          </p:cNvPr>
          <p:cNvSpPr/>
          <p:nvPr/>
        </p:nvSpPr>
        <p:spPr>
          <a:xfrm>
            <a:off x="4133579" y="2700186"/>
            <a:ext cx="14457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生态壁垒</a:t>
            </a:r>
            <a:endParaRPr lang="en-US" sz="1200" b="1" dirty="0"/>
          </a:p>
        </p:txBody>
      </p:sp>
      <p:sp>
        <p:nvSpPr>
          <p:cNvPr id="92" name="Text 4">
            <a:extLst>
              <a:ext uri="{FF2B5EF4-FFF2-40B4-BE49-F238E27FC236}">
                <a16:creationId xmlns:a16="http://schemas.microsoft.com/office/drawing/2014/main" id="{BC6EA7F2-16A9-DA77-1F5E-701C0BFDA1D1}"/>
              </a:ext>
            </a:extLst>
          </p:cNvPr>
          <p:cNvSpPr/>
          <p:nvPr/>
        </p:nvSpPr>
        <p:spPr>
          <a:xfrm>
            <a:off x="2499501" y="2700186"/>
            <a:ext cx="13784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程序安全</a:t>
            </a:r>
            <a:endParaRPr lang="en-US" sz="1200" dirty="0"/>
          </a:p>
        </p:txBody>
      </p:sp>
      <p:sp>
        <p:nvSpPr>
          <p:cNvPr id="93" name="Text 4">
            <a:extLst>
              <a:ext uri="{FF2B5EF4-FFF2-40B4-BE49-F238E27FC236}">
                <a16:creationId xmlns:a16="http://schemas.microsoft.com/office/drawing/2014/main" id="{9A8CD4A5-B0DB-F58E-AAF9-22018993A04A}"/>
              </a:ext>
            </a:extLst>
          </p:cNvPr>
          <p:cNvSpPr/>
          <p:nvPr/>
        </p:nvSpPr>
        <p:spPr>
          <a:xfrm>
            <a:off x="983174" y="3246853"/>
            <a:ext cx="11025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r>
              <a:rPr lang="en-US" altLang="zh-CN" sz="1200" dirty="0">
                <a:solidFill>
                  <a:schemeClr val="accent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AIE 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增量编译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98" name="Text 4">
            <a:extLst>
              <a:ext uri="{FF2B5EF4-FFF2-40B4-BE49-F238E27FC236}">
                <a16:creationId xmlns:a16="http://schemas.microsoft.com/office/drawing/2014/main" id="{90BAF066-DF1D-2796-6023-30EF321292A2}"/>
              </a:ext>
            </a:extLst>
          </p:cNvPr>
          <p:cNvSpPr/>
          <p:nvPr/>
        </p:nvSpPr>
        <p:spPr>
          <a:xfrm>
            <a:off x="3979258" y="3159730"/>
            <a:ext cx="2571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r>
              <a:rPr lang="en-US" altLang="zh-CN" sz="120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a2py</a:t>
            </a:r>
            <a:r>
              <a:rPr lang="en-US" altLang="zh-CN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</a:t>
            </a:r>
            <a:r>
              <a:rPr lang="zh-CN" altLang="en-US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语言转译器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99" name="Text 4">
            <a:extLst>
              <a:ext uri="{FF2B5EF4-FFF2-40B4-BE49-F238E27FC236}">
                <a16:creationId xmlns:a16="http://schemas.microsoft.com/office/drawing/2014/main" id="{0BE8C7AE-9EDE-898F-4F9C-CD8F06CC24CC}"/>
              </a:ext>
            </a:extLst>
          </p:cNvPr>
          <p:cNvSpPr/>
          <p:nvPr/>
        </p:nvSpPr>
        <p:spPr>
          <a:xfrm>
            <a:off x="3979257" y="3375415"/>
            <a:ext cx="2571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r>
              <a:rPr lang="en-US" altLang="zh-CN" sz="1200" dirty="0">
                <a:solidFill>
                  <a:schemeClr val="accent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a2ts</a:t>
            </a:r>
            <a:r>
              <a:rPr lang="en-US" altLang="zh-CN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TypeScript</a:t>
            </a:r>
            <a:r>
              <a:rPr lang="zh-CN" altLang="en-US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语言转译器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00" name="Text 4">
            <a:extLst>
              <a:ext uri="{FF2B5EF4-FFF2-40B4-BE49-F238E27FC236}">
                <a16:creationId xmlns:a16="http://schemas.microsoft.com/office/drawing/2014/main" id="{4A706382-5043-F111-51A7-DCBD730FB29B}"/>
              </a:ext>
            </a:extLst>
          </p:cNvPr>
          <p:cNvSpPr/>
          <p:nvPr/>
        </p:nvSpPr>
        <p:spPr>
          <a:xfrm>
            <a:off x="3979258" y="3612422"/>
            <a:ext cx="2571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r>
              <a:rPr lang="en-US" altLang="zh-CN" sz="1200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a2kt</a:t>
            </a:r>
            <a:r>
              <a:rPr lang="en-US" altLang="zh-CN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Kotlin</a:t>
            </a:r>
            <a:r>
              <a:rPr lang="zh-CN" altLang="en-US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语言转译器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01" name="Text 4">
            <a:extLst>
              <a:ext uri="{FF2B5EF4-FFF2-40B4-BE49-F238E27FC236}">
                <a16:creationId xmlns:a16="http://schemas.microsoft.com/office/drawing/2014/main" id="{EF611A50-9B3F-E6DB-2D8A-181DD9B37AF0}"/>
              </a:ext>
            </a:extLst>
          </p:cNvPr>
          <p:cNvSpPr/>
          <p:nvPr/>
        </p:nvSpPr>
        <p:spPr>
          <a:xfrm>
            <a:off x="2380740" y="3000750"/>
            <a:ext cx="2571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r>
              <a:rPr lang="en-US" altLang="zh-CN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a2rs </a:t>
            </a:r>
            <a:r>
              <a:rPr lang="en-US" altLang="zh-CN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r>
              <a:rPr lang="zh-CN" altLang="en-US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语言基底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02" name="Text 4">
            <a:extLst>
              <a:ext uri="{FF2B5EF4-FFF2-40B4-BE49-F238E27FC236}">
                <a16:creationId xmlns:a16="http://schemas.microsoft.com/office/drawing/2014/main" id="{45F107A5-0F00-F438-1B5C-BA905158BCC7}"/>
              </a:ext>
            </a:extLst>
          </p:cNvPr>
          <p:cNvSpPr/>
          <p:nvPr/>
        </p:nvSpPr>
        <p:spPr>
          <a:xfrm>
            <a:off x="2380740" y="3229571"/>
            <a:ext cx="2571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r>
              <a:rPr lang="en-US" altLang="zh-CN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Lifetime </a:t>
            </a:r>
            <a:r>
              <a:rPr lang="zh-CN" altLang="en-US" sz="1200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生命周期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590800"/>
            <a:ext cx="3352800" cy="1295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752725"/>
            <a:ext cx="14287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0480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314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35814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4400" y="1253224"/>
            <a:ext cx="6400800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38700" y="1434199"/>
            <a:ext cx="285750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4400" y="1862824"/>
            <a:ext cx="6400800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38700" y="2043799"/>
            <a:ext cx="219075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4400" y="2472424"/>
            <a:ext cx="6400800" cy="685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8700" y="2653399"/>
            <a:ext cx="361950" cy="285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24400" y="3082024"/>
            <a:ext cx="6400800" cy="685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38700" y="3262999"/>
            <a:ext cx="361950" cy="2857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24400" y="3691624"/>
            <a:ext cx="6400800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38700" y="3872599"/>
            <a:ext cx="285750" cy="2857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6076950"/>
            <a:ext cx="114300" cy="114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609600"/>
            <a:ext cx="1193292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 - </a:t>
            </a:r>
            <a:r>
              <a:rPr lang="en-US" sz="270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LaOS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</a:t>
            </a:r>
            <a:r>
              <a:rPr lang="en-US" sz="2700" b="1" dirty="0">
                <a:solidFill>
                  <a:schemeClr val="bg2">
                    <a:lumMod val="9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609600" y="1257300"/>
            <a:ext cx="335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语言即操作系统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609600" y="1638300"/>
            <a:ext cx="33528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LaOS (Language as OS) 是一种新型计算架构，将编程语言提升为操作系统层面的抽象。</a:t>
            </a:r>
            <a:endParaRPr lang="en-US" sz="1350" dirty="0"/>
          </a:p>
        </p:txBody>
      </p:sp>
      <p:sp>
        <p:nvSpPr>
          <p:cNvPr id="30" name="Text 3"/>
          <p:cNvSpPr/>
          <p:nvPr/>
        </p:nvSpPr>
        <p:spPr>
          <a:xfrm>
            <a:off x="942975" y="2705100"/>
            <a:ext cx="312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核心突破</a:t>
            </a:r>
            <a:endParaRPr lang="en-US" sz="1500" dirty="0"/>
          </a:p>
        </p:txBody>
      </p:sp>
      <p:sp>
        <p:nvSpPr>
          <p:cNvPr id="31" name="Text 4"/>
          <p:cNvSpPr/>
          <p:nvPr/>
        </p:nvSpPr>
        <p:spPr>
          <a:xfrm>
            <a:off x="952500" y="3009900"/>
            <a:ext cx="4450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突破传统"语言+运行时+OS"架构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952500" y="3276600"/>
            <a:ext cx="3779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Auto作为应用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/OS/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硬件的桥梁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952500" y="3543300"/>
            <a:ext cx="2438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统一系统编程模型</a:t>
            </a:r>
            <a:endParaRPr lang="en-US" sz="1200" dirty="0"/>
          </a:p>
        </p:txBody>
      </p:sp>
      <p:sp>
        <p:nvSpPr>
          <p:cNvPr id="34" name="Text 7"/>
          <p:cNvSpPr/>
          <p:nvPr/>
        </p:nvSpPr>
        <p:spPr>
          <a:xfrm>
            <a:off x="5329924" y="1367524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Hardware</a:t>
            </a:r>
            <a:endParaRPr lang="en-US" sz="1500" dirty="0"/>
          </a:p>
        </p:txBody>
      </p:sp>
      <p:sp>
        <p:nvSpPr>
          <p:cNvPr id="35" name="Text 8"/>
          <p:cNvSpPr/>
          <p:nvPr/>
        </p:nvSpPr>
        <p:spPr>
          <a:xfrm>
            <a:off x="5329924" y="1634224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底层硬件抽象</a:t>
            </a:r>
            <a:endParaRPr lang="en-US" sz="1050" dirty="0"/>
          </a:p>
        </p:txBody>
      </p:sp>
      <p:sp>
        <p:nvSpPr>
          <p:cNvPr id="36" name="Text 9"/>
          <p:cNvSpPr/>
          <p:nvPr/>
        </p:nvSpPr>
        <p:spPr>
          <a:xfrm>
            <a:off x="5329924" y="1980313"/>
            <a:ext cx="2514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OS Adapters</a:t>
            </a:r>
            <a:endParaRPr lang="en-US" sz="1500" dirty="0"/>
          </a:p>
        </p:txBody>
      </p:sp>
      <p:sp>
        <p:nvSpPr>
          <p:cNvPr id="37" name="Text 10"/>
          <p:cNvSpPr/>
          <p:nvPr/>
        </p:nvSpPr>
        <p:spPr>
          <a:xfrm>
            <a:off x="5329924" y="2243824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OS/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平台特定实现</a:t>
            </a:r>
            <a:endParaRPr lang="en-US" sz="1050" dirty="0"/>
          </a:p>
        </p:txBody>
      </p:sp>
      <p:sp>
        <p:nvSpPr>
          <p:cNvPr id="38" name="Text 11"/>
          <p:cNvSpPr/>
          <p:nvPr/>
        </p:nvSpPr>
        <p:spPr>
          <a:xfrm>
            <a:off x="5329924" y="2583313"/>
            <a:ext cx="274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 Runtime</a:t>
            </a:r>
            <a:endParaRPr lang="en-US" sz="1500" dirty="0"/>
          </a:p>
        </p:txBody>
      </p:sp>
      <p:sp>
        <p:nvSpPr>
          <p:cNvPr id="39" name="Text 12"/>
          <p:cNvSpPr/>
          <p:nvPr/>
        </p:nvSpPr>
        <p:spPr>
          <a:xfrm>
            <a:off x="5329924" y="2850013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运行时系统</a:t>
            </a:r>
            <a:endParaRPr lang="en-US" sz="1050" dirty="0"/>
          </a:p>
        </p:txBody>
      </p:sp>
      <p:sp>
        <p:nvSpPr>
          <p:cNvPr id="40" name="Text 13"/>
          <p:cNvSpPr/>
          <p:nvPr/>
        </p:nvSpPr>
        <p:spPr>
          <a:xfrm>
            <a:off x="5337810" y="316230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 Language</a:t>
            </a:r>
            <a:endParaRPr lang="en-US" sz="1500" dirty="0"/>
          </a:p>
        </p:txBody>
      </p:sp>
      <p:sp>
        <p:nvSpPr>
          <p:cNvPr id="41" name="Text 14"/>
          <p:cNvSpPr/>
          <p:nvPr/>
        </p:nvSpPr>
        <p:spPr>
          <a:xfrm>
            <a:off x="5337810" y="3448050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核心语言实现</a:t>
            </a:r>
            <a:endParaRPr lang="en-US" sz="1050" dirty="0"/>
          </a:p>
        </p:txBody>
      </p:sp>
      <p:sp>
        <p:nvSpPr>
          <p:cNvPr id="42" name="Text 15"/>
          <p:cNvSpPr/>
          <p:nvPr/>
        </p:nvSpPr>
        <p:spPr>
          <a:xfrm>
            <a:off x="5329924" y="3771900"/>
            <a:ext cx="274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43" name="Text 16"/>
          <p:cNvSpPr/>
          <p:nvPr/>
        </p:nvSpPr>
        <p:spPr>
          <a:xfrm>
            <a:off x="5329924" y="4072624"/>
            <a:ext cx="11715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用户应用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800100" y="6019800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LaOS: Language as 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5B910-D0F0-C63C-A727-EED17CFD4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808546A-EBC5-F938-686B-983BBE115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D19C6DE4-516D-17E1-2FC9-EDB5EEABB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CB28A25-C1F5-9B39-4AFD-0893A14FA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26" name="Image 24" descr="preencoded.png">
            <a:extLst>
              <a:ext uri="{FF2B5EF4-FFF2-40B4-BE49-F238E27FC236}">
                <a16:creationId xmlns:a16="http://schemas.microsoft.com/office/drawing/2014/main" id="{D6C5D6AE-C0EE-7F9E-94DC-37CA75F0A2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DB215F08-9764-AA58-0FF5-8407BC471194}"/>
              </a:ext>
            </a:extLst>
          </p:cNvPr>
          <p:cNvSpPr/>
          <p:nvPr/>
        </p:nvSpPr>
        <p:spPr>
          <a:xfrm>
            <a:off x="609600" y="609600"/>
            <a:ext cx="1193292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 - </a:t>
            </a:r>
            <a:r>
              <a:rPr lang="en-US" sz="270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LaOS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(Language as OS)</a:t>
            </a:r>
            <a:endParaRPr lang="en-US" sz="27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9336735B-BF4F-8F59-362E-74B499354ED6}"/>
              </a:ext>
            </a:extLst>
          </p:cNvPr>
          <p:cNvSpPr/>
          <p:nvPr/>
        </p:nvSpPr>
        <p:spPr>
          <a:xfrm>
            <a:off x="609600" y="1257300"/>
            <a:ext cx="335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语言即操作系统</a:t>
            </a:r>
            <a:endParaRPr lang="en-US" sz="18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43D28F6-0419-7F45-6A4B-E11CFF9F87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4994" y="1650841"/>
            <a:ext cx="10231464" cy="4204017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BCDB3750-F57E-755D-C654-D438C261B75D}"/>
              </a:ext>
            </a:extLst>
          </p:cNvPr>
          <p:cNvSpPr/>
          <p:nvPr/>
        </p:nvSpPr>
        <p:spPr>
          <a:xfrm>
            <a:off x="3329553" y="5981700"/>
            <a:ext cx="335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altLang="zh-CN" sz="180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Linux</a:t>
            </a:r>
            <a:endParaRPr lang="en-US" sz="1800" dirty="0">
              <a:solidFill>
                <a:schemeClr val="accent4"/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D903C1D-308C-756E-1851-72DEF29E6DD3}"/>
              </a:ext>
            </a:extLst>
          </p:cNvPr>
          <p:cNvSpPr/>
          <p:nvPr/>
        </p:nvSpPr>
        <p:spPr>
          <a:xfrm>
            <a:off x="8275127" y="5981700"/>
            <a:ext cx="335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altLang="zh-CN" sz="1800" b="1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 Lang</a:t>
            </a:r>
            <a:endParaRPr lang="en-US" sz="1800" dirty="0">
              <a:solidFill>
                <a:srgbClr val="EC48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948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242" y="40242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880" y="1883080"/>
            <a:ext cx="1301139" cy="130113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181100"/>
            <a:ext cx="3606850" cy="487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1381125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1828800"/>
            <a:ext cx="322585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19812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2705100"/>
            <a:ext cx="322585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28575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7887" y="1190625"/>
            <a:ext cx="3606850" cy="4876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150" y="1381125"/>
            <a:ext cx="285750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150" y="1828800"/>
            <a:ext cx="3225850" cy="419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150" y="2324100"/>
            <a:ext cx="3225850" cy="419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3150" y="2819400"/>
            <a:ext cx="3225850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150" y="3314700"/>
            <a:ext cx="3225850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8099" y="1181100"/>
            <a:ext cx="3606850" cy="4876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18599" y="1381125"/>
            <a:ext cx="323850" cy="2857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599" y="1828800"/>
            <a:ext cx="3225850" cy="99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2899" y="1981200"/>
            <a:ext cx="238125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18599" y="2933700"/>
            <a:ext cx="3225850" cy="762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32899" y="3086100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18599" y="3810000"/>
            <a:ext cx="3225850" cy="69532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32899" y="4062412"/>
            <a:ext cx="19050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37849" y="3962400"/>
            <a:ext cx="1241822" cy="42862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52144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</a:t>
            </a:r>
            <a:r>
              <a:rPr lang="en-US" sz="270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LaOS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内核（语言特性）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1047750" y="1390650"/>
            <a:ext cx="16459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accent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AutoVM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1" name="Text 2"/>
          <p:cNvSpPr/>
          <p:nvPr/>
        </p:nvSpPr>
        <p:spPr>
          <a:xfrm>
            <a:off x="1066800" y="19431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standalone</a:t>
            </a:r>
            <a:endParaRPr lang="en-US" sz="1350" dirty="0">
              <a:solidFill>
                <a:schemeClr val="accent5"/>
              </a:solidFill>
            </a:endParaRPr>
          </a:p>
        </p:txBody>
      </p:sp>
      <p:sp>
        <p:nvSpPr>
          <p:cNvPr id="32" name="Text 3"/>
          <p:cNvSpPr/>
          <p:nvPr/>
        </p:nvSpPr>
        <p:spPr>
          <a:xfrm>
            <a:off x="1066800" y="2247900"/>
            <a:ext cx="4754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独立运行模式，无需依赖外部解释器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1066800" y="2819400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comptime</a:t>
            </a:r>
            <a:endParaRPr lang="en-US" sz="1350" dirty="0">
              <a:solidFill>
                <a:schemeClr val="accent4"/>
              </a:solidFill>
            </a:endParaRPr>
          </a:p>
        </p:txBody>
      </p:sp>
      <p:sp>
        <p:nvSpPr>
          <p:cNvPr id="34" name="Text 5"/>
          <p:cNvSpPr/>
          <p:nvPr/>
        </p:nvSpPr>
        <p:spPr>
          <a:xfrm>
            <a:off x="1066800" y="3124200"/>
            <a:ext cx="4450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编译期执行，提前计算表达式结果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4883200" y="1390650"/>
            <a:ext cx="2286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转译器矩阵</a:t>
            </a:r>
            <a:endParaRPr lang="en-US" sz="1800" dirty="0"/>
          </a:p>
        </p:txBody>
      </p:sp>
      <p:sp>
        <p:nvSpPr>
          <p:cNvPr id="36" name="Text 7"/>
          <p:cNvSpPr/>
          <p:nvPr/>
        </p:nvSpPr>
        <p:spPr>
          <a:xfrm>
            <a:off x="4578400" y="1924050"/>
            <a:ext cx="853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a2rs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7045672" y="192405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→ Rust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38" name="Text 9"/>
          <p:cNvSpPr/>
          <p:nvPr/>
        </p:nvSpPr>
        <p:spPr>
          <a:xfrm>
            <a:off x="4578400" y="2419350"/>
            <a:ext cx="670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505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a2c</a:t>
            </a:r>
            <a:endParaRPr lang="en-US" sz="1200" dirty="0">
              <a:solidFill>
                <a:srgbClr val="FF5050"/>
              </a:solidFill>
            </a:endParaRPr>
          </a:p>
        </p:txBody>
      </p:sp>
      <p:sp>
        <p:nvSpPr>
          <p:cNvPr id="39" name="Text 10"/>
          <p:cNvSpPr/>
          <p:nvPr/>
        </p:nvSpPr>
        <p:spPr>
          <a:xfrm>
            <a:off x="7331422" y="2419350"/>
            <a:ext cx="548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505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→ C</a:t>
            </a:r>
            <a:endParaRPr lang="en-US" sz="1200" dirty="0">
              <a:solidFill>
                <a:srgbClr val="FF5050"/>
              </a:solidFill>
            </a:endParaRPr>
          </a:p>
        </p:txBody>
      </p:sp>
      <p:sp>
        <p:nvSpPr>
          <p:cNvPr id="40" name="Text 11"/>
          <p:cNvSpPr/>
          <p:nvPr/>
        </p:nvSpPr>
        <p:spPr>
          <a:xfrm>
            <a:off x="4578400" y="2914650"/>
            <a:ext cx="853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a2ts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1" name="Text 12"/>
          <p:cNvSpPr/>
          <p:nvPr/>
        </p:nvSpPr>
        <p:spPr>
          <a:xfrm>
            <a:off x="6474172" y="2914650"/>
            <a:ext cx="219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→ TypeScript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2" name="Text 13"/>
          <p:cNvSpPr/>
          <p:nvPr/>
        </p:nvSpPr>
        <p:spPr>
          <a:xfrm>
            <a:off x="4578400" y="3409950"/>
            <a:ext cx="853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a2py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43" name="Text 14"/>
          <p:cNvSpPr/>
          <p:nvPr/>
        </p:nvSpPr>
        <p:spPr>
          <a:xfrm>
            <a:off x="6855172" y="340995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→ Python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44" name="Text 15"/>
          <p:cNvSpPr/>
          <p:nvPr/>
        </p:nvSpPr>
        <p:spPr>
          <a:xfrm>
            <a:off x="8756749" y="1390650"/>
            <a:ext cx="1828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高阶</a:t>
            </a:r>
            <a:r>
              <a:rPr lang="en-US" sz="18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特性</a:t>
            </a:r>
            <a:endParaRPr lang="en-US" sz="1800" dirty="0"/>
          </a:p>
        </p:txBody>
      </p:sp>
      <p:sp>
        <p:nvSpPr>
          <p:cNvPr id="45" name="Text 16"/>
          <p:cNvSpPr/>
          <p:nvPr/>
        </p:nvSpPr>
        <p:spPr>
          <a:xfrm>
            <a:off x="8785324" y="1924050"/>
            <a:ext cx="6172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CTE</a:t>
            </a:r>
            <a:endParaRPr lang="en-US" sz="1350" dirty="0"/>
          </a:p>
        </p:txBody>
      </p:sp>
      <p:sp>
        <p:nvSpPr>
          <p:cNvPr id="46" name="Text 17"/>
          <p:cNvSpPr/>
          <p:nvPr/>
        </p:nvSpPr>
        <p:spPr>
          <a:xfrm>
            <a:off x="8737699" y="2247900"/>
            <a:ext cx="26924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编译期执行 (Compile-Time Execution)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8735378" y="3031533"/>
            <a:ext cx="822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</a:t>
            </a:r>
            <a:endParaRPr lang="en-US" sz="1350" dirty="0"/>
          </a:p>
        </p:txBody>
      </p:sp>
      <p:sp>
        <p:nvSpPr>
          <p:cNvPr id="48" name="Text 19"/>
          <p:cNvSpPr/>
          <p:nvPr/>
        </p:nvSpPr>
        <p:spPr>
          <a:xfrm>
            <a:off x="8737699" y="3352800"/>
            <a:ext cx="396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特征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系统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(Trait System)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8737699" y="4024313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OOP</a:t>
            </a:r>
            <a:endParaRPr lang="en-US" sz="1350" dirty="0"/>
          </a:p>
        </p:txBody>
      </p:sp>
      <p:sp>
        <p:nvSpPr>
          <p:cNvPr id="50" name="Text 21"/>
          <p:cNvSpPr/>
          <p:nvPr/>
        </p:nvSpPr>
        <p:spPr>
          <a:xfrm>
            <a:off x="10033099" y="4076700"/>
            <a:ext cx="365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is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10272117" y="4076700"/>
            <a:ext cx="182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|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10415885" y="4076700"/>
            <a:ext cx="548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has</a:t>
            </a:r>
            <a:endParaRPr lang="en-US" sz="1200" dirty="0"/>
          </a:p>
        </p:txBody>
      </p:sp>
      <p:sp>
        <p:nvSpPr>
          <p:cNvPr id="53" name="Text 24"/>
          <p:cNvSpPr/>
          <p:nvPr/>
        </p:nvSpPr>
        <p:spPr>
          <a:xfrm>
            <a:off x="10750153" y="4076700"/>
            <a:ext cx="182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|</a:t>
            </a: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10893921" y="4076700"/>
            <a:ext cx="365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as</a:t>
            </a:r>
            <a:endParaRPr lang="en-US" sz="1200" dirty="0"/>
          </a:p>
        </p:txBody>
      </p:sp>
      <p:sp>
        <p:nvSpPr>
          <p:cNvPr id="55" name="Text 26"/>
          <p:cNvSpPr/>
          <p:nvPr/>
        </p:nvSpPr>
        <p:spPr>
          <a:xfrm>
            <a:off x="457200" y="62198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56" name="Text 27"/>
          <p:cNvSpPr/>
          <p:nvPr/>
        </p:nvSpPr>
        <p:spPr>
          <a:xfrm>
            <a:off x="762000" y="62198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57" name="Text 28"/>
          <p:cNvSpPr/>
          <p:nvPr/>
        </p:nvSpPr>
        <p:spPr>
          <a:xfrm>
            <a:off x="914400" y="6219825"/>
            <a:ext cx="12801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features</a:t>
            </a:r>
            <a:endParaRPr lang="en-US" sz="1050" dirty="0"/>
          </a:p>
        </p:txBody>
      </p:sp>
      <p:sp>
        <p:nvSpPr>
          <p:cNvPr id="58" name="Text 29"/>
          <p:cNvSpPr/>
          <p:nvPr/>
        </p:nvSpPr>
        <p:spPr>
          <a:xfrm>
            <a:off x="1524000" y="62198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59" name="Text 30"/>
          <p:cNvSpPr/>
          <p:nvPr/>
        </p:nvSpPr>
        <p:spPr>
          <a:xfrm>
            <a:off x="1600200" y="6219825"/>
            <a:ext cx="9601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“Auto"</a:t>
            </a:r>
            <a:endParaRPr lang="en-US" sz="1050" dirty="0"/>
          </a:p>
        </p:txBody>
      </p:sp>
      <p:sp>
        <p:nvSpPr>
          <p:cNvPr id="60" name="Text 31"/>
          <p:cNvSpPr/>
          <p:nvPr/>
        </p:nvSpPr>
        <p:spPr>
          <a:xfrm>
            <a:off x="2057400" y="62198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pic>
        <p:nvPicPr>
          <p:cNvPr id="64" name="Image 9" descr="preencoded.png">
            <a:extLst>
              <a:ext uri="{FF2B5EF4-FFF2-40B4-BE49-F238E27FC236}">
                <a16:creationId xmlns:a16="http://schemas.microsoft.com/office/drawing/2014/main" id="{0BC6B20C-6F0D-05CE-210D-5A46AA639B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551" y="3629025"/>
            <a:ext cx="3225850" cy="762000"/>
          </a:xfrm>
          <a:prstGeom prst="rect">
            <a:avLst/>
          </a:prstGeom>
        </p:spPr>
      </p:pic>
      <p:sp>
        <p:nvSpPr>
          <p:cNvPr id="66" name="Text 4">
            <a:extLst>
              <a:ext uri="{FF2B5EF4-FFF2-40B4-BE49-F238E27FC236}">
                <a16:creationId xmlns:a16="http://schemas.microsoft.com/office/drawing/2014/main" id="{3FC1F82D-567E-318E-1FC5-0A27369B3EC1}"/>
              </a:ext>
            </a:extLst>
          </p:cNvPr>
          <p:cNvSpPr/>
          <p:nvPr/>
        </p:nvSpPr>
        <p:spPr>
          <a:xfrm>
            <a:off x="1066651" y="3743325"/>
            <a:ext cx="1645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embedded</a:t>
            </a:r>
            <a:endParaRPr lang="en-US" sz="1350" dirty="0">
              <a:solidFill>
                <a:schemeClr val="accent6"/>
              </a:solidFill>
            </a:endParaRPr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B929E5AE-3A33-0FF0-5B09-3A562D2DB7EA}"/>
              </a:ext>
            </a:extLst>
          </p:cNvPr>
          <p:cNvSpPr/>
          <p:nvPr/>
        </p:nvSpPr>
        <p:spPr>
          <a:xfrm>
            <a:off x="1066651" y="4048125"/>
            <a:ext cx="4450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前端在上位机，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VM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核心在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MCU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中</a:t>
            </a:r>
            <a:endParaRPr lang="en-US" sz="1200" dirty="0"/>
          </a:p>
        </p:txBody>
      </p:sp>
      <p:pic>
        <p:nvPicPr>
          <p:cNvPr id="68" name="Image 22" descr="preencoded.png">
            <a:extLst>
              <a:ext uri="{FF2B5EF4-FFF2-40B4-BE49-F238E27FC236}">
                <a16:creationId xmlns:a16="http://schemas.microsoft.com/office/drawing/2014/main" id="{B5703737-9381-ED9E-09BC-BBF30E57CEE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1851" y="3810000"/>
            <a:ext cx="190500" cy="190500"/>
          </a:xfrm>
          <a:prstGeom prst="rect">
            <a:avLst/>
          </a:prstGeom>
        </p:spPr>
      </p:pic>
      <p:pic>
        <p:nvPicPr>
          <p:cNvPr id="69" name="Image 16" descr="preencoded.png">
            <a:extLst>
              <a:ext uri="{FF2B5EF4-FFF2-40B4-BE49-F238E27FC236}">
                <a16:creationId xmlns:a16="http://schemas.microsoft.com/office/drawing/2014/main" id="{5C5BB2BD-465D-3FBB-AC1F-58B0A1E338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83075" y="3882164"/>
            <a:ext cx="3225850" cy="419100"/>
          </a:xfrm>
          <a:prstGeom prst="rect">
            <a:avLst/>
          </a:prstGeom>
        </p:spPr>
      </p:pic>
      <p:sp>
        <p:nvSpPr>
          <p:cNvPr id="70" name="Text 13">
            <a:extLst>
              <a:ext uri="{FF2B5EF4-FFF2-40B4-BE49-F238E27FC236}">
                <a16:creationId xmlns:a16="http://schemas.microsoft.com/office/drawing/2014/main" id="{B672A2F9-CF35-B9BD-DD0E-B391EA29F0FD}"/>
              </a:ext>
            </a:extLst>
          </p:cNvPr>
          <p:cNvSpPr/>
          <p:nvPr/>
        </p:nvSpPr>
        <p:spPr>
          <a:xfrm>
            <a:off x="4578325" y="3977414"/>
            <a:ext cx="8534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84FC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a2</a:t>
            </a:r>
            <a:r>
              <a:rPr lang="en-US" altLang="zh-CN" sz="1200" b="1" dirty="0">
                <a:solidFill>
                  <a:srgbClr val="C084FC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kt</a:t>
            </a:r>
            <a:endParaRPr lang="en-US" sz="1200" dirty="0">
              <a:solidFill>
                <a:srgbClr val="C084FC"/>
              </a:solidFill>
            </a:endParaRPr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5218E653-4728-E8CE-ACAB-0ED9A63D676B}"/>
              </a:ext>
            </a:extLst>
          </p:cNvPr>
          <p:cNvSpPr/>
          <p:nvPr/>
        </p:nvSpPr>
        <p:spPr>
          <a:xfrm>
            <a:off x="6855097" y="3977414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→ </a:t>
            </a:r>
            <a:r>
              <a:rPr lang="en-US" altLang="zh-CN" sz="1200" dirty="0">
                <a:solidFill>
                  <a:srgbClr val="C084FC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Kotlin</a:t>
            </a:r>
            <a:endParaRPr lang="en-US" sz="1200" dirty="0">
              <a:solidFill>
                <a:srgbClr val="C084F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2AEC5-6575-28EE-4ED7-D5CF26B23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6DF2149-C643-E1F9-7534-7CDE734D4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E0A1701-AC73-126A-736D-0C8C12F8A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AC6727D1-181B-D492-5F63-AA27C07A9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D7660361-9E5D-21AC-6E0D-71E0DE88A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1181100"/>
            <a:ext cx="5561365" cy="48768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083AE286-2910-3956-453A-380EC01296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409700"/>
            <a:ext cx="285750" cy="28575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9F9CEC4C-ADEB-A171-EA40-024911D2CC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9065" y="1181100"/>
            <a:ext cx="5525884" cy="4876800"/>
          </a:xfrm>
          <a:prstGeom prst="rect">
            <a:avLst/>
          </a:prstGeom>
        </p:spPr>
      </p:pic>
      <p:sp>
        <p:nvSpPr>
          <p:cNvPr id="29" name="Text 0">
            <a:extLst>
              <a:ext uri="{FF2B5EF4-FFF2-40B4-BE49-F238E27FC236}">
                <a16:creationId xmlns:a16="http://schemas.microsoft.com/office/drawing/2014/main" id="{61A7626C-102B-4D9E-482D-6A15D0E6E7E5}"/>
              </a:ext>
            </a:extLst>
          </p:cNvPr>
          <p:cNvSpPr/>
          <p:nvPr/>
        </p:nvSpPr>
        <p:spPr>
          <a:xfrm>
            <a:off x="457200" y="457200"/>
            <a:ext cx="1152144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– </a:t>
            </a:r>
            <a:r>
              <a:rPr lang="en-US" sz="270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CTE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zh-CN" altLang="en-US" sz="2700" b="1" dirty="0">
                <a:solidFill>
                  <a:schemeClr val="bg2">
                    <a:lumMod val="9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编译期调用</a:t>
            </a:r>
            <a:r>
              <a:rPr lang="en-US" altLang="zh-CN" sz="2700" b="1" dirty="0" err="1">
                <a:solidFill>
                  <a:schemeClr val="accent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AutoVM</a:t>
            </a:r>
            <a:r>
              <a:rPr lang="zh-CN" altLang="en-US" sz="2700" b="1" dirty="0">
                <a:solidFill>
                  <a:schemeClr val="bg2">
                    <a:lumMod val="9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解释执行</a:t>
            </a:r>
            <a:endParaRPr lang="en-US" sz="27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84DB98C1-5B93-A848-622D-2463F974C7E1}"/>
              </a:ext>
            </a:extLst>
          </p:cNvPr>
          <p:cNvSpPr/>
          <p:nvPr/>
        </p:nvSpPr>
        <p:spPr>
          <a:xfrm>
            <a:off x="1047749" y="1390650"/>
            <a:ext cx="310991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编译器代码块调用</a:t>
            </a:r>
            <a:endParaRPr lang="en-US" sz="180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7B985858-A118-78AA-410E-5AFE67049765}"/>
              </a:ext>
            </a:extLst>
          </p:cNvPr>
          <p:cNvSpPr/>
          <p:nvPr/>
        </p:nvSpPr>
        <p:spPr>
          <a:xfrm>
            <a:off x="6978760" y="1362075"/>
            <a:ext cx="309053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</a:rPr>
              <a:t>编译期条件执行</a:t>
            </a:r>
            <a:endParaRPr lang="en-US" sz="1800" dirty="0"/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B30F1155-5C64-F266-475A-D2DF4B5FA6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051" y="1905000"/>
            <a:ext cx="5324911" cy="3071812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016D5DBE-44FF-A4E6-FB01-B5D0122705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6713" y="1905000"/>
            <a:ext cx="4685243" cy="3665486"/>
          </a:xfrm>
          <a:prstGeom prst="rect">
            <a:avLst/>
          </a:prstGeom>
        </p:spPr>
      </p:pic>
      <p:pic>
        <p:nvPicPr>
          <p:cNvPr id="80" name="Image 18" descr="preencoded.png">
            <a:extLst>
              <a:ext uri="{FF2B5EF4-FFF2-40B4-BE49-F238E27FC236}">
                <a16:creationId xmlns:a16="http://schemas.microsoft.com/office/drawing/2014/main" id="{0151FD13-9217-DD66-BA25-28954D0656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5350668"/>
            <a:ext cx="323850" cy="285750"/>
          </a:xfrm>
          <a:prstGeom prst="rect">
            <a:avLst/>
          </a:prstGeom>
        </p:spPr>
      </p:pic>
      <p:sp>
        <p:nvSpPr>
          <p:cNvPr id="81" name="Text 15">
            <a:extLst>
              <a:ext uri="{FF2B5EF4-FFF2-40B4-BE49-F238E27FC236}">
                <a16:creationId xmlns:a16="http://schemas.microsoft.com/office/drawing/2014/main" id="{68D51B81-EF70-A12D-1D4F-C7BC7BE22892}"/>
              </a:ext>
            </a:extLst>
          </p:cNvPr>
          <p:cNvSpPr/>
          <p:nvPr/>
        </p:nvSpPr>
        <p:spPr>
          <a:xfrm>
            <a:off x="1114424" y="5360193"/>
            <a:ext cx="4904139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</a:rPr>
              <a:t>除</a:t>
            </a:r>
            <a:r>
              <a:rPr lang="en-US" altLang="zh-CN" sz="2400" b="1" dirty="0">
                <a:solidFill>
                  <a:schemeClr val="accent2"/>
                </a:solidFill>
                <a:latin typeface="Noto Sans SC" pitchFamily="34" charset="0"/>
                <a:ea typeface="Noto Sans SC" pitchFamily="34" charset="-122"/>
              </a:rPr>
              <a:t>#</a:t>
            </a:r>
            <a:r>
              <a:rPr lang="zh-CN" altLang="en-US" sz="16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</a:rPr>
              <a:t>外，</a:t>
            </a:r>
            <a:r>
              <a:rPr lang="en-US" altLang="zh-CN" sz="16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</a:rPr>
              <a:t>CTE</a:t>
            </a:r>
            <a:r>
              <a:rPr lang="zh-CN" altLang="en-US" sz="16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</a:rPr>
              <a:t>代码和普通</a:t>
            </a:r>
            <a:r>
              <a:rPr lang="en-US" altLang="zh-CN" sz="16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</a:rPr>
              <a:t>Auto</a:t>
            </a:r>
            <a:r>
              <a:rPr lang="zh-CN" altLang="en-US" sz="16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</a:rPr>
              <a:t>代码一致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84" name="Image 24" descr="preencoded.png">
            <a:extLst>
              <a:ext uri="{FF2B5EF4-FFF2-40B4-BE49-F238E27FC236}">
                <a16:creationId xmlns:a16="http://schemas.microsoft.com/office/drawing/2014/main" id="{18E2D36B-1367-A3B5-A112-768E8E679C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6713" y="1384299"/>
            <a:ext cx="282576" cy="28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5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97B60-991C-6449-FFFF-3D42D5A6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F643510-BAC1-57B2-3E7D-5C7BC6886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53BD34E-ABE1-EDE4-45F6-E850253D2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24C3DCDC-71F5-932B-B8CB-859BCF3CD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835AE0AE-17E4-A00D-B469-AD1E79072A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199" y="1181100"/>
            <a:ext cx="5561365" cy="48768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31488900-6B08-3503-9BA4-B7E75D76BD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9065" y="1181100"/>
            <a:ext cx="5525884" cy="4876800"/>
          </a:xfrm>
          <a:prstGeom prst="rect">
            <a:avLst/>
          </a:prstGeom>
        </p:spPr>
      </p:pic>
      <p:pic>
        <p:nvPicPr>
          <p:cNvPr id="24" name="Image 22" descr="preencoded.png">
            <a:extLst>
              <a:ext uri="{FF2B5EF4-FFF2-40B4-BE49-F238E27FC236}">
                <a16:creationId xmlns:a16="http://schemas.microsoft.com/office/drawing/2014/main" id="{BF3D0F5A-AEF2-A676-C1D6-E7B1DEF072F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1913" y="1370189"/>
            <a:ext cx="304800" cy="304800"/>
          </a:xfrm>
          <a:prstGeom prst="rect">
            <a:avLst/>
          </a:prstGeom>
        </p:spPr>
      </p:pic>
      <p:sp>
        <p:nvSpPr>
          <p:cNvPr id="29" name="Text 0">
            <a:extLst>
              <a:ext uri="{FF2B5EF4-FFF2-40B4-BE49-F238E27FC236}">
                <a16:creationId xmlns:a16="http://schemas.microsoft.com/office/drawing/2014/main" id="{AC60CE80-D2DA-2DCC-9489-9F7381AE0E27}"/>
              </a:ext>
            </a:extLst>
          </p:cNvPr>
          <p:cNvSpPr/>
          <p:nvPr/>
        </p:nvSpPr>
        <p:spPr>
          <a:xfrm>
            <a:off x="457200" y="457200"/>
            <a:ext cx="1152144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– </a:t>
            </a:r>
            <a:r>
              <a:rPr lang="en-US" altLang="zh-CN" sz="2700" b="1" dirty="0">
                <a:solidFill>
                  <a:schemeClr val="accent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OOP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en-US" altLang="zh-CN" sz="270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altLang="zh-CN" sz="270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altLang="zh-CN" sz="2700" b="1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has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altLang="zh-CN" sz="2700" b="1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is</a:t>
            </a:r>
            <a:r>
              <a:rPr lang="zh-CN" altLang="en-US" sz="2700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</a:t>
            </a:r>
            <a:r>
              <a:rPr lang="en-US" altLang="zh-CN" sz="2700" b="1" dirty="0">
                <a:solidFill>
                  <a:schemeClr val="accent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for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1A19767A-A9C9-4BB0-2E3B-0F26DC8A486A}"/>
              </a:ext>
            </a:extLst>
          </p:cNvPr>
          <p:cNvSpPr/>
          <p:nvPr/>
        </p:nvSpPr>
        <p:spPr>
          <a:xfrm>
            <a:off x="1047749" y="1390650"/>
            <a:ext cx="310991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特征（</a:t>
            </a:r>
            <a:r>
              <a:rPr lang="en-US" altLang="zh-CN" sz="160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Spec</a:t>
            </a:r>
            <a:r>
              <a:rPr lang="zh-CN" altLang="en-US" sz="160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800" dirty="0">
              <a:solidFill>
                <a:schemeClr val="accent5"/>
              </a:solidFill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617BA391-55ED-DBE1-1AF0-AAD5C1B6F7BA}"/>
              </a:ext>
            </a:extLst>
          </p:cNvPr>
          <p:cNvSpPr/>
          <p:nvPr/>
        </p:nvSpPr>
        <p:spPr>
          <a:xfrm>
            <a:off x="6699778" y="1370189"/>
            <a:ext cx="309053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Noto Sans SC" pitchFamily="34" charset="0"/>
                <a:ea typeface="Noto Sans SC" pitchFamily="34" charset="-122"/>
              </a:rPr>
              <a:t>组合（</a:t>
            </a:r>
            <a:r>
              <a:rPr lang="en-US" altLang="zh-CN" sz="1600" b="1" dirty="0">
                <a:solidFill>
                  <a:schemeClr val="accent6"/>
                </a:solidFill>
                <a:latin typeface="Noto Sans SC" pitchFamily="34" charset="0"/>
                <a:ea typeface="Noto Sans SC" pitchFamily="34" charset="-122"/>
              </a:rPr>
              <a:t>Composition</a:t>
            </a:r>
            <a:r>
              <a:rPr lang="zh-CN" altLang="en-US" sz="1600" b="1" dirty="0">
                <a:solidFill>
                  <a:schemeClr val="accent6"/>
                </a:solidFill>
                <a:latin typeface="Noto Sans SC" pitchFamily="34" charset="0"/>
                <a:ea typeface="Noto Sans SC" pitchFamily="34" charset="-122"/>
              </a:rPr>
              <a:t>）</a:t>
            </a:r>
            <a:endParaRPr lang="en-US" sz="1800" dirty="0">
              <a:solidFill>
                <a:schemeClr val="accent6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B5E52B0-136D-2A50-2791-A1281F0082B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051" y="1796098"/>
            <a:ext cx="4897942" cy="382753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A44C7AD-248C-C3E1-EC7C-03C4AE01BD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1798991"/>
            <a:ext cx="5803502" cy="3614031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A978AA26-562E-4CF8-4C85-2C8C2FBF45E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" y="1424623"/>
            <a:ext cx="219075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9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2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80" y="2568880"/>
            <a:ext cx="1301139" cy="130113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52600"/>
            <a:ext cx="3915519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90500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3622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628900"/>
            <a:ext cx="952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895600"/>
            <a:ext cx="952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467100"/>
            <a:ext cx="5334000" cy="723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900" y="3629025"/>
            <a:ext cx="1714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3467100"/>
            <a:ext cx="5334000" cy="723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3629025"/>
            <a:ext cx="171450" cy="1714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内存管理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609600" y="13335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核心问题：动态内存 vs 静态内存？</a:t>
            </a:r>
            <a:endParaRPr lang="en-US" sz="1350" dirty="0"/>
          </a:p>
        </p:txBody>
      </p:sp>
      <p:sp>
        <p:nvSpPr>
          <p:cNvPr id="28" name="Text 2"/>
          <p:cNvSpPr/>
          <p:nvPr/>
        </p:nvSpPr>
        <p:spPr>
          <a:xfrm>
            <a:off x="1162050" y="1943100"/>
            <a:ext cx="152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动态内存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29" name="Text 3"/>
          <p:cNvSpPr/>
          <p:nvPr/>
        </p:nvSpPr>
        <p:spPr>
          <a:xfrm>
            <a:off x="990600" y="2324100"/>
            <a:ext cx="2926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灵活性高，运行时分配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933450" y="259080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内存安全风险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933450" y="285750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手动管理繁琐</a:t>
            </a:r>
            <a:endParaRPr lang="en-US" sz="1200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CB525E6A-92E9-136B-7215-8560CEE5585E}"/>
              </a:ext>
            </a:extLst>
          </p:cNvPr>
          <p:cNvGrpSpPr/>
          <p:nvPr/>
        </p:nvGrpSpPr>
        <p:grpSpPr>
          <a:xfrm>
            <a:off x="3658030" y="1789980"/>
            <a:ext cx="3141762" cy="1485900"/>
            <a:chOff x="4525119" y="1752600"/>
            <a:chExt cx="3141762" cy="1485900"/>
          </a:xfrm>
        </p:grpSpPr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525119" y="1752600"/>
              <a:ext cx="3141762" cy="1485900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194376" y="1916840"/>
              <a:ext cx="247650" cy="3429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442026" y="2781300"/>
              <a:ext cx="152400" cy="1524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447140" y="2483216"/>
              <a:ext cx="152400" cy="152400"/>
            </a:xfrm>
            <a:prstGeom prst="rect">
              <a:avLst/>
            </a:prstGeom>
          </p:spPr>
        </p:pic>
        <p:sp>
          <p:nvSpPr>
            <p:cNvPr id="33" name="Text 7"/>
            <p:cNvSpPr/>
            <p:nvPr/>
          </p:nvSpPr>
          <p:spPr>
            <a:xfrm>
              <a:off x="5600700" y="2457450"/>
              <a:ext cx="12192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endParaRPr lang="en-US" sz="1200" b="1" dirty="0">
                <a:solidFill>
                  <a:schemeClr val="accent4"/>
                </a:solidFill>
              </a:endParaRPr>
            </a:p>
          </p:txBody>
        </p:sp>
        <p:sp>
          <p:nvSpPr>
            <p:cNvPr id="34" name="Text 8"/>
            <p:cNvSpPr/>
            <p:nvPr/>
          </p:nvSpPr>
          <p:spPr>
            <a:xfrm>
              <a:off x="5295901" y="2724150"/>
              <a:ext cx="1837006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zh-CN" altLang="en-US" sz="1200" b="1" dirty="0">
                  <a:solidFill>
                    <a:schemeClr val="bg2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回收：</a:t>
              </a:r>
              <a:r>
                <a:rPr lang="en-US" altLang="zh-CN" sz="1200" b="1" dirty="0" err="1">
                  <a:solidFill>
                    <a:schemeClr val="accent6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AutoFree</a:t>
              </a:r>
              <a:endParaRPr lang="en-US" sz="12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0069B07-132E-BE50-6B5A-45786AF3DF36}"/>
              </a:ext>
            </a:extLst>
          </p:cNvPr>
          <p:cNvGrpSpPr/>
          <p:nvPr/>
        </p:nvGrpSpPr>
        <p:grpSpPr>
          <a:xfrm>
            <a:off x="8257431" y="1752600"/>
            <a:ext cx="3915519" cy="1485900"/>
            <a:chOff x="7666881" y="1752600"/>
            <a:chExt cx="3915519" cy="1485900"/>
          </a:xfrm>
        </p:grpSpPr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666881" y="1752600"/>
              <a:ext cx="3915519" cy="148590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819281" y="1905000"/>
              <a:ext cx="323850" cy="3429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7819281" y="2362200"/>
              <a:ext cx="152400" cy="15240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819281" y="2628900"/>
              <a:ext cx="95250" cy="15240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819281" y="2895600"/>
              <a:ext cx="95250" cy="152400"/>
            </a:xfrm>
            <a:prstGeom prst="rect">
              <a:avLst/>
            </a:prstGeom>
          </p:spPr>
        </p:pic>
        <p:sp>
          <p:nvSpPr>
            <p:cNvPr id="35" name="Text 9"/>
            <p:cNvSpPr/>
            <p:nvPr/>
          </p:nvSpPr>
          <p:spPr>
            <a:xfrm>
              <a:off x="8257431" y="1943100"/>
              <a:ext cx="15240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chemeClr val="accent5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静态内存</a:t>
              </a:r>
              <a:endParaRPr lang="en-US" sz="1500" dirty="0">
                <a:solidFill>
                  <a:schemeClr val="accent5"/>
                </a:solidFill>
              </a:endParaRPr>
            </a:p>
          </p:txBody>
        </p:sp>
        <p:sp>
          <p:nvSpPr>
            <p:cNvPr id="36" name="Text 10"/>
            <p:cNvSpPr/>
            <p:nvPr/>
          </p:nvSpPr>
          <p:spPr>
            <a:xfrm>
              <a:off x="8047881" y="2324100"/>
              <a:ext cx="262128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性能高，编译时确定</a:t>
              </a:r>
              <a:endParaRPr lang="en-US" sz="1200" dirty="0"/>
            </a:p>
          </p:txBody>
        </p:sp>
        <p:sp>
          <p:nvSpPr>
            <p:cNvPr id="37" name="Text 11"/>
            <p:cNvSpPr/>
            <p:nvPr/>
          </p:nvSpPr>
          <p:spPr>
            <a:xfrm>
              <a:off x="7990731" y="2590800"/>
              <a:ext cx="15240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灵活性受限</a:t>
              </a:r>
              <a:endParaRPr lang="en-US" sz="1200" dirty="0"/>
            </a:p>
          </p:txBody>
        </p:sp>
        <p:sp>
          <p:nvSpPr>
            <p:cNvPr id="38" name="Text 12"/>
            <p:cNvSpPr/>
            <p:nvPr/>
          </p:nvSpPr>
          <p:spPr>
            <a:xfrm>
              <a:off x="7990731" y="2857500"/>
              <a:ext cx="27432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难处理动态数据结构</a:t>
              </a:r>
              <a:endParaRPr lang="en-US" sz="1200" dirty="0"/>
            </a:p>
          </p:txBody>
        </p:sp>
      </p:grpSp>
      <p:sp>
        <p:nvSpPr>
          <p:cNvPr id="39" name="Text 13"/>
          <p:cNvSpPr/>
          <p:nvPr/>
        </p:nvSpPr>
        <p:spPr>
          <a:xfrm>
            <a:off x="971550" y="3581400"/>
            <a:ext cx="5554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Default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Storage（默认存储策略）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723900" y="3886200"/>
            <a:ext cx="6987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根据变量特性自动选择最佳内存分配策略，无需开发者干预。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6610350" y="35814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Prelude</a:t>
            </a: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Config（预置配置）</a:t>
            </a:r>
            <a:endParaRPr lang="en-US" sz="1350" dirty="0"/>
          </a:p>
        </p:txBody>
      </p:sp>
      <p:sp>
        <p:nvSpPr>
          <p:cNvPr id="42" name="Text 16"/>
          <p:cNvSpPr/>
          <p:nvPr/>
        </p:nvSpPr>
        <p:spPr>
          <a:xfrm>
            <a:off x="6362700" y="3886200"/>
            <a:ext cx="6720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对于不同系统，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提供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预制的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内存管理配置</a:t>
            </a:r>
            <a:endParaRPr lang="en-US" sz="1050" dirty="0"/>
          </a:p>
        </p:txBody>
      </p:sp>
      <p:sp>
        <p:nvSpPr>
          <p:cNvPr id="43" name="Text 1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44" name="Text 1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45" name="Text 19"/>
          <p:cNvSpPr/>
          <p:nvPr/>
        </p:nvSpPr>
        <p:spPr>
          <a:xfrm>
            <a:off x="1066800" y="6067425"/>
            <a:ext cx="9601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memory</a:t>
            </a:r>
            <a:endParaRPr lang="en-US" sz="1050" dirty="0"/>
          </a:p>
        </p:txBody>
      </p:sp>
      <p:sp>
        <p:nvSpPr>
          <p:cNvPr id="46" name="Text 20"/>
          <p:cNvSpPr/>
          <p:nvPr/>
        </p:nvSpPr>
        <p:spPr>
          <a:xfrm>
            <a:off x="15240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7" name="Text 21"/>
          <p:cNvSpPr/>
          <p:nvPr/>
        </p:nvSpPr>
        <p:spPr>
          <a:xfrm>
            <a:off x="1600200" y="6067425"/>
            <a:ext cx="19202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"management"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25146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679C13ED-2478-6AF8-928B-2A7627086CD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76250" y="4171222"/>
            <a:ext cx="5251479" cy="1715953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EEA04222-FC2B-9985-940E-3FB198EE564F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48400" y="4171222"/>
            <a:ext cx="4523002" cy="1347745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743CFBB7-44CC-295B-35C2-57E884B2361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48400" y="5637360"/>
            <a:ext cx="4688883" cy="1016960"/>
          </a:xfrm>
          <a:prstGeom prst="rect">
            <a:avLst/>
          </a:prstGeom>
        </p:spPr>
      </p:pic>
      <p:sp>
        <p:nvSpPr>
          <p:cNvPr id="32" name="Text 6"/>
          <p:cNvSpPr/>
          <p:nvPr/>
        </p:nvSpPr>
        <p:spPr>
          <a:xfrm>
            <a:off x="4663440" y="1942289"/>
            <a:ext cx="304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4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 的统一方案</a:t>
            </a:r>
            <a:endParaRPr lang="en-US" sz="1500" dirty="0">
              <a:solidFill>
                <a:srgbClr val="ED489A"/>
              </a:solidFill>
            </a:endParaRPr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870ED5A0-C45E-3129-8396-2EFA7C66E6F3}"/>
              </a:ext>
            </a:extLst>
          </p:cNvPr>
          <p:cNvSpPr/>
          <p:nvPr/>
        </p:nvSpPr>
        <p:spPr>
          <a:xfrm>
            <a:off x="4430446" y="2466975"/>
            <a:ext cx="18370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zh-CN" altLang="en-US" sz="1200" b="1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分配：</a:t>
            </a:r>
            <a:r>
              <a:rPr lang="zh-CN" altLang="en-US" sz="1200" b="1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动静结合</a:t>
            </a:r>
            <a:endParaRPr lang="en-US" sz="12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562100"/>
            <a:ext cx="3505200" cy="1562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1762125"/>
            <a:ext cx="2476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43400" y="1562100"/>
            <a:ext cx="3505200" cy="1562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900" y="1762125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77200" y="1562100"/>
            <a:ext cx="3505200" cy="1562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67700" y="1762125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3124200"/>
            <a:ext cx="10972800" cy="3657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1001" y="1685925"/>
            <a:ext cx="1903958" cy="3905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4172" y="1409700"/>
            <a:ext cx="1298228" cy="3905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异步并发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800100" y="2209800"/>
            <a:ext cx="3810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84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原生支持异步编程模型</a:t>
            </a:r>
            <a:endParaRPr lang="en-US" sz="1500" dirty="0">
              <a:solidFill>
                <a:srgbClr val="C084FC"/>
              </a:solidFill>
            </a:endParaRPr>
          </a:p>
        </p:txBody>
      </p:sp>
      <p:sp>
        <p:nvSpPr>
          <p:cNvPr id="26" name="Text 2"/>
          <p:cNvSpPr/>
          <p:nvPr/>
        </p:nvSpPr>
        <p:spPr>
          <a:xfrm>
            <a:off x="800100" y="2552700"/>
            <a:ext cx="3124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通过~T类型表示异步计算，编译器自动处理复杂的状态机转换与协程生成。</a:t>
            </a:r>
            <a:endParaRPr lang="en-US" sz="1050" dirty="0"/>
          </a:p>
        </p:txBody>
      </p:sp>
      <p:sp>
        <p:nvSpPr>
          <p:cNvPr id="27" name="Text 3"/>
          <p:cNvSpPr/>
          <p:nvPr/>
        </p:nvSpPr>
        <p:spPr>
          <a:xfrm>
            <a:off x="4533900" y="2209800"/>
            <a:ext cx="312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消息传递机制</a:t>
            </a:r>
            <a:endParaRPr lang="en-US" sz="1500" dirty="0">
              <a:solidFill>
                <a:srgbClr val="22D3EE"/>
              </a:solidFill>
            </a:endParaRPr>
          </a:p>
        </p:txBody>
      </p:sp>
      <p:sp>
        <p:nvSpPr>
          <p:cNvPr id="28" name="Text 4"/>
          <p:cNvSpPr/>
          <p:nvPr/>
        </p:nvSpPr>
        <p:spPr>
          <a:xfrm>
            <a:off x="4533900" y="2552700"/>
            <a:ext cx="3124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Task间通过消息传递共享数据，避免共享内存带来的复杂同步问题与数据竞争。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8267700" y="2209800"/>
            <a:ext cx="312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accent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无数据竞争的并发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0" name="Text 6"/>
          <p:cNvSpPr/>
          <p:nvPr/>
        </p:nvSpPr>
        <p:spPr>
          <a:xfrm>
            <a:off x="8267700" y="2552700"/>
            <a:ext cx="3124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通过所有权系统和消息传递，在编译期消除数据竞争，保证程序安全性。</a:t>
            </a:r>
            <a:endParaRPr lang="en-US" sz="1050" dirty="0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66B270C-1F6B-BD9B-2A32-E3403A290084}"/>
              </a:ext>
            </a:extLst>
          </p:cNvPr>
          <p:cNvGrpSpPr/>
          <p:nvPr/>
        </p:nvGrpSpPr>
        <p:grpSpPr>
          <a:xfrm>
            <a:off x="1706880" y="4614297"/>
            <a:ext cx="960120" cy="571500"/>
            <a:chOff x="2324011" y="2952750"/>
            <a:chExt cx="960120" cy="571500"/>
          </a:xfrm>
        </p:grpSpPr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327821" y="2952750"/>
              <a:ext cx="952500" cy="5715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708821" y="2990850"/>
              <a:ext cx="190500" cy="266700"/>
            </a:xfrm>
            <a:prstGeom prst="rect">
              <a:avLst/>
            </a:prstGeom>
          </p:spPr>
        </p:pic>
        <p:sp>
          <p:nvSpPr>
            <p:cNvPr id="31" name="Text 7"/>
            <p:cNvSpPr/>
            <p:nvPr/>
          </p:nvSpPr>
          <p:spPr>
            <a:xfrm>
              <a:off x="2324011" y="3295650"/>
              <a:ext cx="96012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A</a:t>
              </a:r>
              <a:endParaRPr lang="en-US" sz="1050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F448E90B-0F0E-842F-5E82-47331F6C64F5}"/>
              </a:ext>
            </a:extLst>
          </p:cNvPr>
          <p:cNvGrpSpPr/>
          <p:nvPr/>
        </p:nvGrpSpPr>
        <p:grpSpPr>
          <a:xfrm>
            <a:off x="5619750" y="3438525"/>
            <a:ext cx="960120" cy="571500"/>
            <a:chOff x="5615940" y="2221111"/>
            <a:chExt cx="960120" cy="571500"/>
          </a:xfrm>
        </p:grpSpPr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619750" y="2221111"/>
              <a:ext cx="952500" cy="571500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034088" y="2259211"/>
              <a:ext cx="123825" cy="266700"/>
            </a:xfrm>
            <a:prstGeom prst="rect">
              <a:avLst/>
            </a:prstGeom>
          </p:spPr>
        </p:pic>
        <p:sp>
          <p:nvSpPr>
            <p:cNvPr id="32" name="Text 8"/>
            <p:cNvSpPr/>
            <p:nvPr/>
          </p:nvSpPr>
          <p:spPr>
            <a:xfrm>
              <a:off x="5615940" y="2564011"/>
              <a:ext cx="96012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B</a:t>
              </a:r>
              <a:endParaRPr lang="en-US" sz="1050" dirty="0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5CE698E-B395-BB75-AF4B-62E026D8D619}"/>
              </a:ext>
            </a:extLst>
          </p:cNvPr>
          <p:cNvGrpSpPr/>
          <p:nvPr/>
        </p:nvGrpSpPr>
        <p:grpSpPr>
          <a:xfrm>
            <a:off x="9507855" y="4614297"/>
            <a:ext cx="960120" cy="571500"/>
            <a:chOff x="8907646" y="2952750"/>
            <a:chExt cx="960120" cy="5715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911530" y="2952750"/>
              <a:ext cx="952500" cy="5715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316194" y="2990850"/>
              <a:ext cx="142875" cy="266700"/>
            </a:xfrm>
            <a:prstGeom prst="rect">
              <a:avLst/>
            </a:prstGeom>
          </p:spPr>
        </p:pic>
        <p:sp>
          <p:nvSpPr>
            <p:cNvPr id="33" name="Text 9"/>
            <p:cNvSpPr/>
            <p:nvPr/>
          </p:nvSpPr>
          <p:spPr>
            <a:xfrm>
              <a:off x="8907646" y="3295650"/>
              <a:ext cx="96012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C</a:t>
              </a:r>
              <a:endParaRPr lang="en-US" sz="1050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2B03CA8-0A70-B625-0A6A-E39D38004FE2}"/>
              </a:ext>
            </a:extLst>
          </p:cNvPr>
          <p:cNvGrpSpPr/>
          <p:nvPr/>
        </p:nvGrpSpPr>
        <p:grpSpPr>
          <a:xfrm>
            <a:off x="5616014" y="5836404"/>
            <a:ext cx="960120" cy="571500"/>
            <a:chOff x="5615866" y="3684240"/>
            <a:chExt cx="960120" cy="571500"/>
          </a:xfrm>
        </p:grpSpPr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5619750" y="3684240"/>
              <a:ext cx="952500" cy="57150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6000601" y="3722340"/>
              <a:ext cx="190500" cy="266700"/>
            </a:xfrm>
            <a:prstGeom prst="rect">
              <a:avLst/>
            </a:prstGeom>
          </p:spPr>
        </p:pic>
        <p:sp>
          <p:nvSpPr>
            <p:cNvPr id="34" name="Text 10"/>
            <p:cNvSpPr/>
            <p:nvPr/>
          </p:nvSpPr>
          <p:spPr>
            <a:xfrm>
              <a:off x="5615866" y="4027140"/>
              <a:ext cx="96012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D</a:t>
              </a:r>
              <a:endParaRPr lang="en-US" sz="1050" dirty="0"/>
            </a:p>
          </p:txBody>
        </p:sp>
      </p:grpSp>
      <p:sp>
        <p:nvSpPr>
          <p:cNvPr id="35" name="Text 11"/>
          <p:cNvSpPr/>
          <p:nvPr/>
        </p:nvSpPr>
        <p:spPr>
          <a:xfrm>
            <a:off x="1233400" y="1781175"/>
            <a:ext cx="1621353" cy="2952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核心抽象：</a:t>
            </a:r>
            <a:r>
              <a:rPr lang="en-US" altLang="zh-CN" sz="1200" b="1" dirty="0" err="1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Actor</a:t>
            </a:r>
            <a:r>
              <a:rPr lang="zh-CN" alt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</a:t>
            </a:r>
            <a:endParaRPr lang="en-US" sz="1200" dirty="0">
              <a:solidFill>
                <a:srgbClr val="C084FC"/>
              </a:solidFill>
            </a:endParaRPr>
          </a:p>
        </p:txBody>
      </p:sp>
      <p:sp>
        <p:nvSpPr>
          <p:cNvPr id="36" name="Text 12"/>
          <p:cNvSpPr/>
          <p:nvPr/>
        </p:nvSpPr>
        <p:spPr>
          <a:xfrm>
            <a:off x="4985917" y="1804988"/>
            <a:ext cx="7315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B82F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Task</a:t>
            </a:r>
            <a:endParaRPr lang="en-US" sz="1200" b="1" dirty="0">
              <a:solidFill>
                <a:srgbClr val="3B82F6"/>
              </a:solidFill>
            </a:endParaRPr>
          </a:p>
        </p:txBody>
      </p:sp>
      <p:sp>
        <p:nvSpPr>
          <p:cNvPr id="37" name="Text 13"/>
          <p:cNvSpPr/>
          <p:nvPr/>
        </p:nvSpPr>
        <p:spPr>
          <a:xfrm>
            <a:off x="5299444" y="1782629"/>
            <a:ext cx="36576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 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5360203" y="1803212"/>
            <a:ext cx="5486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084F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Msg</a:t>
            </a:r>
            <a:endParaRPr lang="en-US" sz="1200" b="1" dirty="0">
              <a:solidFill>
                <a:srgbClr val="C084FC"/>
              </a:solidFill>
            </a:endParaRPr>
          </a:p>
        </p:txBody>
      </p:sp>
      <p:sp>
        <p:nvSpPr>
          <p:cNvPr id="39" name="Text 15"/>
          <p:cNvSpPr/>
          <p:nvPr/>
        </p:nvSpPr>
        <p:spPr>
          <a:xfrm>
            <a:off x="8743950" y="1790700"/>
            <a:ext cx="1402080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异步</a:t>
            </a:r>
            <a:r>
              <a:rPr lang="en-US" altLang="zh-CN" sz="12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9507855" y="1800225"/>
            <a:ext cx="3657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~T</a:t>
            </a:r>
            <a:endParaRPr lang="en-US" sz="1400" b="1" dirty="0">
              <a:solidFill>
                <a:srgbClr val="22C55E"/>
              </a:solidFill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6EE3F8E-E971-14D9-CDCD-C2A66FE85D6A}"/>
              </a:ext>
            </a:extLst>
          </p:cNvPr>
          <p:cNvSpPr/>
          <p:nvPr/>
        </p:nvSpPr>
        <p:spPr>
          <a:xfrm>
            <a:off x="7656661" y="3843580"/>
            <a:ext cx="1037887" cy="3407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400" b="1" dirty="0" err="1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Timer</a:t>
            </a:r>
            <a:r>
              <a:rPr lang="en-US" sz="1400" b="1" dirty="0" err="1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Msg</a:t>
            </a:r>
            <a:endParaRPr lang="en-US" sz="1200" b="1" dirty="0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E9594DA5-63FC-E344-9672-2EC965715423}"/>
              </a:ext>
            </a:extLst>
          </p:cNvPr>
          <p:cNvSpPr/>
          <p:nvPr/>
        </p:nvSpPr>
        <p:spPr>
          <a:xfrm>
            <a:off x="3872642" y="5571561"/>
            <a:ext cx="1037887" cy="3407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400" b="1" dirty="0" err="1">
                <a:solidFill>
                  <a:srgbClr val="EC48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OnceMsg</a:t>
            </a:r>
            <a:endParaRPr lang="en-US" sz="1200" b="1" dirty="0">
              <a:solidFill>
                <a:srgbClr val="EC4899"/>
              </a:solidFill>
            </a:endParaRPr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CB4D69CD-D57C-748A-ADDF-99CFF3A6A253}"/>
              </a:ext>
            </a:extLst>
          </p:cNvPr>
          <p:cNvSpPr/>
          <p:nvPr/>
        </p:nvSpPr>
        <p:spPr>
          <a:xfrm>
            <a:off x="3730922" y="3967446"/>
            <a:ext cx="1037887" cy="3407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400" b="1" dirty="0" err="1">
                <a:solidFill>
                  <a:schemeClr val="accent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BroadCast</a:t>
            </a:r>
            <a:endParaRPr lang="en-US" sz="1200" b="1" dirty="0">
              <a:solidFill>
                <a:schemeClr val="accent4"/>
              </a:solidFill>
            </a:endParaRPr>
          </a:p>
        </p:txBody>
      </p:sp>
      <p:sp>
        <p:nvSpPr>
          <p:cNvPr id="56" name="Text 14">
            <a:extLst>
              <a:ext uri="{FF2B5EF4-FFF2-40B4-BE49-F238E27FC236}">
                <a16:creationId xmlns:a16="http://schemas.microsoft.com/office/drawing/2014/main" id="{DE6BB9D2-FB04-FD0A-9C33-A72AB0CD2EAC}"/>
              </a:ext>
            </a:extLst>
          </p:cNvPr>
          <p:cNvSpPr/>
          <p:nvPr/>
        </p:nvSpPr>
        <p:spPr>
          <a:xfrm>
            <a:off x="7770871" y="5571561"/>
            <a:ext cx="1037887" cy="3407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400" b="1" dirty="0" err="1">
                <a:solidFill>
                  <a:schemeClr val="accent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RPCCall</a:t>
            </a:r>
            <a:endParaRPr lang="en-US" sz="12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D120D-E11C-F1C9-B579-A4CE66955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8B15EB4-DFA3-2399-C7C3-69EFE005B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915034A-CECE-3B02-1D69-1584FA87C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B2D09D59-6C17-DA99-B634-F3A66188F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F739DB81-C181-CA1B-42F9-BBEBEDD594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BE2174FA-9AE6-D3D8-C39D-572A6C101CC6}"/>
              </a:ext>
            </a:extLst>
          </p:cNvPr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异步并发</a:t>
            </a:r>
            <a:endParaRPr lang="en-US" sz="2700" dirty="0"/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F383A604-55E4-AC07-E26A-0B7676FBC7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7374" y="2032000"/>
            <a:ext cx="5594626" cy="3779662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DBC74FA1-0AF0-2D70-8EB0-AAFB080888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26" y="2099731"/>
            <a:ext cx="6175116" cy="3595511"/>
          </a:xfrm>
          <a:prstGeom prst="rect">
            <a:avLst/>
          </a:prstGeom>
        </p:spPr>
      </p:pic>
      <p:pic>
        <p:nvPicPr>
          <p:cNvPr id="61" name="Image 5" descr="preencoded.png">
            <a:extLst>
              <a:ext uri="{FF2B5EF4-FFF2-40B4-BE49-F238E27FC236}">
                <a16:creationId xmlns:a16="http://schemas.microsoft.com/office/drawing/2014/main" id="{4F0B6F7A-09E5-B622-FFD8-42112B296F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485900"/>
            <a:ext cx="457200" cy="457200"/>
          </a:xfrm>
          <a:prstGeom prst="rect">
            <a:avLst/>
          </a:prstGeom>
        </p:spPr>
      </p:pic>
      <p:pic>
        <p:nvPicPr>
          <p:cNvPr id="62" name="Image 6" descr="preencoded.png">
            <a:extLst>
              <a:ext uri="{FF2B5EF4-FFF2-40B4-BE49-F238E27FC236}">
                <a16:creationId xmlns:a16="http://schemas.microsoft.com/office/drawing/2014/main" id="{48A4E630-8F7A-2A18-481C-755B26DA00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1562100"/>
            <a:ext cx="257175" cy="304800"/>
          </a:xfrm>
          <a:prstGeom prst="rect">
            <a:avLst/>
          </a:prstGeom>
        </p:spPr>
      </p:pic>
      <p:sp>
        <p:nvSpPr>
          <p:cNvPr id="63" name="Text 1">
            <a:extLst>
              <a:ext uri="{FF2B5EF4-FFF2-40B4-BE49-F238E27FC236}">
                <a16:creationId xmlns:a16="http://schemas.microsoft.com/office/drawing/2014/main" id="{EB774797-B75F-0068-0FE3-1B4BC58728CA}"/>
              </a:ext>
            </a:extLst>
          </p:cNvPr>
          <p:cNvSpPr/>
          <p:nvPr/>
        </p:nvSpPr>
        <p:spPr>
          <a:xfrm>
            <a:off x="1257300" y="1562100"/>
            <a:ext cx="4389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单个</a:t>
            </a:r>
            <a:r>
              <a:rPr lang="en-US" altLang="zh-CN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</a:t>
            </a:r>
            <a:endParaRPr lang="en-US" sz="1800" dirty="0"/>
          </a:p>
        </p:txBody>
      </p:sp>
      <p:pic>
        <p:nvPicPr>
          <p:cNvPr id="64" name="Image 14" descr="preencoded.png">
            <a:extLst>
              <a:ext uri="{FF2B5EF4-FFF2-40B4-BE49-F238E27FC236}">
                <a16:creationId xmlns:a16="http://schemas.microsoft.com/office/drawing/2014/main" id="{AF8C9F5B-3ABA-F0E6-3E95-4617AF1D2CA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485900"/>
            <a:ext cx="457200" cy="457200"/>
          </a:xfrm>
          <a:prstGeom prst="rect">
            <a:avLst/>
          </a:prstGeom>
        </p:spPr>
      </p:pic>
      <p:pic>
        <p:nvPicPr>
          <p:cNvPr id="65" name="Image 15" descr="preencoded.png">
            <a:extLst>
              <a:ext uri="{FF2B5EF4-FFF2-40B4-BE49-F238E27FC236}">
                <a16:creationId xmlns:a16="http://schemas.microsoft.com/office/drawing/2014/main" id="{3BB6D52B-5B3B-F3D8-07D8-BEFFA095191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1562100"/>
            <a:ext cx="228600" cy="304800"/>
          </a:xfrm>
          <a:prstGeom prst="rect">
            <a:avLst/>
          </a:prstGeom>
        </p:spPr>
      </p:pic>
      <p:sp>
        <p:nvSpPr>
          <p:cNvPr id="66" name="Text 18">
            <a:extLst>
              <a:ext uri="{FF2B5EF4-FFF2-40B4-BE49-F238E27FC236}">
                <a16:creationId xmlns:a16="http://schemas.microsoft.com/office/drawing/2014/main" id="{C4BCB83F-6486-33CA-5C9E-97A83138D69B}"/>
              </a:ext>
            </a:extLst>
          </p:cNvPr>
          <p:cNvSpPr/>
          <p:nvPr/>
        </p:nvSpPr>
        <p:spPr>
          <a:xfrm>
            <a:off x="7048500" y="1562100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800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多个</a:t>
            </a:r>
            <a:r>
              <a:rPr lang="en-US" altLang="zh-CN" sz="1800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81151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00" y="1333500"/>
            <a:ext cx="243840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2175" y="1457325"/>
            <a:ext cx="2476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9800" y="2552700"/>
            <a:ext cx="243840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24100" y="2676525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6800" y="2552700"/>
            <a:ext cx="2438400" cy="106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1100" y="2676525"/>
            <a:ext cx="219075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43800" y="2552700"/>
            <a:ext cx="2438400" cy="1066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8100" y="2676525"/>
            <a:ext cx="285750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133850"/>
            <a:ext cx="365760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3810000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438150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49530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</a:t>
            </a:r>
            <a:r>
              <a:rPr lang="en-US" sz="27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标准库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4991100" y="1828800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io.at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4991100" y="2095500"/>
            <a:ext cx="2209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统一接口</a:t>
            </a:r>
            <a:endParaRPr lang="en-US" sz="1050" dirty="0"/>
          </a:p>
        </p:txBody>
      </p:sp>
      <p:sp>
        <p:nvSpPr>
          <p:cNvPr id="23" name="Text 3"/>
          <p:cNvSpPr/>
          <p:nvPr/>
        </p:nvSpPr>
        <p:spPr>
          <a:xfrm>
            <a:off x="2324100" y="3048000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io.vm.at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2324100" y="3314700"/>
            <a:ext cx="2209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虚拟机后端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4991100" y="3048000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io.rs.at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4991100" y="3314700"/>
            <a:ext cx="2209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 后端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7658100" y="3048000"/>
            <a:ext cx="2209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io.c.at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7658100" y="3314700"/>
            <a:ext cx="2209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 后端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4838700" y="3771900"/>
            <a:ext cx="701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一次编写，多平台运行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800600" y="4038600"/>
            <a:ext cx="9326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统一API，可编译至不同平台，实现"Write Once, Run Anywhere"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4838700" y="4343400"/>
            <a:ext cx="701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平台特定优化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4800600" y="4610100"/>
            <a:ext cx="678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针对不同平台特性进行优化，提供最佳性能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4838700" y="4914900"/>
            <a:ext cx="701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灵活后端选择</a:t>
            </a:r>
            <a:endParaRPr lang="en-US" sz="1500" dirty="0"/>
          </a:p>
        </p:txBody>
      </p:sp>
      <p:sp>
        <p:nvSpPr>
          <p:cNvPr id="34" name="Text 14"/>
          <p:cNvSpPr/>
          <p:nvPr/>
        </p:nvSpPr>
        <p:spPr>
          <a:xfrm>
            <a:off x="4800600" y="5181600"/>
            <a:ext cx="6781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根据目标平台自动选择最合适的后端实现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6096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7620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7" name="Text 17"/>
          <p:cNvSpPr/>
          <p:nvPr/>
        </p:nvSpPr>
        <p:spPr>
          <a:xfrm>
            <a:off x="9144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backend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14478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15240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“</a:t>
            </a:r>
            <a:r>
              <a:rPr lang="en-US" sz="1050" dirty="0" err="1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stdlib</a:t>
            </a: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20574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" y="1257300"/>
            <a:ext cx="5486400" cy="472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14859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813" y="15621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095500"/>
            <a:ext cx="5029200" cy="419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2733675"/>
            <a:ext cx="1333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330517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38766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0" y="44481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" y="50196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3659" y="1257300"/>
            <a:ext cx="5486400" cy="472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14859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91300" y="15621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2095500"/>
            <a:ext cx="5029200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2971800"/>
            <a:ext cx="1600200" cy="800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1300" y="31242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91500" y="2971800"/>
            <a:ext cx="160020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5800" y="31242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06000" y="2971800"/>
            <a:ext cx="1600200" cy="800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20300" y="3124200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267200"/>
            <a:ext cx="22860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24625" y="4286250"/>
            <a:ext cx="13335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4610100"/>
            <a:ext cx="22860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15100" y="4629150"/>
            <a:ext cx="15240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4953000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24625" y="4972050"/>
            <a:ext cx="133350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Shell（</a:t>
            </a:r>
            <a:r>
              <a:rPr lang="en-US" sz="270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ASH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）与 UI（</a:t>
            </a:r>
            <a:r>
              <a:rPr lang="en-US" sz="2700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Aura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1257300" y="1562100"/>
            <a:ext cx="438912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altLang="zh-CN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 Shell </a:t>
            </a:r>
            <a:r>
              <a:rPr lang="en-US" altLang="zh-CN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</a:t>
            </a:r>
            <a:r>
              <a:rPr lang="en-US" sz="1800" b="1" dirty="0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ASH)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800100" y="2219325"/>
            <a:ext cx="4800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ash</a:t>
            </a:r>
            <a:endParaRPr lang="en-US" sz="1050" dirty="0"/>
          </a:p>
        </p:txBody>
      </p:sp>
      <p:sp>
        <p:nvSpPr>
          <p:cNvPr id="35" name="Text 3"/>
          <p:cNvSpPr/>
          <p:nvPr/>
        </p:nvSpPr>
        <p:spPr>
          <a:xfrm>
            <a:off x="1028700" y="22193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1181100" y="22193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1485900" y="2219325"/>
            <a:ext cx="4800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1501140" y="2219325"/>
            <a:ext cx="8001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Shell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990600" y="2667000"/>
            <a:ext cx="554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基于 nushell + uutils/coreutils</a:t>
            </a:r>
            <a:endParaRPr lang="en-US" sz="1200" dirty="0"/>
          </a:p>
        </p:txBody>
      </p:sp>
      <p:sp>
        <p:nvSpPr>
          <p:cNvPr id="41" name="Text 9"/>
          <p:cNvSpPr/>
          <p:nvPr/>
        </p:nvSpPr>
        <p:spPr>
          <a:xfrm>
            <a:off x="990600" y="2895600"/>
            <a:ext cx="62407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继承强大的Posix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跨平台命令实现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990600" y="3238500"/>
            <a:ext cx="5364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结构化</a:t>
            </a:r>
            <a:r>
              <a:rPr lang="en-US" sz="12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管道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(Pipeline with Atom)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990600" y="3467100"/>
            <a:ext cx="5760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采用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Atom/</a:t>
            </a:r>
            <a:r>
              <a:rPr lang="en-US" altLang="zh-CN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Batom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格式（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的优化版）作为管道的数据格式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990600" y="3810000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跨边界通信 (MCU &lt;-&gt; Windows)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990600" y="4038600"/>
            <a:ext cx="5067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实现不同系统间的无缝数据交换与命令执行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990600" y="4381500"/>
            <a:ext cx="4328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智能命令 (Smart Commands)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990600" y="4610100"/>
            <a:ext cx="4053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AI辅助的命令补全与自动建议功能</a:t>
            </a:r>
            <a:endParaRPr lang="en-US" sz="1050" dirty="0"/>
          </a:p>
        </p:txBody>
      </p:sp>
      <p:sp>
        <p:nvSpPr>
          <p:cNvPr id="48" name="Text 16"/>
          <p:cNvSpPr/>
          <p:nvPr/>
        </p:nvSpPr>
        <p:spPr>
          <a:xfrm>
            <a:off x="990600" y="4953000"/>
            <a:ext cx="3048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未来扩展: SafeClaw</a:t>
            </a:r>
            <a:endParaRPr lang="en-US" sz="1200" dirty="0"/>
          </a:p>
        </p:txBody>
      </p:sp>
      <p:sp>
        <p:nvSpPr>
          <p:cNvPr id="49" name="Text 17"/>
          <p:cNvSpPr/>
          <p:nvPr/>
        </p:nvSpPr>
        <p:spPr>
          <a:xfrm>
            <a:off x="990600" y="5181600"/>
            <a:ext cx="57073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计划扩展至SafeClaw，提供更安全的系统级操作</a:t>
            </a:r>
            <a:endParaRPr lang="en-US" sz="1050" dirty="0"/>
          </a:p>
        </p:txBody>
      </p:sp>
      <p:sp>
        <p:nvSpPr>
          <p:cNvPr id="50" name="Text 18"/>
          <p:cNvSpPr/>
          <p:nvPr/>
        </p:nvSpPr>
        <p:spPr>
          <a:xfrm>
            <a:off x="7048500" y="1562100"/>
            <a:ext cx="38404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altLang="zh-CN" b="1" dirty="0">
                <a:solidFill>
                  <a:schemeClr val="bg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 UI </a:t>
            </a:r>
            <a:r>
              <a:rPr lang="en-US" altLang="zh-CN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</a:t>
            </a:r>
            <a:r>
              <a:rPr lang="en-US" sz="1800" b="1" dirty="0">
                <a:solidFill>
                  <a:srgbClr val="F472B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Aura)</a:t>
            </a:r>
            <a:endParaRPr lang="en-US" sz="1800" dirty="0"/>
          </a:p>
        </p:txBody>
      </p:sp>
      <p:sp>
        <p:nvSpPr>
          <p:cNvPr id="51" name="Text 19"/>
          <p:cNvSpPr/>
          <p:nvPr/>
        </p:nvSpPr>
        <p:spPr>
          <a:xfrm>
            <a:off x="6591300" y="22193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aura</a:t>
            </a:r>
            <a:endParaRPr lang="en-US" sz="1050" dirty="0"/>
          </a:p>
        </p:txBody>
      </p:sp>
      <p:sp>
        <p:nvSpPr>
          <p:cNvPr id="52" name="Text 20"/>
          <p:cNvSpPr/>
          <p:nvPr/>
        </p:nvSpPr>
        <p:spPr>
          <a:xfrm>
            <a:off x="6896100" y="22193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endParaRPr lang="en-US" sz="1050" dirty="0"/>
          </a:p>
        </p:txBody>
      </p:sp>
      <p:sp>
        <p:nvSpPr>
          <p:cNvPr id="53" name="Text 21"/>
          <p:cNvSpPr/>
          <p:nvPr/>
        </p:nvSpPr>
        <p:spPr>
          <a:xfrm>
            <a:off x="7048500" y="22193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54" name="Text 22"/>
          <p:cNvSpPr/>
          <p:nvPr/>
        </p:nvSpPr>
        <p:spPr>
          <a:xfrm>
            <a:off x="7353300" y="2219325"/>
            <a:ext cx="4800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endParaRPr lang="en-US" sz="1050" dirty="0"/>
          </a:p>
        </p:txBody>
      </p:sp>
      <p:sp>
        <p:nvSpPr>
          <p:cNvPr id="55" name="Text 23"/>
          <p:cNvSpPr/>
          <p:nvPr/>
        </p:nvSpPr>
        <p:spPr>
          <a:xfrm>
            <a:off x="7421880" y="2216257"/>
            <a:ext cx="14401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</a:t>
            </a:r>
            <a:r>
              <a:rPr lang="en-US" altLang="zh-CN" sz="1050" dirty="0">
                <a:solidFill>
                  <a:schemeClr val="accent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</a:t>
            </a:r>
            <a:endParaRPr lang="en-US" sz="1050" dirty="0">
              <a:solidFill>
                <a:schemeClr val="accent5"/>
              </a:solidFill>
            </a:endParaRPr>
          </a:p>
        </p:txBody>
      </p:sp>
      <p:sp>
        <p:nvSpPr>
          <p:cNvPr id="56" name="Text 24"/>
          <p:cNvSpPr/>
          <p:nvPr/>
        </p:nvSpPr>
        <p:spPr>
          <a:xfrm>
            <a:off x="7635110" y="2219324"/>
            <a:ext cx="1957937" cy="1683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Representation Abstract</a:t>
            </a:r>
            <a:endParaRPr lang="en-US" sz="1050" dirty="0"/>
          </a:p>
        </p:txBody>
      </p:sp>
      <p:sp>
        <p:nvSpPr>
          <p:cNvPr id="57" name="Text 25"/>
          <p:cNvSpPr/>
          <p:nvPr/>
        </p:nvSpPr>
        <p:spPr>
          <a:xfrm>
            <a:off x="6477000" y="266700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多平台目标</a:t>
            </a:r>
            <a:endParaRPr lang="en-US" sz="1200" dirty="0"/>
          </a:p>
        </p:txBody>
      </p:sp>
      <p:sp>
        <p:nvSpPr>
          <p:cNvPr id="58" name="Text 26"/>
          <p:cNvSpPr/>
          <p:nvPr/>
        </p:nvSpPr>
        <p:spPr>
          <a:xfrm>
            <a:off x="6819900" y="3086100"/>
            <a:ext cx="548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</a:t>
            </a:r>
            <a:endParaRPr lang="en-US" sz="1200" dirty="0"/>
          </a:p>
        </p:txBody>
      </p:sp>
      <p:sp>
        <p:nvSpPr>
          <p:cNvPr id="59" name="Text 27"/>
          <p:cNvSpPr/>
          <p:nvPr/>
        </p:nvSpPr>
        <p:spPr>
          <a:xfrm>
            <a:off x="6591300" y="3352800"/>
            <a:ext cx="24231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Vue3 + shadcn-vue</a:t>
            </a:r>
            <a:endParaRPr lang="en-US" sz="900" dirty="0"/>
          </a:p>
        </p:txBody>
      </p:sp>
      <p:sp>
        <p:nvSpPr>
          <p:cNvPr id="60" name="Text 28"/>
          <p:cNvSpPr/>
          <p:nvPr/>
        </p:nvSpPr>
        <p:spPr>
          <a:xfrm>
            <a:off x="8553450" y="308610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Desktop</a:t>
            </a:r>
            <a:endParaRPr lang="en-US" sz="1200" dirty="0"/>
          </a:p>
        </p:txBody>
      </p:sp>
      <p:sp>
        <p:nvSpPr>
          <p:cNvPr id="61" name="Text 29"/>
          <p:cNvSpPr/>
          <p:nvPr/>
        </p:nvSpPr>
        <p:spPr>
          <a:xfrm>
            <a:off x="8305800" y="3352800"/>
            <a:ext cx="3291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Tauri Desktop</a:t>
            </a:r>
            <a:endParaRPr lang="en-US" sz="900" dirty="0"/>
          </a:p>
        </p:txBody>
      </p:sp>
      <p:sp>
        <p:nvSpPr>
          <p:cNvPr id="62" name="Text 30"/>
          <p:cNvSpPr/>
          <p:nvPr/>
        </p:nvSpPr>
        <p:spPr>
          <a:xfrm>
            <a:off x="10210800" y="308610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Mobile</a:t>
            </a:r>
            <a:endParaRPr lang="en-US" sz="1200" dirty="0"/>
          </a:p>
        </p:txBody>
      </p:sp>
      <p:sp>
        <p:nvSpPr>
          <p:cNvPr id="63" name="Text 31"/>
          <p:cNvSpPr/>
          <p:nvPr/>
        </p:nvSpPr>
        <p:spPr>
          <a:xfrm>
            <a:off x="10031730" y="3315992"/>
            <a:ext cx="137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Jetpack Compose / </a:t>
            </a:r>
            <a:r>
              <a:rPr lang="en-US" altLang="zh-CN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Harmony</a:t>
            </a:r>
            <a:endParaRPr lang="en-US" sz="900" dirty="0"/>
          </a:p>
        </p:txBody>
      </p:sp>
      <p:sp>
        <p:nvSpPr>
          <p:cNvPr id="64" name="Text 32"/>
          <p:cNvSpPr/>
          <p:nvPr/>
        </p:nvSpPr>
        <p:spPr>
          <a:xfrm>
            <a:off x="6477000" y="3962400"/>
            <a:ext cx="502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灵活后端设计</a:t>
            </a:r>
            <a:endParaRPr lang="en-US" sz="1200" dirty="0"/>
          </a:p>
        </p:txBody>
      </p:sp>
      <p:sp>
        <p:nvSpPr>
          <p:cNvPr id="65" name="Text 33"/>
          <p:cNvSpPr/>
          <p:nvPr/>
        </p:nvSpPr>
        <p:spPr>
          <a:xfrm>
            <a:off x="6819900" y="4267200"/>
            <a:ext cx="6080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Web → Rust HTTP Server</a:t>
            </a: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轻松实现前后端分离</a:t>
            </a:r>
            <a:endParaRPr lang="en-US" sz="1050" dirty="0"/>
          </a:p>
        </p:txBody>
      </p:sp>
      <p:sp>
        <p:nvSpPr>
          <p:cNvPr id="66" name="Text 34"/>
          <p:cNvSpPr/>
          <p:nvPr/>
        </p:nvSpPr>
        <p:spPr>
          <a:xfrm>
            <a:off x="6819900" y="4610100"/>
            <a:ext cx="54406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Desktop → Rust IPC</a:t>
            </a: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高效的桌面应用交互</a:t>
            </a:r>
            <a:endParaRPr lang="en-US" sz="1050" dirty="0"/>
          </a:p>
        </p:txBody>
      </p:sp>
      <p:sp>
        <p:nvSpPr>
          <p:cNvPr id="67" name="Text 35"/>
          <p:cNvSpPr/>
          <p:nvPr/>
        </p:nvSpPr>
        <p:spPr>
          <a:xfrm>
            <a:off x="6819900" y="4953000"/>
            <a:ext cx="5814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MCU → C + LVGL (未来)</a:t>
            </a: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支持嵌入式设备界面</a:t>
            </a:r>
            <a:endParaRPr lang="en-US" sz="1050" dirty="0"/>
          </a:p>
        </p:txBody>
      </p:sp>
      <p:sp>
        <p:nvSpPr>
          <p:cNvPr id="68" name="Text 36"/>
          <p:cNvSpPr/>
          <p:nvPr/>
        </p:nvSpPr>
        <p:spPr>
          <a:xfrm>
            <a:off x="457200" y="62198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69" name="Text 37"/>
          <p:cNvSpPr/>
          <p:nvPr/>
        </p:nvSpPr>
        <p:spPr>
          <a:xfrm>
            <a:off x="762000" y="62198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70" name="Text 38"/>
          <p:cNvSpPr/>
          <p:nvPr/>
        </p:nvSpPr>
        <p:spPr>
          <a:xfrm>
            <a:off x="914400" y="6219825"/>
            <a:ext cx="8001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shell</a:t>
            </a:r>
            <a:endParaRPr lang="en-US" sz="1050" dirty="0"/>
          </a:p>
        </p:txBody>
      </p:sp>
      <p:sp>
        <p:nvSpPr>
          <p:cNvPr id="71" name="Text 39"/>
          <p:cNvSpPr/>
          <p:nvPr/>
        </p:nvSpPr>
        <p:spPr>
          <a:xfrm>
            <a:off x="1295400" y="62198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72" name="Text 40"/>
          <p:cNvSpPr/>
          <p:nvPr/>
        </p:nvSpPr>
        <p:spPr>
          <a:xfrm>
            <a:off x="1371600" y="6219825"/>
            <a:ext cx="8001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"ash"</a:t>
            </a:r>
            <a:endParaRPr lang="en-US" sz="1050" dirty="0"/>
          </a:p>
        </p:txBody>
      </p:sp>
      <p:sp>
        <p:nvSpPr>
          <p:cNvPr id="73" name="Text 41"/>
          <p:cNvSpPr/>
          <p:nvPr/>
        </p:nvSpPr>
        <p:spPr>
          <a:xfrm>
            <a:off x="1752600" y="62198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74" name="Text 42"/>
          <p:cNvSpPr/>
          <p:nvPr/>
        </p:nvSpPr>
        <p:spPr>
          <a:xfrm>
            <a:off x="1905000" y="62198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75" name="Text 43"/>
          <p:cNvSpPr/>
          <p:nvPr/>
        </p:nvSpPr>
        <p:spPr>
          <a:xfrm>
            <a:off x="2209800" y="62198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76" name="Text 44"/>
          <p:cNvSpPr/>
          <p:nvPr/>
        </p:nvSpPr>
        <p:spPr>
          <a:xfrm>
            <a:off x="2362200" y="62198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ui</a:t>
            </a:r>
            <a:endParaRPr lang="en-US" sz="1050" dirty="0"/>
          </a:p>
        </p:txBody>
      </p:sp>
      <p:sp>
        <p:nvSpPr>
          <p:cNvPr id="77" name="Text 45"/>
          <p:cNvSpPr/>
          <p:nvPr/>
        </p:nvSpPr>
        <p:spPr>
          <a:xfrm>
            <a:off x="2514600" y="62198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78" name="Text 46"/>
          <p:cNvSpPr/>
          <p:nvPr/>
        </p:nvSpPr>
        <p:spPr>
          <a:xfrm>
            <a:off x="2590800" y="6219825"/>
            <a:ext cx="9601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"aura"</a:t>
            </a:r>
            <a:endParaRPr lang="en-US" sz="1050" dirty="0"/>
          </a:p>
        </p:txBody>
      </p:sp>
      <p:sp>
        <p:nvSpPr>
          <p:cNvPr id="79" name="Text 47"/>
          <p:cNvSpPr/>
          <p:nvPr/>
        </p:nvSpPr>
        <p:spPr>
          <a:xfrm>
            <a:off x="3048000" y="62198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Text 31">
            <a:extLst>
              <a:ext uri="{FF2B5EF4-FFF2-40B4-BE49-F238E27FC236}">
                <a16:creationId xmlns:a16="http://schemas.microsoft.com/office/drawing/2014/main" id="{01C91B2C-AA0C-1EEE-6043-AD20E6BD76C7}"/>
              </a:ext>
            </a:extLst>
          </p:cNvPr>
          <p:cNvSpPr/>
          <p:nvPr/>
        </p:nvSpPr>
        <p:spPr>
          <a:xfrm>
            <a:off x="10031730" y="3508429"/>
            <a:ext cx="1371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altLang="zh-CN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HarmonyOS/</a:t>
            </a:r>
            <a:r>
              <a:rPr lang="en-US" altLang="zh-CN" sz="9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ArkTS</a:t>
            </a:r>
            <a:endParaRPr lang="en-US" sz="900" dirty="0"/>
          </a:p>
        </p:txBody>
      </p:sp>
      <p:sp>
        <p:nvSpPr>
          <p:cNvPr id="80" name="Text 29">
            <a:extLst>
              <a:ext uri="{FF2B5EF4-FFF2-40B4-BE49-F238E27FC236}">
                <a16:creationId xmlns:a16="http://schemas.microsoft.com/office/drawing/2014/main" id="{0937FD1E-237A-9DBC-EF30-EC4308113489}"/>
              </a:ext>
            </a:extLst>
          </p:cNvPr>
          <p:cNvSpPr/>
          <p:nvPr/>
        </p:nvSpPr>
        <p:spPr>
          <a:xfrm>
            <a:off x="8302959" y="3547175"/>
            <a:ext cx="329184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 (iced/</a:t>
            </a:r>
            <a:r>
              <a:rPr lang="en-US" sz="9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gpui</a:t>
            </a:r>
            <a:r>
              <a:rPr 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4DC7-70BD-7198-6D0E-607351A8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2814253-5915-7DF3-74DA-822EC64AB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FB8D68E-1487-A267-6B43-04C37FBC98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2432776-39AD-CFF9-D94E-D929175C9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086288D4-0662-D3E9-6886-174AA02CF1F3}"/>
              </a:ext>
            </a:extLst>
          </p:cNvPr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– AURA </a:t>
            </a: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Demo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</a:t>
            </a:r>
            <a:r>
              <a:rPr lang="en-US" sz="2700" b="1" dirty="0">
                <a:solidFill>
                  <a:schemeClr val="accent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Vue.js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2700" dirty="0"/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BD970621-2206-790B-D6C1-FE8E51124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2288" y="1223963"/>
            <a:ext cx="8087423" cy="508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06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B75DC-AFB8-3A81-8401-09144CC6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5C6E84B-29CA-4C22-5481-58BE0EDA0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39B0537-F33C-AC4A-6F27-FF5E5C260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1BB805EC-D9EC-11A6-4F9C-38A76E716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35673AFA-8788-6A92-5EE0-19B553C7C408}"/>
              </a:ext>
            </a:extLst>
          </p:cNvPr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– AURA </a:t>
            </a: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Demo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</a:t>
            </a:r>
            <a:r>
              <a:rPr lang="en-US" sz="2700" b="1" dirty="0">
                <a:solidFill>
                  <a:schemeClr val="accent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Tauri Desktop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27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62220D-89F4-9A06-3D13-8FEE03D3D0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4197" y="1062588"/>
            <a:ext cx="7343605" cy="532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942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2A6FC-3A44-0CCB-2A6B-30E7C7BA4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F3A75EB-2247-B6FF-89E9-39127F99C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F7E6ED5-7439-12D3-0849-BAB34DDE17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5B0EB8E3-F143-AE77-F2EA-5C11CBD453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165059F9-4F46-200C-DC52-70C02BC53AF5}"/>
              </a:ext>
            </a:extLst>
          </p:cNvPr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– AURA Demo (</a:t>
            </a:r>
            <a:r>
              <a:rPr lang="en-US" sz="2700" b="1" dirty="0" err="1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JetPack</a:t>
            </a:r>
            <a:r>
              <a:rPr lang="en-US" sz="2700" b="1" dirty="0">
                <a:solidFill>
                  <a:schemeClr val="accent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Compose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27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674B62-8EE6-C1C6-1E8F-36B5C2509E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4592" y="457200"/>
            <a:ext cx="2856739" cy="58822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CD40D74-0850-E9DA-98C4-6FDD666CEA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434" y="1404204"/>
            <a:ext cx="6768480" cy="448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846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2296B-5A4F-79A9-A200-EC4E1281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E15FAE4-274A-0E83-CE3C-A529B3405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E3B3248-7478-EEBE-45D4-402B5D5DF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D6DBFEC-02C2-4369-B182-8A433C9BD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83A72A3C-FF8B-21EC-8806-3952F632A26A}"/>
              </a:ext>
            </a:extLst>
          </p:cNvPr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– AURA  Demo (</a:t>
            </a:r>
            <a:r>
              <a:rPr lang="en-US" sz="270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Harmony/</a:t>
            </a:r>
            <a:r>
              <a:rPr lang="en-US" altLang="zh-CN" sz="2700" b="1" dirty="0" err="1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ArkTS</a:t>
            </a:r>
            <a:r>
              <a:rPr lang="en-US" altLang="zh-CN" sz="2700" b="1" dirty="0">
                <a:solidFill>
                  <a:schemeClr val="accent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27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5E5A59D-552A-7FA3-5D04-2176359AC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434" y="1404204"/>
            <a:ext cx="6768480" cy="44835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1691FFE-01FC-807E-1A98-9A8A786AE2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4592" y="457200"/>
            <a:ext cx="2856739" cy="588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91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F2E47-5800-181A-FB52-7477B7AC1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0ACDE61-7539-2C01-8B8D-4DF1A2B68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22016C0-5E55-BE6F-F6CE-B0763F0BF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12E66706-6EF8-A773-580C-C0FECC981B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5A7B37E2-03C8-3684-DF04-A14258619DB6}"/>
              </a:ext>
            </a:extLst>
          </p:cNvPr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– AURA Demo (</a:t>
            </a:r>
            <a:r>
              <a:rPr lang="en-US" sz="2700" b="1" dirty="0">
                <a:solidFill>
                  <a:srgbClr val="C084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Rust/GPUI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27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66D1D0-1570-331D-23E2-9A7C128FCD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339" y="1700891"/>
            <a:ext cx="9247322" cy="367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763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952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OS Adapters</a:t>
            </a:r>
            <a:endParaRPr lang="en-US" sz="2700" dirty="0"/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CF4BEF0-17D4-BECA-97C1-0A6444227593}"/>
              </a:ext>
            </a:extLst>
          </p:cNvPr>
          <p:cNvGrpSpPr/>
          <p:nvPr/>
        </p:nvGrpSpPr>
        <p:grpSpPr>
          <a:xfrm>
            <a:off x="2685167" y="2875222"/>
            <a:ext cx="1524000" cy="1524000"/>
            <a:chOff x="5334000" y="2895600"/>
            <a:chExt cx="1524000" cy="15240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34000" y="2895600"/>
              <a:ext cx="1524000" cy="1524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915025" y="3257550"/>
              <a:ext cx="361950" cy="342900"/>
            </a:xfrm>
            <a:prstGeom prst="rect">
              <a:avLst/>
            </a:prstGeom>
          </p:spPr>
        </p:pic>
        <p:sp>
          <p:nvSpPr>
            <p:cNvPr id="34" name="Text 1"/>
            <p:cNvSpPr/>
            <p:nvPr/>
          </p:nvSpPr>
          <p:spPr>
            <a:xfrm>
              <a:off x="5867400" y="3638550"/>
              <a:ext cx="9144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Auto</a:t>
              </a:r>
              <a:endParaRPr lang="en-US" sz="1500" dirty="0"/>
            </a:p>
          </p:txBody>
        </p:sp>
        <p:sp>
          <p:nvSpPr>
            <p:cNvPr id="35" name="Text 2"/>
            <p:cNvSpPr/>
            <p:nvPr/>
          </p:nvSpPr>
          <p:spPr>
            <a:xfrm>
              <a:off x="5867400" y="3905250"/>
              <a:ext cx="91440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FFFFFF">
                      <a:alpha val="80000"/>
                    </a:srgbClr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核心语言</a:t>
              </a:r>
              <a:endParaRPr lang="en-US" sz="900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8715B37-ED8D-A677-CF78-DD4B369565AD}"/>
              </a:ext>
            </a:extLst>
          </p:cNvPr>
          <p:cNvGrpSpPr/>
          <p:nvPr/>
        </p:nvGrpSpPr>
        <p:grpSpPr>
          <a:xfrm>
            <a:off x="8489087" y="2157618"/>
            <a:ext cx="2674620" cy="1447800"/>
            <a:chOff x="2222360" y="1227191"/>
            <a:chExt cx="2674620" cy="14478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240458" y="1227191"/>
              <a:ext cx="2438400" cy="1447800"/>
            </a:xfrm>
            <a:prstGeom prst="rect">
              <a:avLst/>
            </a:prstGeom>
          </p:spPr>
        </p:pic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AD26ADCD-C0A8-273B-D605-4507575D7119}"/>
                </a:ext>
              </a:extLst>
            </p:cNvPr>
            <p:cNvGrpSpPr/>
            <p:nvPr/>
          </p:nvGrpSpPr>
          <p:grpSpPr>
            <a:xfrm>
              <a:off x="2222360" y="1409700"/>
              <a:ext cx="2674620" cy="1143000"/>
              <a:chOff x="4758690" y="2324100"/>
              <a:chExt cx="2674620" cy="1143000"/>
            </a:xfrm>
          </p:grpSpPr>
          <p:pic>
            <p:nvPicPr>
              <p:cNvPr id="18" name="Image 16" descr="preencoded.png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10250" y="2324100"/>
                <a:ext cx="571500" cy="571500"/>
              </a:xfrm>
              <a:prstGeom prst="rect">
                <a:avLst/>
              </a:prstGeom>
            </p:spPr>
          </p:pic>
          <p:pic>
            <p:nvPicPr>
              <p:cNvPr id="19" name="Image 17" descr="preencoded.png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95988" y="2495550"/>
                <a:ext cx="200025" cy="228600"/>
              </a:xfrm>
              <a:prstGeom prst="rect">
                <a:avLst/>
              </a:prstGeom>
            </p:spPr>
          </p:pic>
          <p:sp>
            <p:nvSpPr>
              <p:cNvPr id="36" name="Text 3"/>
              <p:cNvSpPr/>
              <p:nvPr/>
            </p:nvSpPr>
            <p:spPr>
              <a:xfrm>
                <a:off x="4758690" y="2971800"/>
                <a:ext cx="2674620" cy="2667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 marL="0" indent="0" algn="ctr">
                  <a:lnSpc>
                    <a:spcPts val="2100"/>
                  </a:lnSpc>
                  <a:buNone/>
                </a:pPr>
                <a:r>
                  <a:rPr lang="en-US" sz="1350" b="1" dirty="0">
                    <a:solidFill>
                      <a:srgbClr val="FFFFFF"/>
                    </a:solidFill>
                    <a:latin typeface="Noto Sans SC" pitchFamily="34" charset="0"/>
                    <a:ea typeface="Noto Sans SC" pitchFamily="34" charset="-122"/>
                    <a:cs typeface="Noto Sans SC" pitchFamily="34" charset="-120"/>
                  </a:rPr>
                  <a:t>Windows/Linux</a:t>
                </a:r>
                <a:endParaRPr lang="en-US" sz="1350" dirty="0"/>
              </a:p>
            </p:txBody>
          </p:sp>
          <p:sp>
            <p:nvSpPr>
              <p:cNvPr id="37" name="Text 4"/>
              <p:cNvSpPr/>
              <p:nvPr/>
            </p:nvSpPr>
            <p:spPr>
              <a:xfrm>
                <a:off x="5029200" y="3276600"/>
                <a:ext cx="2133600" cy="1905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 marL="0" indent="0" algn="ctr">
                  <a:lnSpc>
                    <a:spcPts val="1500"/>
                  </a:lnSpc>
                  <a:buNone/>
                </a:pPr>
                <a:r>
                  <a:rPr lang="en-US" sz="1050" dirty="0">
                    <a:solidFill>
                      <a:srgbClr val="93C5FD"/>
                    </a:solidFill>
                    <a:latin typeface="Source Code Pro" pitchFamily="34" charset="0"/>
                    <a:ea typeface="Source Code Pro" pitchFamily="34" charset="-122"/>
                    <a:cs typeface="Source Code Pro" pitchFamily="34" charset="-120"/>
                  </a:rPr>
                  <a:t>Rust 后端</a:t>
                </a:r>
                <a:endParaRPr lang="en-US" sz="1050" dirty="0"/>
              </a:p>
            </p:txBody>
          </p:sp>
        </p:grp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38C68988-E6B1-504D-A77F-C95DD5F49FBA}"/>
              </a:ext>
            </a:extLst>
          </p:cNvPr>
          <p:cNvGrpSpPr/>
          <p:nvPr/>
        </p:nvGrpSpPr>
        <p:grpSpPr>
          <a:xfrm>
            <a:off x="8494287" y="4233318"/>
            <a:ext cx="2560320" cy="1447800"/>
            <a:chOff x="4815840" y="3695700"/>
            <a:chExt cx="2560320" cy="1447800"/>
          </a:xfrm>
        </p:grpSpPr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76800" y="3695700"/>
              <a:ext cx="2438400" cy="14478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810250" y="3848100"/>
              <a:ext cx="571500" cy="5715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953125" y="4019550"/>
              <a:ext cx="285750" cy="228600"/>
            </a:xfrm>
            <a:prstGeom prst="rect">
              <a:avLst/>
            </a:prstGeom>
          </p:spPr>
        </p:pic>
        <p:sp>
          <p:nvSpPr>
            <p:cNvPr id="38" name="Text 5"/>
            <p:cNvSpPr/>
            <p:nvPr/>
          </p:nvSpPr>
          <p:spPr>
            <a:xfrm>
              <a:off x="4964430" y="4495800"/>
              <a:ext cx="226314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SOC (机器人)</a:t>
              </a:r>
              <a:endParaRPr lang="en-US" sz="1350" dirty="0"/>
            </a:p>
          </p:txBody>
        </p:sp>
        <p:sp>
          <p:nvSpPr>
            <p:cNvPr id="39" name="Text 6"/>
            <p:cNvSpPr/>
            <p:nvPr/>
          </p:nvSpPr>
          <p:spPr>
            <a:xfrm>
              <a:off x="4815840" y="4800600"/>
              <a:ext cx="256032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86EFAC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Rust / C++ (ROS)</a:t>
              </a:r>
              <a:endParaRPr lang="en-US" sz="1050" dirty="0"/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DFEED1A-1493-8904-F9FC-5FE15AE145B1}"/>
              </a:ext>
            </a:extLst>
          </p:cNvPr>
          <p:cNvGrpSpPr/>
          <p:nvPr/>
        </p:nvGrpSpPr>
        <p:grpSpPr>
          <a:xfrm>
            <a:off x="4964145" y="5151047"/>
            <a:ext cx="2438400" cy="1447800"/>
            <a:chOff x="1371600" y="2933700"/>
            <a:chExt cx="2438400" cy="1447800"/>
          </a:xfrm>
        </p:grpSpPr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71600" y="2933700"/>
              <a:ext cx="2438400" cy="14478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305050" y="3086100"/>
              <a:ext cx="571500" cy="571500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476500" y="3257550"/>
              <a:ext cx="228600" cy="228600"/>
            </a:xfrm>
            <a:prstGeom prst="rect">
              <a:avLst/>
            </a:prstGeom>
          </p:spPr>
        </p:pic>
        <p:sp>
          <p:nvSpPr>
            <p:cNvPr id="40" name="Text 7"/>
            <p:cNvSpPr/>
            <p:nvPr/>
          </p:nvSpPr>
          <p:spPr>
            <a:xfrm>
              <a:off x="1459230" y="3733800"/>
              <a:ext cx="226314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MCU (嵌入式)</a:t>
              </a:r>
              <a:endParaRPr lang="en-US" sz="1350" dirty="0"/>
            </a:p>
          </p:txBody>
        </p:sp>
        <p:sp>
          <p:nvSpPr>
            <p:cNvPr id="41" name="Text 8"/>
            <p:cNvSpPr/>
            <p:nvPr/>
          </p:nvSpPr>
          <p:spPr>
            <a:xfrm>
              <a:off x="1524000" y="4038600"/>
              <a:ext cx="213360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DE047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C (FreeRTOS)</a:t>
              </a:r>
              <a:endParaRPr lang="en-US" sz="1050" dirty="0"/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8C4526F9-9DED-4C03-EB0F-EF51D4110FF5}"/>
              </a:ext>
            </a:extLst>
          </p:cNvPr>
          <p:cNvGrpSpPr/>
          <p:nvPr/>
        </p:nvGrpSpPr>
        <p:grpSpPr>
          <a:xfrm>
            <a:off x="4507567" y="696614"/>
            <a:ext cx="3360420" cy="1447800"/>
            <a:chOff x="7920990" y="2933700"/>
            <a:chExt cx="3360420" cy="1447800"/>
          </a:xfrm>
        </p:grpSpPr>
        <p:pic>
          <p:nvPicPr>
            <p:cNvPr id="26" name="Image 24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382000" y="2933700"/>
              <a:ext cx="2438400" cy="1447800"/>
            </a:xfrm>
            <a:prstGeom prst="rect">
              <a:avLst/>
            </a:prstGeom>
          </p:spPr>
        </p:pic>
        <p:pic>
          <p:nvPicPr>
            <p:cNvPr id="27" name="Image 25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315450" y="3086100"/>
              <a:ext cx="571500" cy="571500"/>
            </a:xfrm>
            <a:prstGeom prst="rect">
              <a:avLst/>
            </a:prstGeom>
          </p:spPr>
        </p:pic>
        <p:pic>
          <p:nvPicPr>
            <p:cNvPr id="28" name="Image 26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515475" y="3257550"/>
              <a:ext cx="171450" cy="228600"/>
            </a:xfrm>
            <a:prstGeom prst="rect">
              <a:avLst/>
            </a:prstGeom>
          </p:spPr>
        </p:pic>
        <p:sp>
          <p:nvSpPr>
            <p:cNvPr id="42" name="Text 9"/>
            <p:cNvSpPr/>
            <p:nvPr/>
          </p:nvSpPr>
          <p:spPr>
            <a:xfrm>
              <a:off x="8534400" y="3733800"/>
              <a:ext cx="21336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Mobile/WEB</a:t>
              </a:r>
              <a:endParaRPr lang="en-US" sz="1350" dirty="0"/>
            </a:p>
          </p:txBody>
        </p:sp>
        <p:sp>
          <p:nvSpPr>
            <p:cNvPr id="43" name="Text 10"/>
            <p:cNvSpPr/>
            <p:nvPr/>
          </p:nvSpPr>
          <p:spPr>
            <a:xfrm>
              <a:off x="7920990" y="4038600"/>
              <a:ext cx="336042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D8B4FE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a2vue, a2jet, a2ark</a:t>
              </a:r>
              <a:endParaRPr lang="en-US" sz="1050" dirty="0"/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167FE7B5-E10B-F636-A1CE-627EE6C3B212}"/>
              </a:ext>
            </a:extLst>
          </p:cNvPr>
          <p:cNvGrpSpPr/>
          <p:nvPr/>
        </p:nvGrpSpPr>
        <p:grpSpPr>
          <a:xfrm>
            <a:off x="4353262" y="2931310"/>
            <a:ext cx="3840480" cy="1447800"/>
            <a:chOff x="5339780" y="1181100"/>
            <a:chExt cx="3840480" cy="1447800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5BC307C0-C5E7-25C9-B2F3-83DA764A5DD7}"/>
                </a:ext>
              </a:extLst>
            </p:cNvPr>
            <p:cNvGrpSpPr/>
            <p:nvPr/>
          </p:nvGrpSpPr>
          <p:grpSpPr>
            <a:xfrm>
              <a:off x="5871275" y="1181100"/>
              <a:ext cx="2606040" cy="1447800"/>
              <a:chOff x="4792980" y="2933700"/>
              <a:chExt cx="2606040" cy="1447800"/>
            </a:xfrm>
          </p:grpSpPr>
          <p:pic>
            <p:nvPicPr>
              <p:cNvPr id="29" name="Image 27" descr="preencoded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76800" y="2933700"/>
                <a:ext cx="2438400" cy="1447800"/>
              </a:xfrm>
              <a:prstGeom prst="rect">
                <a:avLst/>
              </a:prstGeom>
            </p:spPr>
          </p:pic>
          <p:pic>
            <p:nvPicPr>
              <p:cNvPr id="30" name="Image 28" descr="preencoded.png"/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10250" y="3086100"/>
                <a:ext cx="571500" cy="571500"/>
              </a:xfrm>
              <a:prstGeom prst="rect">
                <a:avLst/>
              </a:prstGeom>
            </p:spPr>
          </p:pic>
          <p:pic>
            <p:nvPicPr>
              <p:cNvPr id="31" name="Image 29" descr="preencoded.png"/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10275" y="3257550"/>
                <a:ext cx="171450" cy="228600"/>
              </a:xfrm>
              <a:prstGeom prst="rect">
                <a:avLst/>
              </a:prstGeom>
            </p:spPr>
          </p:pic>
          <p:sp>
            <p:nvSpPr>
              <p:cNvPr id="44" name="Text 11"/>
              <p:cNvSpPr/>
              <p:nvPr/>
            </p:nvSpPr>
            <p:spPr>
              <a:xfrm>
                <a:off x="4792980" y="3733800"/>
                <a:ext cx="2606040" cy="266700"/>
              </a:xfrm>
              <a:prstGeom prst="rect">
                <a:avLst/>
              </a:prstGeom>
              <a:noFill/>
              <a:ln/>
            </p:spPr>
            <p:txBody>
              <a:bodyPr vert="horz" wrap="square" lIns="0" tIns="0" rIns="0" bIns="0" rtlCol="0" anchor="ctr"/>
              <a:lstStyle/>
              <a:p>
                <a:pPr marL="0" indent="0" algn="ctr">
                  <a:lnSpc>
                    <a:spcPts val="2100"/>
                  </a:lnSpc>
                  <a:buNone/>
                </a:pPr>
                <a:r>
                  <a:rPr lang="en-US" sz="1350" b="1" dirty="0">
                    <a:solidFill>
                      <a:srgbClr val="FFFFFF"/>
                    </a:solidFill>
                    <a:latin typeface="Noto Sans SC" pitchFamily="34" charset="0"/>
                    <a:ea typeface="Noto Sans SC" pitchFamily="34" charset="-122"/>
                    <a:cs typeface="Noto Sans SC" pitchFamily="34" charset="-120"/>
                  </a:rPr>
                  <a:t>COM (组件通信)</a:t>
                </a:r>
                <a:endParaRPr lang="en-US" sz="1350" dirty="0"/>
              </a:p>
            </p:txBody>
          </p:sp>
        </p:grpSp>
        <p:sp>
          <p:nvSpPr>
            <p:cNvPr id="45" name="Text 12"/>
            <p:cNvSpPr/>
            <p:nvPr/>
          </p:nvSpPr>
          <p:spPr>
            <a:xfrm>
              <a:off x="5339780" y="2280246"/>
              <a:ext cx="384048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CA5A5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RPC via Auto Virtual Bus</a:t>
              </a:r>
              <a:endParaRPr lang="en-US" sz="1050" dirty="0"/>
            </a:p>
          </p:txBody>
        </p:sp>
      </p:grpSp>
      <p:sp>
        <p:nvSpPr>
          <p:cNvPr id="46" name="Text 13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47" name="Text 14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1066800" y="6067425"/>
            <a:ext cx="12801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adapters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16764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50" name="Text 17"/>
          <p:cNvSpPr/>
          <p:nvPr/>
        </p:nvSpPr>
        <p:spPr>
          <a:xfrm>
            <a:off x="1752600" y="6067425"/>
            <a:ext cx="16535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"多平台适配"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257175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1EA18A2-6E8F-3D54-1E8B-23D95A1710A7}"/>
              </a:ext>
            </a:extLst>
          </p:cNvPr>
          <p:cNvCxnSpPr>
            <a:endCxn id="29" idx="1"/>
          </p:cNvCxnSpPr>
          <p:nvPr/>
        </p:nvCxnSpPr>
        <p:spPr>
          <a:xfrm>
            <a:off x="4209167" y="3655210"/>
            <a:ext cx="759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A9C9E1A-B8AD-6526-8A1A-F566D4E725C8}"/>
              </a:ext>
            </a:extLst>
          </p:cNvPr>
          <p:cNvCxnSpPr>
            <a:cxnSpLocks/>
            <a:stCxn id="29" idx="0"/>
            <a:endCxn id="26" idx="2"/>
          </p:cNvCxnSpPr>
          <p:nvPr/>
        </p:nvCxnSpPr>
        <p:spPr>
          <a:xfrm flipV="1">
            <a:off x="6187777" y="2144414"/>
            <a:ext cx="0" cy="78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9C74EF03-CDC3-0589-B1EE-9530146F5C41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7406977" y="2881518"/>
            <a:ext cx="1100208" cy="411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F3FA02D7-ADB9-6504-9EEA-B85879DEEE52}"/>
              </a:ext>
            </a:extLst>
          </p:cNvPr>
          <p:cNvCxnSpPr>
            <a:stCxn id="29" idx="2"/>
            <a:endCxn id="23" idx="0"/>
          </p:cNvCxnSpPr>
          <p:nvPr/>
        </p:nvCxnSpPr>
        <p:spPr>
          <a:xfrm flipH="1">
            <a:off x="6183345" y="4379110"/>
            <a:ext cx="4432" cy="771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50E7F966-4409-C45A-312C-BD3E357963EF}"/>
              </a:ext>
            </a:extLst>
          </p:cNvPr>
          <p:cNvCxnSpPr>
            <a:cxnSpLocks/>
          </p:cNvCxnSpPr>
          <p:nvPr/>
        </p:nvCxnSpPr>
        <p:spPr>
          <a:xfrm>
            <a:off x="7402545" y="4064564"/>
            <a:ext cx="1152702" cy="42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416" y="2534017"/>
            <a:ext cx="1561367" cy="15613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2588" y="1409700"/>
            <a:ext cx="8886825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4988" y="1562100"/>
            <a:ext cx="1743075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5487" y="167640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62362" y="1800225"/>
            <a:ext cx="6096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6263" y="1562100"/>
            <a:ext cx="1362075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6763" y="1676400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62638" y="1800225"/>
            <a:ext cx="609600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6538" y="1562100"/>
            <a:ext cx="1362075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77038" y="167640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62913" y="1800225"/>
            <a:ext cx="6096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86813" y="1562100"/>
            <a:ext cx="160020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77313" y="16764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2514600"/>
            <a:ext cx="5334000" cy="2895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" y="274320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8213" y="2819400"/>
            <a:ext cx="257175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43175" y="2838450"/>
            <a:ext cx="108585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8200" y="3419475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8200" y="4029075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8200" y="4762500"/>
            <a:ext cx="4876800" cy="419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48400" y="2514600"/>
            <a:ext cx="5334000" cy="2895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477000" y="274320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62725" y="2819400"/>
            <a:ext cx="28575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96250" y="2838450"/>
            <a:ext cx="95250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77000" y="3419475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77000" y="4219575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4762500"/>
            <a:ext cx="4876800" cy="419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609600" y="609600"/>
            <a:ext cx="1275588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DevOp &amp; Distribution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2309813" y="1695450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36" name="Text 2"/>
          <p:cNvSpPr/>
          <p:nvPr/>
        </p:nvSpPr>
        <p:spPr>
          <a:xfrm>
            <a:off x="4891088" y="169545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E047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AutoMan</a:t>
            </a:r>
            <a:endParaRPr lang="en-US" sz="1200" dirty="0"/>
          </a:p>
        </p:txBody>
      </p:sp>
      <p:sp>
        <p:nvSpPr>
          <p:cNvPr id="37" name="Text 3"/>
          <p:cNvSpPr/>
          <p:nvPr/>
        </p:nvSpPr>
        <p:spPr>
          <a:xfrm>
            <a:off x="7091363" y="1695450"/>
            <a:ext cx="1280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A8D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AutoIDE</a:t>
            </a:r>
            <a:endParaRPr lang="en-US" sz="1200" dirty="0"/>
          </a:p>
        </p:txBody>
      </p:sp>
      <p:sp>
        <p:nvSpPr>
          <p:cNvPr id="38" name="Text 4"/>
          <p:cNvSpPr/>
          <p:nvPr/>
        </p:nvSpPr>
        <p:spPr>
          <a:xfrm>
            <a:off x="9244013" y="169545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9" name="Text 5"/>
          <p:cNvSpPr/>
          <p:nvPr/>
        </p:nvSpPr>
        <p:spPr>
          <a:xfrm>
            <a:off x="1447800" y="2819400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AutoMan</a:t>
            </a:r>
            <a:endParaRPr lang="en-US" sz="1800" dirty="0"/>
          </a:p>
        </p:txBody>
      </p:sp>
      <p:sp>
        <p:nvSpPr>
          <p:cNvPr id="40" name="Text 6"/>
          <p:cNvSpPr/>
          <p:nvPr/>
        </p:nvSpPr>
        <p:spPr>
          <a:xfrm>
            <a:off x="2619375" y="2838450"/>
            <a:ext cx="16048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通用项目管理器</a:t>
            </a:r>
            <a:endParaRPr lang="en-US" sz="1050" dirty="0"/>
          </a:p>
        </p:txBody>
      </p:sp>
      <p:sp>
        <p:nvSpPr>
          <p:cNvPr id="41" name="Text 7"/>
          <p:cNvSpPr/>
          <p:nvPr/>
        </p:nvSpPr>
        <p:spPr>
          <a:xfrm>
            <a:off x="1123950" y="3352800"/>
            <a:ext cx="4000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构建系统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1123950" y="3619500"/>
            <a:ext cx="7680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自动化编译流程，支持多平台交叉编译，智能依赖解析与增量构建。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1123950" y="3962400"/>
            <a:ext cx="4591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包管理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1123950" y="4229100"/>
            <a:ext cx="45910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统一依赖管理，支持SemVer版本控制，自动解决依赖冲突，提供私有与公共仓库。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952500" y="48863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automan</a:t>
            </a:r>
            <a:endParaRPr lang="en-US" sz="1050" dirty="0"/>
          </a:p>
        </p:txBody>
      </p:sp>
      <p:sp>
        <p:nvSpPr>
          <p:cNvPr id="46" name="Text 12"/>
          <p:cNvSpPr/>
          <p:nvPr/>
        </p:nvSpPr>
        <p:spPr>
          <a:xfrm>
            <a:off x="1485900" y="4886325"/>
            <a:ext cx="9601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build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1943100" y="4886325"/>
            <a:ext cx="14401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--target</a:t>
            </a:r>
            <a:endParaRPr lang="en-US" sz="1050" dirty="0"/>
          </a:p>
        </p:txBody>
      </p:sp>
      <p:sp>
        <p:nvSpPr>
          <p:cNvPr id="48" name="Text 14"/>
          <p:cNvSpPr/>
          <p:nvPr/>
        </p:nvSpPr>
        <p:spPr>
          <a:xfrm>
            <a:off x="2628900" y="48863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1050" dirty="0" err="1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vue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7086600" y="2819400"/>
            <a:ext cx="1920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AutoIDE</a:t>
            </a:r>
            <a:endParaRPr lang="en-US" sz="1800" dirty="0"/>
          </a:p>
        </p:txBody>
      </p:sp>
      <p:sp>
        <p:nvSpPr>
          <p:cNvPr id="50" name="Text 16"/>
          <p:cNvSpPr/>
          <p:nvPr/>
        </p:nvSpPr>
        <p:spPr>
          <a:xfrm>
            <a:off x="8172450" y="2838450"/>
            <a:ext cx="134416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集成开发环境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6743700" y="3352800"/>
            <a:ext cx="4610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Assemble them all</a:t>
            </a:r>
            <a:endParaRPr lang="en-US" sz="1200" dirty="0"/>
          </a:p>
        </p:txBody>
      </p:sp>
      <p:sp>
        <p:nvSpPr>
          <p:cNvPr id="52" name="Text 18"/>
          <p:cNvSpPr/>
          <p:nvPr/>
        </p:nvSpPr>
        <p:spPr>
          <a:xfrm>
            <a:off x="6743700" y="3619500"/>
            <a:ext cx="46101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统一集成各类工具链，自动配置开发环境，支持多语言混合开发，提供统一调试界面。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6724650" y="4152900"/>
            <a:ext cx="39978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智能辅助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6724650" y="4419600"/>
            <a:ext cx="7627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AI驱动的代码补全，智能重构，实时错误分析，自动格式化与优化。</a:t>
            </a:r>
            <a:endParaRPr lang="en-US" sz="1050" dirty="0"/>
          </a:p>
        </p:txBody>
      </p:sp>
      <p:sp>
        <p:nvSpPr>
          <p:cNvPr id="55" name="Text 21"/>
          <p:cNvSpPr/>
          <p:nvPr/>
        </p:nvSpPr>
        <p:spPr>
          <a:xfrm>
            <a:off x="6591300" y="48863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autoide</a:t>
            </a:r>
            <a:endParaRPr lang="en-US" sz="1050" dirty="0"/>
          </a:p>
        </p:txBody>
      </p:sp>
      <p:sp>
        <p:nvSpPr>
          <p:cNvPr id="56" name="Text 22"/>
          <p:cNvSpPr/>
          <p:nvPr/>
        </p:nvSpPr>
        <p:spPr>
          <a:xfrm>
            <a:off x="7124700" y="48863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.</a:t>
            </a:r>
            <a:endParaRPr lang="en-US" sz="1050" dirty="0"/>
          </a:p>
        </p:txBody>
      </p:sp>
      <p:sp>
        <p:nvSpPr>
          <p:cNvPr id="57" name="Text 23"/>
          <p:cNvSpPr/>
          <p:nvPr/>
        </p:nvSpPr>
        <p:spPr>
          <a:xfrm>
            <a:off x="7277100" y="4886325"/>
            <a:ext cx="20802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--no-sandbox</a:t>
            </a:r>
            <a:endParaRPr lang="en-US" sz="1050" dirty="0"/>
          </a:p>
        </p:txBody>
      </p:sp>
      <p:sp>
        <p:nvSpPr>
          <p:cNvPr id="58" name="Text 24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59" name="Text 25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60" name="Text 26"/>
          <p:cNvSpPr/>
          <p:nvPr/>
        </p:nvSpPr>
        <p:spPr>
          <a:xfrm>
            <a:off x="1066800" y="6067425"/>
            <a:ext cx="8001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devop</a:t>
            </a:r>
            <a:endParaRPr lang="en-US" sz="1050" dirty="0"/>
          </a:p>
        </p:txBody>
      </p:sp>
      <p:sp>
        <p:nvSpPr>
          <p:cNvPr id="61" name="Text 27"/>
          <p:cNvSpPr/>
          <p:nvPr/>
        </p:nvSpPr>
        <p:spPr>
          <a:xfrm>
            <a:off x="14478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62" name="Text 28"/>
          <p:cNvSpPr/>
          <p:nvPr/>
        </p:nvSpPr>
        <p:spPr>
          <a:xfrm>
            <a:off x="1524000" y="6067425"/>
            <a:ext cx="8534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“auto-ide"</a:t>
            </a:r>
            <a:endParaRPr lang="en-US" sz="1050" dirty="0"/>
          </a:p>
        </p:txBody>
      </p:sp>
      <p:sp>
        <p:nvSpPr>
          <p:cNvPr id="63" name="Text 29"/>
          <p:cNvSpPr/>
          <p:nvPr/>
        </p:nvSpPr>
        <p:spPr>
          <a:xfrm>
            <a:off x="2301501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5B4E7-E0AB-19A8-D2A7-695C1620F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9EE734E-C9F8-5C45-1BFC-17DB7652F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F455F42-CBB9-5042-1DBB-6C2FD5D87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4B9E450-CA0D-2B54-CB6B-702CEBA9E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176E349-5B2C-4FCB-31A6-3F85A4BFF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70A678F9-D9F1-83EE-97B9-159B3F82B3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4E8D8462-FC1A-DF71-E148-80AD7DA772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57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CF8F2A99-29D9-C82F-A7DE-6A2589AACB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5433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90BBA133-0B5C-2176-C4B0-16B393E03A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9100" y="1371600"/>
            <a:ext cx="3543300" cy="1905000"/>
          </a:xfrm>
          <a:prstGeom prst="rect">
            <a:avLst/>
          </a:prstGeom>
          <a:solidFill>
            <a:srgbClr val="660066"/>
          </a:solidFill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4FA09CB0-57EB-6560-F60A-8FA53E84AD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16764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D568E825-BF14-EDAE-DB07-A7E340870C5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2427" y="1373762"/>
            <a:ext cx="3543300" cy="19050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5FB072F6-5AA3-383F-03DF-ECA1EE08F4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1704976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6B9BCBDE-E713-74A1-3719-76C24F2083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3619500"/>
            <a:ext cx="3543300" cy="21336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600418FE-7B45-9D2A-7948-4441F8DFE5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3848100"/>
            <a:ext cx="257175" cy="3429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EF8822F0-358C-5015-736C-B326D590B3B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9100" y="3619500"/>
            <a:ext cx="3543300" cy="21336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B1B2A458-3306-51BC-EA94-68004FBAA47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7700" y="384810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5BF91C89-B495-466F-B5BF-1B5F15E623B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E478CDAE-E9F7-0F64-F186-D08C0D34674E}"/>
              </a:ext>
            </a:extLst>
          </p:cNvPr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大纲概览</a:t>
            </a:r>
            <a:endParaRPr lang="en-US" sz="27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EE8B2DC1-B9E2-B34D-B4D1-E0213D731BE9}"/>
              </a:ext>
            </a:extLst>
          </p:cNvPr>
          <p:cNvGrpSpPr/>
          <p:nvPr/>
        </p:nvGrpSpPr>
        <p:grpSpPr>
          <a:xfrm>
            <a:off x="612009" y="2204357"/>
            <a:ext cx="518368" cy="381000"/>
            <a:chOff x="609600" y="1485900"/>
            <a:chExt cx="518368" cy="381000"/>
          </a:xfrm>
        </p:grpSpPr>
        <p:pic>
          <p:nvPicPr>
            <p:cNvPr id="7" name="Image 5" descr="preencoded.png">
              <a:extLst>
                <a:ext uri="{FF2B5EF4-FFF2-40B4-BE49-F238E27FC236}">
                  <a16:creationId xmlns:a16="http://schemas.microsoft.com/office/drawing/2014/main" id="{583FD0B0-428B-016D-FCE4-3950970E84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09600" y="1485900"/>
              <a:ext cx="381000" cy="381000"/>
            </a:xfrm>
            <a:prstGeom prst="rect">
              <a:avLst/>
            </a:prstGeom>
          </p:spPr>
        </p:pic>
        <p:sp>
          <p:nvSpPr>
            <p:cNvPr id="21" name="Text 1">
              <a:extLst>
                <a:ext uri="{FF2B5EF4-FFF2-40B4-BE49-F238E27FC236}">
                  <a16:creationId xmlns:a16="http://schemas.microsoft.com/office/drawing/2014/main" id="{20D1F2A1-691F-E993-5FFE-840C7807DEC1}"/>
                </a:ext>
              </a:extLst>
            </p:cNvPr>
            <p:cNvSpPr/>
            <p:nvPr/>
          </p:nvSpPr>
          <p:spPr>
            <a:xfrm>
              <a:off x="746968" y="1485900"/>
              <a:ext cx="3810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">
            <a:extLst>
              <a:ext uri="{FF2B5EF4-FFF2-40B4-BE49-F238E27FC236}">
                <a16:creationId xmlns:a16="http://schemas.microsoft.com/office/drawing/2014/main" id="{9E896366-E6E4-BF66-BFF4-F82B58359862}"/>
              </a:ext>
            </a:extLst>
          </p:cNvPr>
          <p:cNvSpPr/>
          <p:nvPr/>
        </p:nvSpPr>
        <p:spPr>
          <a:xfrm>
            <a:off x="1130377" y="222885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</a:t>
            </a:r>
            <a:r>
              <a:rPr lang="en-US" altLang="zh-CN" sz="1400" b="1" dirty="0">
                <a:solidFill>
                  <a:schemeClr val="bg1"/>
                </a:solidFill>
              </a:rPr>
              <a:t>×</a:t>
            </a: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 </a:t>
            </a:r>
            <a:endParaRPr lang="en-US" sz="1500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6BD9A817-6036-6D62-E0C8-A071497665CD}"/>
              </a:ext>
            </a:extLst>
          </p:cNvPr>
          <p:cNvGrpSpPr/>
          <p:nvPr/>
        </p:nvGrpSpPr>
        <p:grpSpPr>
          <a:xfrm>
            <a:off x="612009" y="1514476"/>
            <a:ext cx="518368" cy="381000"/>
            <a:chOff x="609600" y="2171700"/>
            <a:chExt cx="518368" cy="381000"/>
          </a:xfrm>
        </p:grpSpPr>
        <p:pic>
          <p:nvPicPr>
            <p:cNvPr id="8" name="Image 6" descr="preencoded.png">
              <a:extLst>
                <a:ext uri="{FF2B5EF4-FFF2-40B4-BE49-F238E27FC236}">
                  <a16:creationId xmlns:a16="http://schemas.microsoft.com/office/drawing/2014/main" id="{829367A6-3317-2234-D7A0-DA115ED90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09600" y="2171700"/>
              <a:ext cx="381000" cy="381000"/>
            </a:xfrm>
            <a:prstGeom prst="rect">
              <a:avLst/>
            </a:prstGeom>
          </p:spPr>
        </p:pic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BD7BA05A-321E-4A3F-6677-39A5D89D7E72}"/>
                </a:ext>
              </a:extLst>
            </p:cNvPr>
            <p:cNvSpPr/>
            <p:nvPr/>
          </p:nvSpPr>
          <p:spPr>
            <a:xfrm>
              <a:off x="746968" y="2171700"/>
              <a:ext cx="3810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24" name="Text 4">
            <a:extLst>
              <a:ext uri="{FF2B5EF4-FFF2-40B4-BE49-F238E27FC236}">
                <a16:creationId xmlns:a16="http://schemas.microsoft.com/office/drawing/2014/main" id="{46863E89-C5B1-0661-2B92-C25A3AA90F59}"/>
              </a:ext>
            </a:extLst>
          </p:cNvPr>
          <p:cNvSpPr/>
          <p:nvPr/>
        </p:nvSpPr>
        <p:spPr>
          <a:xfrm>
            <a:off x="1130377" y="1547813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79AA27D8-CC1E-94BE-84C8-561150DE63F1}"/>
              </a:ext>
            </a:extLst>
          </p:cNvPr>
          <p:cNvSpPr/>
          <p:nvPr/>
        </p:nvSpPr>
        <p:spPr>
          <a:xfrm>
            <a:off x="746968" y="28575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692C9989-A2FB-9858-E5E4-E4F530BCCDA2}"/>
              </a:ext>
            </a:extLst>
          </p:cNvPr>
          <p:cNvSpPr/>
          <p:nvPr/>
        </p:nvSpPr>
        <p:spPr>
          <a:xfrm>
            <a:off x="1143000" y="2914650"/>
            <a:ext cx="190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融合与突破</a:t>
            </a:r>
            <a:endParaRPr lang="en-US" sz="15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01F40298-DEBB-AF8D-EAB0-933E9323FC5A}"/>
              </a:ext>
            </a:extLst>
          </p:cNvPr>
          <p:cNvSpPr/>
          <p:nvPr/>
        </p:nvSpPr>
        <p:spPr>
          <a:xfrm>
            <a:off x="746968" y="35433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5752D19-C07A-1ADD-EDEB-7054D92D8FA2}"/>
              </a:ext>
            </a:extLst>
          </p:cNvPr>
          <p:cNvSpPr/>
          <p:nvPr/>
        </p:nvSpPr>
        <p:spPr>
          <a:xfrm>
            <a:off x="1143000" y="3600450"/>
            <a:ext cx="190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行业应用</a:t>
            </a:r>
            <a:r>
              <a:rPr lang="en-US" sz="1500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愿景</a:t>
            </a:r>
            <a:endParaRPr lang="en-US" sz="15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7B87C0BC-4032-DD51-1133-23912F29F112}"/>
              </a:ext>
            </a:extLst>
          </p:cNvPr>
          <p:cNvSpPr/>
          <p:nvPr/>
        </p:nvSpPr>
        <p:spPr>
          <a:xfrm>
            <a:off x="4495800" y="22098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00DA9030-BC4D-E546-EF82-50C03DB12B3F}"/>
              </a:ext>
            </a:extLst>
          </p:cNvPr>
          <p:cNvSpPr/>
          <p:nvPr/>
        </p:nvSpPr>
        <p:spPr>
          <a:xfrm>
            <a:off x="4495800" y="2552700"/>
            <a:ext cx="3086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把语言生态当作操作系统来开发，实现去年的愿景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0EE2DEC7-DE25-62AB-264F-F3012D8F262C}"/>
              </a:ext>
            </a:extLst>
          </p:cNvPr>
          <p:cNvSpPr/>
          <p:nvPr/>
        </p:nvSpPr>
        <p:spPr>
          <a:xfrm>
            <a:off x="8267700" y="22098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</a:t>
            </a:r>
            <a:r>
              <a:rPr lang="en-US" altLang="zh-CN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</a:t>
            </a: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语言与</a:t>
            </a:r>
            <a:r>
              <a:rPr lang="en-US" altLang="zh-CN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的关系</a:t>
            </a:r>
            <a:endParaRPr lang="en-US" sz="15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08C24A95-CE38-7CB9-238C-1CFB33C84229}"/>
              </a:ext>
            </a:extLst>
          </p:cNvPr>
          <p:cNvSpPr/>
          <p:nvPr/>
        </p:nvSpPr>
        <p:spPr>
          <a:xfrm>
            <a:off x="8267699" y="2552700"/>
            <a:ext cx="3174923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 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到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sz="12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4702C300-C5AB-BBC2-216F-58AFB152A97E}"/>
              </a:ext>
            </a:extLst>
          </p:cNvPr>
          <p:cNvSpPr/>
          <p:nvPr/>
        </p:nvSpPr>
        <p:spPr>
          <a:xfrm>
            <a:off x="4495800" y="43434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融合与突破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65D04772-E8D6-F09C-42E0-E3CE19F866BF}"/>
              </a:ext>
            </a:extLst>
          </p:cNvPr>
          <p:cNvSpPr/>
          <p:nvPr/>
        </p:nvSpPr>
        <p:spPr>
          <a:xfrm>
            <a:off x="4495800" y="468630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AI与OS的深度融合，打破不可能三角限制，实现开发效率、程序安全与运行性能的全面突破。</a:t>
            </a:r>
            <a:endParaRPr lang="en-US" sz="12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5F1F058D-C422-5F1D-6C68-66DD1303D5AF}"/>
              </a:ext>
            </a:extLst>
          </p:cNvPr>
          <p:cNvSpPr/>
          <p:nvPr/>
        </p:nvSpPr>
        <p:spPr>
          <a:xfrm>
            <a:off x="8267699" y="4343400"/>
            <a:ext cx="34507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行业应用</a:t>
            </a: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愿景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8222B3B4-D67D-57CF-39C9-78A4FE6E6C04}"/>
              </a:ext>
            </a:extLst>
          </p:cNvPr>
          <p:cNvSpPr/>
          <p:nvPr/>
        </p:nvSpPr>
        <p:spPr>
          <a:xfrm>
            <a:off x="8267700" y="468630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从单一OS到跨行业应用，Auto语言将扩展至汽车、机器人和通用应用开发</a:t>
            </a:r>
            <a:endParaRPr lang="en-US" sz="12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C27C1B92-117C-5EA2-07D2-7A718FEEAED4}"/>
              </a:ext>
            </a:extLst>
          </p:cNvPr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B0185F68-C72B-864B-2D71-01EE89FEA5DE}"/>
              </a:ext>
            </a:extLst>
          </p:cNvPr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FA20FA50-8CAF-B0E7-F515-536919DD0756}"/>
              </a:ext>
            </a:extLst>
          </p:cNvPr>
          <p:cNvSpPr/>
          <p:nvPr/>
        </p:nvSpPr>
        <p:spPr>
          <a:xfrm>
            <a:off x="10668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outline</a:t>
            </a:r>
            <a:endParaRPr lang="en-US" sz="105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49BC3445-5EF8-4780-AF09-EF48C704465A}"/>
              </a:ext>
            </a:extLst>
          </p:cNvPr>
          <p:cNvSpPr/>
          <p:nvPr/>
        </p:nvSpPr>
        <p:spPr>
          <a:xfrm>
            <a:off x="16002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1506AD04-024E-CE1C-3151-73A0A3C73AE0}"/>
              </a:ext>
            </a:extLst>
          </p:cNvPr>
          <p:cNvSpPr/>
          <p:nvPr/>
        </p:nvSpPr>
        <p:spPr>
          <a:xfrm>
            <a:off x="1676400" y="6067425"/>
            <a:ext cx="13868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"2026"</a:t>
            </a:r>
            <a:endParaRPr lang="en-US" sz="105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FB2AAF46-C96E-6599-65C6-D4E5144F8772}"/>
              </a:ext>
            </a:extLst>
          </p:cNvPr>
          <p:cNvSpPr/>
          <p:nvPr/>
        </p:nvSpPr>
        <p:spPr>
          <a:xfrm>
            <a:off x="21336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0C9560F-B333-4EF6-A126-F549663A16DB}"/>
              </a:ext>
            </a:extLst>
          </p:cNvPr>
          <p:cNvSpPr txBox="1"/>
          <p:nvPr/>
        </p:nvSpPr>
        <p:spPr>
          <a:xfrm>
            <a:off x="4798018" y="3820597"/>
            <a:ext cx="655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+ OS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2141326-20C3-BAB3-B2E3-7B631BA702C7}"/>
              </a:ext>
            </a:extLst>
          </p:cNvPr>
          <p:cNvSpPr txBox="1"/>
          <p:nvPr/>
        </p:nvSpPr>
        <p:spPr>
          <a:xfrm>
            <a:off x="8696325" y="3851001"/>
            <a:ext cx="6555782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400" b="1" dirty="0">
                <a:solidFill>
                  <a:srgbClr val="22C5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Once, Run Anywhere</a:t>
            </a:r>
            <a:endParaRPr lang="en-US" altLang="zh-CN" sz="1400" dirty="0">
              <a:solidFill>
                <a:srgbClr val="22C55E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F8D3288-1F62-FE64-691F-E660A3D8D958}"/>
              </a:ext>
            </a:extLst>
          </p:cNvPr>
          <p:cNvSpPr txBox="1"/>
          <p:nvPr/>
        </p:nvSpPr>
        <p:spPr>
          <a:xfrm>
            <a:off x="4873087" y="1692729"/>
            <a:ext cx="764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LaOS</a:t>
            </a:r>
            <a:endParaRPr lang="zh-CN" altLang="en-US" dirty="0">
              <a:solidFill>
                <a:srgbClr val="60A5FA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01B5634-447E-99BA-3455-F0622B71CF9A}"/>
              </a:ext>
            </a:extLst>
          </p:cNvPr>
          <p:cNvSpPr txBox="1"/>
          <p:nvPr/>
        </p:nvSpPr>
        <p:spPr>
          <a:xfrm>
            <a:off x="8610600" y="1664734"/>
            <a:ext cx="764647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800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</a:t>
            </a:r>
            <a:r>
              <a:rPr lang="en-US" altLang="zh-CN" sz="1600" b="1" dirty="0">
                <a:solidFill>
                  <a:srgbClr val="EC4899"/>
                </a:solidFill>
              </a:rPr>
              <a:t>×</a:t>
            </a:r>
            <a:r>
              <a:rPr lang="en-US" altLang="zh-CN" sz="1800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</a:t>
            </a:r>
            <a:endParaRPr lang="en-US" altLang="zh-CN" sz="1800" dirty="0">
              <a:solidFill>
                <a:srgbClr val="EC48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154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2857500"/>
            <a:ext cx="2857500" cy="19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001" y="2862263"/>
            <a:ext cx="1254748" cy="215423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501" y="717551"/>
            <a:ext cx="1254748" cy="215423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0" y="28575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0" y="28575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0" y="4953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0" y="495300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14859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371850"/>
            <a:ext cx="3352800" cy="1981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3600450"/>
            <a:ext cx="42862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3371850"/>
            <a:ext cx="3352800" cy="1981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8200" y="360045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7200" y="3371850"/>
            <a:ext cx="3352800" cy="1981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360045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609600" y="10287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Outline – Auto: AI 三位一体</a:t>
            </a:r>
            <a:endParaRPr lang="en-US" sz="2700" dirty="0"/>
          </a:p>
        </p:txBody>
      </p:sp>
      <p:sp>
        <p:nvSpPr>
          <p:cNvPr id="24" name="Text 2"/>
          <p:cNvSpPr/>
          <p:nvPr/>
        </p:nvSpPr>
        <p:spPr>
          <a:xfrm>
            <a:off x="990600" y="40957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由AI主导开发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9906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基于100亿Tokens的AI算力，两个月内完成传统需要数年的开发工作，由AI主导语言设计与实现。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4648200" y="4095750"/>
            <a:ext cx="312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为AI代码生成优化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46482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专为AI生成设计的语法，双模式错误信息，注解式契约编程，让AI更容易理解和生成代码。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8305800" y="40957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由AI代码构成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83058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语言本身由AI代码构成，AI可以直接理解和修改Auto代码，实现"一次生成，处处使用"的愿景。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10668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12192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12954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"triad"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18288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55F12FC-4A4B-7292-3455-9CEA26C98F60}"/>
              </a:ext>
            </a:extLst>
          </p:cNvPr>
          <p:cNvSpPr txBox="1"/>
          <p:nvPr/>
        </p:nvSpPr>
        <p:spPr>
          <a:xfrm>
            <a:off x="887270" y="3651529"/>
            <a:ext cx="2737757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zh-CN" sz="18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</a:t>
            </a:r>
            <a:endParaRPr lang="en-US" altLang="zh-CN" sz="18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5135CAD2-32BF-0A77-914D-408EA58260F8}"/>
              </a:ext>
            </a:extLst>
          </p:cNvPr>
          <p:cNvSpPr/>
          <p:nvPr/>
        </p:nvSpPr>
        <p:spPr>
          <a:xfrm>
            <a:off x="8477250" y="365760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</a:rPr>
              <a:t>Made OF AI</a:t>
            </a: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B7B3997D-5858-F720-B784-AB6EFF3C746E}"/>
              </a:ext>
            </a:extLst>
          </p:cNvPr>
          <p:cNvSpPr/>
          <p:nvPr/>
        </p:nvSpPr>
        <p:spPr>
          <a:xfrm>
            <a:off x="4901336" y="3656972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dirty="0">
                <a:solidFill>
                  <a:srgbClr val="F9A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1D83CC0-3B3E-5184-D2E9-01E337339D37}"/>
              </a:ext>
            </a:extLst>
          </p:cNvPr>
          <p:cNvGrpSpPr/>
          <p:nvPr/>
        </p:nvGrpSpPr>
        <p:grpSpPr>
          <a:xfrm>
            <a:off x="5568812" y="1631951"/>
            <a:ext cx="1054376" cy="1085935"/>
            <a:chOff x="5418879" y="1488666"/>
            <a:chExt cx="1350497" cy="1350497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8D51930A-1992-6BB9-D757-410745F62064}"/>
                </a:ext>
              </a:extLst>
            </p:cNvPr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C2BC87EC-3092-CD69-3DF5-26E9DB19B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35113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333500"/>
            <a:ext cx="443865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571625"/>
            <a:ext cx="2476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743200"/>
            <a:ext cx="4438650" cy="1257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981325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4152900"/>
            <a:ext cx="4438650" cy="1543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391025"/>
            <a:ext cx="361950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76850" y="1381125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76850" y="1790700"/>
            <a:ext cx="3076575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1150" y="1933575"/>
            <a:ext cx="257175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05825" y="1790700"/>
            <a:ext cx="3076575" cy="800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20125" y="1933575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76850" y="2743200"/>
            <a:ext cx="6305550" cy="1828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9250" y="2952750"/>
            <a:ext cx="152400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29250" y="3505200"/>
            <a:ext cx="5400675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29250" y="3924300"/>
            <a:ext cx="4800600" cy="76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29250" y="4343400"/>
            <a:ext cx="5700713" cy="76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609600"/>
            <a:ext cx="1467612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Progress - Made BY AI </a:t>
            </a:r>
            <a:r>
              <a:rPr lang="en-US" sz="2700" b="1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（两个月开发奇迹）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1162050" y="1485900"/>
            <a:ext cx="1981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开发周期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162050" y="1752600"/>
            <a:ext cx="3962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两个月完成传统需数年的工作</a:t>
            </a:r>
            <a:endParaRPr lang="en-US" sz="1200" dirty="0"/>
          </a:p>
        </p:txBody>
      </p:sp>
      <p:sp>
        <p:nvSpPr>
          <p:cNvPr id="27" name="Text 3"/>
          <p:cNvSpPr/>
          <p:nvPr/>
        </p:nvSpPr>
        <p:spPr>
          <a:xfrm>
            <a:off x="3992687" y="2050942"/>
            <a:ext cx="1032639" cy="5238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6000" dirty="0"/>
          </a:p>
        </p:txBody>
      </p:sp>
      <p:sp>
        <p:nvSpPr>
          <p:cNvPr id="28" name="Text 4"/>
          <p:cNvSpPr/>
          <p:nvPr/>
        </p:nvSpPr>
        <p:spPr>
          <a:xfrm>
            <a:off x="4514850" y="2114550"/>
            <a:ext cx="76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个月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1200150" y="2895600"/>
            <a:ext cx="1219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AI算力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1200150" y="3162300"/>
            <a:ext cx="231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智谱AI MAX套餐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2838450" y="3467100"/>
            <a:ext cx="2057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100</a:t>
            </a:r>
            <a:endParaRPr lang="en-US" sz="5400" dirty="0"/>
          </a:p>
        </p:txBody>
      </p:sp>
      <p:sp>
        <p:nvSpPr>
          <p:cNvPr id="32" name="Text 8"/>
          <p:cNvSpPr/>
          <p:nvPr/>
        </p:nvSpPr>
        <p:spPr>
          <a:xfrm>
            <a:off x="4476750" y="3505200"/>
            <a:ext cx="1981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tokens</a:t>
            </a:r>
            <a:endParaRPr lang="en-US" sz="1500" dirty="0"/>
          </a:p>
        </p:txBody>
      </p:sp>
      <p:sp>
        <p:nvSpPr>
          <p:cNvPr id="33" name="Text 9"/>
          <p:cNvSpPr/>
          <p:nvPr/>
        </p:nvSpPr>
        <p:spPr>
          <a:xfrm>
            <a:off x="1276350" y="4305300"/>
            <a:ext cx="152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代码产出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1276350" y="4572000"/>
            <a:ext cx="2865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高质量Rust代码实现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3266580" y="4484580"/>
            <a:ext cx="1080629" cy="4350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1300+</a:t>
            </a:r>
            <a:endParaRPr lang="en-US" sz="3200" dirty="0"/>
          </a:p>
        </p:txBody>
      </p:sp>
      <p:sp>
        <p:nvSpPr>
          <p:cNvPr id="37" name="Text 13"/>
          <p:cNvSpPr/>
          <p:nvPr/>
        </p:nvSpPr>
        <p:spPr>
          <a:xfrm>
            <a:off x="4383562" y="5176597"/>
            <a:ext cx="1219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行Rust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3482744" y="5148209"/>
            <a:ext cx="596018" cy="423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</a:t>
            </a:r>
            <a:endParaRPr lang="en-US" sz="3600" dirty="0"/>
          </a:p>
        </p:txBody>
      </p:sp>
      <p:sp>
        <p:nvSpPr>
          <p:cNvPr id="39" name="Text 15"/>
          <p:cNvSpPr/>
          <p:nvPr/>
        </p:nvSpPr>
        <p:spPr>
          <a:xfrm>
            <a:off x="5581650" y="1333500"/>
            <a:ext cx="63055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交付成果</a:t>
            </a:r>
            <a:endParaRPr lang="en-US" sz="1800" dirty="0"/>
          </a:p>
        </p:txBody>
      </p:sp>
      <p:sp>
        <p:nvSpPr>
          <p:cNvPr id="40" name="Text 16"/>
          <p:cNvSpPr/>
          <p:nvPr/>
        </p:nvSpPr>
        <p:spPr>
          <a:xfrm>
            <a:off x="5762625" y="1924050"/>
            <a:ext cx="1714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1个解释器</a:t>
            </a:r>
            <a:endParaRPr lang="en-US" sz="1350" dirty="0"/>
          </a:p>
        </p:txBody>
      </p:sp>
      <p:sp>
        <p:nvSpPr>
          <p:cNvPr id="41" name="Text 17"/>
          <p:cNvSpPr/>
          <p:nvPr/>
        </p:nvSpPr>
        <p:spPr>
          <a:xfrm>
            <a:off x="5391150" y="2247900"/>
            <a:ext cx="3779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完整实现Auto语言核心功能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8963025" y="1924050"/>
            <a:ext cx="1714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6个转译器</a:t>
            </a:r>
            <a:endParaRPr lang="en-US" sz="1350" dirty="0"/>
          </a:p>
        </p:txBody>
      </p:sp>
      <p:sp>
        <p:nvSpPr>
          <p:cNvPr id="43" name="Text 19"/>
          <p:cNvSpPr/>
          <p:nvPr/>
        </p:nvSpPr>
        <p:spPr>
          <a:xfrm>
            <a:off x="8620125" y="2118261"/>
            <a:ext cx="2875743" cy="4572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a2c, a2rs, a2ts, a2py, a2jet, a2ark</a:t>
            </a:r>
            <a:endParaRPr lang="en-US" sz="1200" dirty="0"/>
          </a:p>
        </p:txBody>
      </p:sp>
      <p:sp>
        <p:nvSpPr>
          <p:cNvPr id="44" name="Text 20"/>
          <p:cNvSpPr/>
          <p:nvPr/>
        </p:nvSpPr>
        <p:spPr>
          <a:xfrm>
            <a:off x="5657850" y="2895600"/>
            <a:ext cx="6000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</a:t>
            </a:r>
            <a:r>
              <a:rPr lang="zh-CN" alt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特性</a:t>
            </a:r>
            <a:r>
              <a:rPr lang="en-US" sz="135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实现</a:t>
            </a:r>
            <a:endParaRPr lang="en-US" sz="1350" dirty="0"/>
          </a:p>
        </p:txBody>
      </p:sp>
      <p:sp>
        <p:nvSpPr>
          <p:cNvPr id="45" name="Text 21"/>
          <p:cNvSpPr/>
          <p:nvPr/>
        </p:nvSpPr>
        <p:spPr>
          <a:xfrm>
            <a:off x="5429250" y="3238500"/>
            <a:ext cx="2621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a2c (C语言支持)</a:t>
            </a:r>
            <a:endParaRPr lang="en-US" sz="1200" dirty="0"/>
          </a:p>
        </p:txBody>
      </p:sp>
      <p:sp>
        <p:nvSpPr>
          <p:cNvPr id="46" name="Text 22"/>
          <p:cNvSpPr/>
          <p:nvPr/>
        </p:nvSpPr>
        <p:spPr>
          <a:xfrm>
            <a:off x="11065222" y="3238500"/>
            <a:ext cx="792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90%</a:t>
            </a:r>
            <a:endParaRPr lang="en-US" sz="1200" dirty="0"/>
          </a:p>
        </p:txBody>
      </p:sp>
      <p:sp>
        <p:nvSpPr>
          <p:cNvPr id="47" name="Text 23"/>
          <p:cNvSpPr/>
          <p:nvPr/>
        </p:nvSpPr>
        <p:spPr>
          <a:xfrm>
            <a:off x="5429250" y="3657600"/>
            <a:ext cx="3352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a2rs (Rust语言支持)</a:t>
            </a:r>
            <a:endParaRPr lang="en-US" sz="1200" dirty="0"/>
          </a:p>
        </p:txBody>
      </p:sp>
      <p:sp>
        <p:nvSpPr>
          <p:cNvPr id="48" name="Text 24"/>
          <p:cNvSpPr/>
          <p:nvPr/>
        </p:nvSpPr>
        <p:spPr>
          <a:xfrm>
            <a:off x="11065222" y="3657600"/>
            <a:ext cx="792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80%</a:t>
            </a:r>
            <a:endParaRPr lang="en-US" sz="1200" dirty="0"/>
          </a:p>
        </p:txBody>
      </p:sp>
      <p:sp>
        <p:nvSpPr>
          <p:cNvPr id="49" name="Text 25"/>
          <p:cNvSpPr/>
          <p:nvPr/>
        </p:nvSpPr>
        <p:spPr>
          <a:xfrm>
            <a:off x="5429250" y="4076700"/>
            <a:ext cx="19507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Auto语法实现</a:t>
            </a:r>
            <a:endParaRPr lang="en-US" sz="1200" dirty="0"/>
          </a:p>
        </p:txBody>
      </p:sp>
      <p:sp>
        <p:nvSpPr>
          <p:cNvPr id="50" name="Text 26"/>
          <p:cNvSpPr/>
          <p:nvPr/>
        </p:nvSpPr>
        <p:spPr>
          <a:xfrm>
            <a:off x="11065222" y="4076700"/>
            <a:ext cx="792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95%</a:t>
            </a:r>
            <a:endParaRPr lang="en-US" sz="1200" dirty="0"/>
          </a:p>
        </p:txBody>
      </p:sp>
      <p:sp>
        <p:nvSpPr>
          <p:cNvPr id="51" name="Text 2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52" name="Text 2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53" name="Text 29"/>
          <p:cNvSpPr/>
          <p:nvPr/>
        </p:nvSpPr>
        <p:spPr>
          <a:xfrm>
            <a:off x="1066800" y="6067425"/>
            <a:ext cx="8001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build</a:t>
            </a:r>
            <a:endParaRPr lang="en-US" sz="1050" dirty="0"/>
          </a:p>
        </p:txBody>
      </p:sp>
      <p:sp>
        <p:nvSpPr>
          <p:cNvPr id="54" name="Text 30"/>
          <p:cNvSpPr/>
          <p:nvPr/>
        </p:nvSpPr>
        <p:spPr>
          <a:xfrm>
            <a:off x="14478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55" name="Text 31"/>
          <p:cNvSpPr/>
          <p:nvPr/>
        </p:nvSpPr>
        <p:spPr>
          <a:xfrm>
            <a:off x="1524000" y="6067425"/>
            <a:ext cx="17602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 </a:t>
            </a:r>
            <a:r>
              <a:rPr lang="en-US" altLang="zh-CN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 </a:t>
            </a: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miracle "</a:t>
            </a:r>
            <a:endParaRPr lang="en-US" sz="1050" dirty="0"/>
          </a:p>
        </p:txBody>
      </p:sp>
      <p:sp>
        <p:nvSpPr>
          <p:cNvPr id="56" name="Text 32"/>
          <p:cNvSpPr/>
          <p:nvPr/>
        </p:nvSpPr>
        <p:spPr>
          <a:xfrm>
            <a:off x="2621280" y="6059837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DAFF3949-5942-D956-8385-BB1CA05658D3}"/>
              </a:ext>
            </a:extLst>
          </p:cNvPr>
          <p:cNvSpPr/>
          <p:nvPr/>
        </p:nvSpPr>
        <p:spPr>
          <a:xfrm>
            <a:off x="3928604" y="3417128"/>
            <a:ext cx="70269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亿</a:t>
            </a:r>
            <a:endParaRPr lang="en-US" sz="4000" dirty="0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45B2EA16-5D7D-9008-823B-A103CD477A9F}"/>
              </a:ext>
            </a:extLst>
          </p:cNvPr>
          <p:cNvSpPr/>
          <p:nvPr/>
        </p:nvSpPr>
        <p:spPr>
          <a:xfrm>
            <a:off x="4370070" y="4524375"/>
            <a:ext cx="1981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commits</a:t>
            </a:r>
            <a:endParaRPr lang="en-US" sz="1500" dirty="0"/>
          </a:p>
        </p:txBody>
      </p:sp>
      <p:sp>
        <p:nvSpPr>
          <p:cNvPr id="61" name="Text 7">
            <a:extLst>
              <a:ext uri="{FF2B5EF4-FFF2-40B4-BE49-F238E27FC236}">
                <a16:creationId xmlns:a16="http://schemas.microsoft.com/office/drawing/2014/main" id="{884F755F-7C4C-A752-01B9-17E16A086A2C}"/>
              </a:ext>
            </a:extLst>
          </p:cNvPr>
          <p:cNvSpPr/>
          <p:nvPr/>
        </p:nvSpPr>
        <p:spPr>
          <a:xfrm>
            <a:off x="3975735" y="5100397"/>
            <a:ext cx="70269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万</a:t>
            </a:r>
            <a:endParaRPr lang="en-US" sz="4000" dirty="0"/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808A04A-2A35-218B-61AD-CD056082F38E}"/>
              </a:ext>
            </a:extLst>
          </p:cNvPr>
          <p:cNvGrpSpPr/>
          <p:nvPr/>
        </p:nvGrpSpPr>
        <p:grpSpPr>
          <a:xfrm>
            <a:off x="5276850" y="4887861"/>
            <a:ext cx="6305550" cy="813822"/>
            <a:chOff x="5276850" y="4920228"/>
            <a:chExt cx="6305550" cy="813822"/>
          </a:xfrm>
        </p:grpSpPr>
        <p:pic>
          <p:nvPicPr>
            <p:cNvPr id="57" name="Image 14" descr="preencoded.png">
              <a:extLst>
                <a:ext uri="{FF2B5EF4-FFF2-40B4-BE49-F238E27FC236}">
                  <a16:creationId xmlns:a16="http://schemas.microsoft.com/office/drawing/2014/main" id="{96EC05FC-A3E0-FBB5-F98C-12BF38508B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276850" y="4933950"/>
              <a:ext cx="6305550" cy="800100"/>
            </a:xfrm>
            <a:prstGeom prst="rect">
              <a:avLst/>
            </a:prstGeom>
          </p:spPr>
        </p:pic>
        <p:pic>
          <p:nvPicPr>
            <p:cNvPr id="58" name="Image 15" descr="preencoded.png">
              <a:extLst>
                <a:ext uri="{FF2B5EF4-FFF2-40B4-BE49-F238E27FC236}">
                  <a16:creationId xmlns:a16="http://schemas.microsoft.com/office/drawing/2014/main" id="{25F04DFF-2AFB-12F0-9470-440823403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429250" y="4958652"/>
              <a:ext cx="228600" cy="228600"/>
            </a:xfrm>
            <a:prstGeom prst="rect">
              <a:avLst/>
            </a:prstGeom>
          </p:spPr>
        </p:pic>
        <p:sp>
          <p:nvSpPr>
            <p:cNvPr id="62" name="Text 18">
              <a:extLst>
                <a:ext uri="{FF2B5EF4-FFF2-40B4-BE49-F238E27FC236}">
                  <a16:creationId xmlns:a16="http://schemas.microsoft.com/office/drawing/2014/main" id="{DB334DFF-B5AB-180C-DD40-9C2A234A0350}"/>
                </a:ext>
              </a:extLst>
            </p:cNvPr>
            <p:cNvSpPr/>
            <p:nvPr/>
          </p:nvSpPr>
          <p:spPr>
            <a:xfrm>
              <a:off x="5762625" y="4920228"/>
              <a:ext cx="17145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4个</a:t>
              </a:r>
              <a:r>
                <a:rPr lang="zh-CN" altLang="en-US" sz="1350" b="1" dirty="0">
                  <a:solidFill>
                    <a:srgbClr val="FFFFFF"/>
                  </a:solidFill>
                  <a:latin typeface="Noto Sans SC" pitchFamily="34" charset="0"/>
                  <a:ea typeface="Noto Sans SC" pitchFamily="34" charset="-122"/>
                  <a:cs typeface="Noto Sans SC" pitchFamily="34" charset="-120"/>
                </a:rPr>
                <a:t>生态工具</a:t>
              </a:r>
              <a:endParaRPr lang="en-US" sz="1350" dirty="0"/>
            </a:p>
          </p:txBody>
        </p:sp>
        <p:sp>
          <p:nvSpPr>
            <p:cNvPr id="63" name="Text 19">
              <a:extLst>
                <a:ext uri="{FF2B5EF4-FFF2-40B4-BE49-F238E27FC236}">
                  <a16:creationId xmlns:a16="http://schemas.microsoft.com/office/drawing/2014/main" id="{86430795-D6B5-C1F9-399A-29E3972796A0}"/>
                </a:ext>
              </a:extLst>
            </p:cNvPr>
            <p:cNvSpPr/>
            <p:nvPr/>
          </p:nvSpPr>
          <p:spPr>
            <a:xfrm>
              <a:off x="5429250" y="5210334"/>
              <a:ext cx="5400675" cy="457201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altLang="zh-CN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UI</a:t>
              </a:r>
              <a:r>
                <a:rPr lang="zh-CN" alt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（</a:t>
              </a:r>
              <a:r>
                <a:rPr lang="en-US" sz="1200" dirty="0">
                  <a:solidFill>
                    <a:schemeClr val="accent4"/>
                  </a:solidFill>
                  <a:latin typeface="ui-sans-serif" pitchFamily="34" charset="0"/>
                  <a:ea typeface="ui-sans-serif" pitchFamily="34" charset="-122"/>
                </a:rPr>
                <a:t>AURA</a:t>
              </a:r>
              <a:r>
                <a:rPr lang="zh-CN" alt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），</a:t>
              </a:r>
              <a:r>
                <a:rPr lang="en-US" altLang="zh-CN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Shell</a:t>
              </a:r>
              <a:r>
                <a:rPr lang="zh-CN" alt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（</a:t>
              </a:r>
              <a:r>
                <a:rPr lang="en-US" altLang="zh-CN" sz="1200" dirty="0">
                  <a:solidFill>
                    <a:schemeClr val="accent1"/>
                  </a:solidFill>
                  <a:latin typeface="ui-sans-serif" pitchFamily="34" charset="0"/>
                  <a:ea typeface="ui-sans-serif" pitchFamily="34" charset="-122"/>
                </a:rPr>
                <a:t>ASH</a:t>
              </a:r>
              <a:r>
                <a:rPr lang="zh-CN" alt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），</a:t>
              </a:r>
              <a:r>
                <a:rPr lang="en-US" altLang="zh-CN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Builder</a:t>
              </a:r>
              <a:r>
                <a:rPr lang="zh-CN" alt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（</a:t>
              </a:r>
              <a:r>
                <a:rPr lang="en-US" altLang="zh-CN" sz="1200" dirty="0" err="1">
                  <a:solidFill>
                    <a:schemeClr val="accent2"/>
                  </a:solidFill>
                  <a:latin typeface="ui-sans-serif" pitchFamily="34" charset="0"/>
                  <a:ea typeface="ui-sans-serif" pitchFamily="34" charset="-122"/>
                </a:rPr>
                <a:t>AutoMan</a:t>
              </a:r>
              <a:r>
                <a:rPr lang="zh-CN" alt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），</a:t>
              </a:r>
              <a:r>
                <a:rPr lang="en-US" altLang="zh-CN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Doc</a:t>
              </a:r>
              <a:r>
                <a:rPr lang="zh-CN" alt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（</a:t>
              </a:r>
              <a:r>
                <a:rPr lang="en-US" altLang="zh-CN" sz="1200" dirty="0" err="1">
                  <a:solidFill>
                    <a:schemeClr val="accent6"/>
                  </a:solidFill>
                  <a:latin typeface="ui-sans-serif" pitchFamily="34" charset="0"/>
                  <a:ea typeface="ui-sans-serif" pitchFamily="34" charset="-122"/>
                </a:rPr>
                <a:t>AutoDown</a:t>
              </a:r>
              <a:r>
                <a:rPr lang="en-US" altLang="zh-CN" sz="1200" dirty="0">
                  <a:solidFill>
                    <a:schemeClr val="bg1"/>
                  </a:solidFill>
                  <a:latin typeface="ui-sans-serif" pitchFamily="34" charset="0"/>
                  <a:ea typeface="ui-sans-serif" pitchFamily="34" charset="-122"/>
                </a:rPr>
                <a:t>/</a:t>
              </a:r>
              <a:r>
                <a:rPr lang="en-US" altLang="zh-CN" sz="1200" dirty="0" err="1">
                  <a:solidFill>
                    <a:srgbClr val="EC4899"/>
                  </a:solidFill>
                  <a:latin typeface="ui-sans-serif" pitchFamily="34" charset="0"/>
                  <a:ea typeface="ui-sans-serif" pitchFamily="34" charset="-122"/>
                </a:rPr>
                <a:t>AutoGen</a:t>
              </a:r>
              <a:r>
                <a:rPr lang="zh-CN" alt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</a:rPr>
                <a:t>）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74497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9449-F695-53CB-9809-79B738DD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09C3C71-04F2-CCED-08DD-083BA710F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398E727-1107-3F79-9A4D-474ED49A9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80485669-C8CE-7603-B2AC-996611DC4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D53026E6-4E6E-2721-CC8D-216B5C7EE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2857500"/>
            <a:ext cx="2857500" cy="1905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58AB1BB5-4A3B-6EED-81F5-C5CBA795A5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001" y="2862263"/>
            <a:ext cx="1254748" cy="2154237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DDC0B728-4488-8634-09FF-C77D9F2A2D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501" y="717551"/>
            <a:ext cx="1254748" cy="2154237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439EDB25-BAC1-1796-B6C6-E62D793B7C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0" y="28575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161664D1-AF04-C36B-6E50-8932958F7B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0" y="28575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A2501E24-211E-DF22-93E0-1EC049E84D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0" y="4953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69DE3D01-A699-4948-5ECC-937C5572A7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0" y="495300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6882FF81-E667-AA44-3DB3-7E55B4AC4B4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14859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61BADE67-B3CD-5C78-70F3-9C5B3C9F58D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371850"/>
            <a:ext cx="3352800" cy="19812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64CD367E-D440-ECE6-B15D-579BEAF6E9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3600450"/>
            <a:ext cx="428625" cy="3429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3FFDB6C8-D7DE-D7F8-BD50-C4A85B9B56F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3371850"/>
            <a:ext cx="3352800" cy="1981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glow rad="101600">
              <a:srgbClr val="EC4899">
                <a:alpha val="60000"/>
              </a:srgbClr>
            </a:glow>
          </a:effectLst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726E95D2-98BD-7AD7-F89A-356D312D991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8200" y="360045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24C2D060-8041-1860-1D1F-7AAEAD0CD5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7200" y="3371850"/>
            <a:ext cx="3352800" cy="19812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55CF9E9F-2E16-77E3-5EF9-E1522376D6E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360045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E3E64CD2-14C0-2596-7630-D6AA601FCC1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D9F7D91D-013A-2F03-3410-FB47339AADA4}"/>
              </a:ext>
            </a:extLst>
          </p:cNvPr>
          <p:cNvSpPr/>
          <p:nvPr/>
        </p:nvSpPr>
        <p:spPr>
          <a:xfrm>
            <a:off x="609600" y="10287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Outline – Auto: AI 三位一体</a:t>
            </a:r>
            <a:endParaRPr lang="en-US" sz="27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EB91A9F9-1368-7B50-6957-6F6EFAB8514F}"/>
              </a:ext>
            </a:extLst>
          </p:cNvPr>
          <p:cNvSpPr/>
          <p:nvPr/>
        </p:nvSpPr>
        <p:spPr>
          <a:xfrm>
            <a:off x="990600" y="40957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由AI主导开发</a:t>
            </a:r>
            <a:endParaRPr lang="en-US" sz="15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A801EF05-2D8F-2B51-8326-66AFA08431D9}"/>
              </a:ext>
            </a:extLst>
          </p:cNvPr>
          <p:cNvSpPr/>
          <p:nvPr/>
        </p:nvSpPr>
        <p:spPr>
          <a:xfrm>
            <a:off x="9906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基于100亿Tokens的AI算力，两个月内完成传统需要数年的开发工作，由AI主导语言设计与实现。</a:t>
            </a:r>
            <a:endParaRPr lang="en-US" sz="12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AD829DE0-E25B-F97F-F3AF-1C953BC64F5F}"/>
              </a:ext>
            </a:extLst>
          </p:cNvPr>
          <p:cNvSpPr/>
          <p:nvPr/>
        </p:nvSpPr>
        <p:spPr>
          <a:xfrm>
            <a:off x="4648200" y="4095750"/>
            <a:ext cx="312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为AI代码生成优化</a:t>
            </a:r>
            <a:endParaRPr lang="en-US" sz="15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E7BFAB06-C56A-8318-9524-BA34CADD9AB0}"/>
              </a:ext>
            </a:extLst>
          </p:cNvPr>
          <p:cNvSpPr/>
          <p:nvPr/>
        </p:nvSpPr>
        <p:spPr>
          <a:xfrm>
            <a:off x="46482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专为AI生成设计的语法，双模式错误信息，注解式契约编程，让AI更容易理解和生成代码。</a:t>
            </a:r>
            <a:endParaRPr lang="en-US" sz="12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D55DA835-3789-220E-188D-5B412304BF04}"/>
              </a:ext>
            </a:extLst>
          </p:cNvPr>
          <p:cNvSpPr/>
          <p:nvPr/>
        </p:nvSpPr>
        <p:spPr>
          <a:xfrm>
            <a:off x="8305800" y="40957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由AI代码构成</a:t>
            </a:r>
            <a:endParaRPr lang="en-US" sz="15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BEAD32C2-6A67-26C8-F21F-F941C33C3328}"/>
              </a:ext>
            </a:extLst>
          </p:cNvPr>
          <p:cNvSpPr/>
          <p:nvPr/>
        </p:nvSpPr>
        <p:spPr>
          <a:xfrm>
            <a:off x="83058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语言本身由AI代码构成，AI可以直接理解和修改Auto代码，实现"一次生成，处处使用"的愿景。</a:t>
            </a:r>
            <a:endParaRPr lang="en-US" sz="12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FFF57045-65D1-9095-3146-4DF5DAF9C87B}"/>
              </a:ext>
            </a:extLst>
          </p:cNvPr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898D6014-F0B0-F65F-7D01-C7D5ECB5F30F}"/>
              </a:ext>
            </a:extLst>
          </p:cNvPr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F8FA7534-CA1F-84F5-5B91-A5793070EB29}"/>
              </a:ext>
            </a:extLst>
          </p:cNvPr>
          <p:cNvSpPr/>
          <p:nvPr/>
        </p:nvSpPr>
        <p:spPr>
          <a:xfrm>
            <a:off x="10668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</a:t>
            </a:r>
            <a:endParaRPr lang="en-US" sz="10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D13B733E-1DE9-FF18-3270-17C7489E9D5A}"/>
              </a:ext>
            </a:extLst>
          </p:cNvPr>
          <p:cNvSpPr/>
          <p:nvPr/>
        </p:nvSpPr>
        <p:spPr>
          <a:xfrm>
            <a:off x="12192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37FFD64-534E-14F0-CF90-F7A50D47F2A1}"/>
              </a:ext>
            </a:extLst>
          </p:cNvPr>
          <p:cNvSpPr/>
          <p:nvPr/>
        </p:nvSpPr>
        <p:spPr>
          <a:xfrm>
            <a:off x="12954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"triad"</a:t>
            </a:r>
            <a:endParaRPr lang="en-US" sz="10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FABEB00B-E802-422B-66D9-08D75944E054}"/>
              </a:ext>
            </a:extLst>
          </p:cNvPr>
          <p:cNvSpPr/>
          <p:nvPr/>
        </p:nvSpPr>
        <p:spPr>
          <a:xfrm>
            <a:off x="18288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750F0E9-4E66-CF08-0C0E-2D2EDC3E683C}"/>
              </a:ext>
            </a:extLst>
          </p:cNvPr>
          <p:cNvSpPr txBox="1"/>
          <p:nvPr/>
        </p:nvSpPr>
        <p:spPr>
          <a:xfrm>
            <a:off x="887270" y="3651529"/>
            <a:ext cx="2737757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zh-CN" sz="18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</a:t>
            </a:r>
            <a:endParaRPr lang="en-US" altLang="zh-CN" sz="18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E6B4570-2471-8153-F070-EB22E9DB9591}"/>
              </a:ext>
            </a:extLst>
          </p:cNvPr>
          <p:cNvSpPr/>
          <p:nvPr/>
        </p:nvSpPr>
        <p:spPr>
          <a:xfrm>
            <a:off x="8477250" y="365760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</a:rPr>
              <a:t>Made OF AI</a:t>
            </a: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E24437E8-A745-24C1-709B-FE0594C6831E}"/>
              </a:ext>
            </a:extLst>
          </p:cNvPr>
          <p:cNvSpPr/>
          <p:nvPr/>
        </p:nvSpPr>
        <p:spPr>
          <a:xfrm>
            <a:off x="4901336" y="3656972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dirty="0">
                <a:solidFill>
                  <a:srgbClr val="F9A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695905F-4B29-51B3-B9C4-3832B3CC4D62}"/>
              </a:ext>
            </a:extLst>
          </p:cNvPr>
          <p:cNvGrpSpPr/>
          <p:nvPr/>
        </p:nvGrpSpPr>
        <p:grpSpPr>
          <a:xfrm>
            <a:off x="5568812" y="1631951"/>
            <a:ext cx="1054376" cy="1085935"/>
            <a:chOff x="5418879" y="1488666"/>
            <a:chExt cx="1350497" cy="1350497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B8EFB5C3-6FFD-56F3-B6D6-A018F5E0BC99}"/>
                </a:ext>
              </a:extLst>
            </p:cNvPr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DD8909CA-53DC-B7FA-F1B3-5A9D613CC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4274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416" y="2534017"/>
            <a:ext cx="1561367" cy="15613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628650"/>
            <a:ext cx="42862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3952" y="981236"/>
            <a:ext cx="7620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2038350"/>
            <a:ext cx="914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14550" y="2305050"/>
            <a:ext cx="3429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181350"/>
            <a:ext cx="3352800" cy="102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7200" y="1219200"/>
            <a:ext cx="3581400" cy="1676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13716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0" y="1219200"/>
            <a:ext cx="3581400" cy="1676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1371600"/>
            <a:ext cx="1714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600" y="1838326"/>
            <a:ext cx="3276600" cy="81777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200" y="3048000"/>
            <a:ext cx="3581400" cy="1371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19600" y="3200400"/>
            <a:ext cx="1714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9600" y="3619500"/>
            <a:ext cx="3276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0" y="3048000"/>
            <a:ext cx="3581400" cy="1371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53400" y="3200400"/>
            <a:ext cx="25717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29600" y="3657600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9600" y="39243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67200" y="4572000"/>
            <a:ext cx="3581400" cy="1257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19600" y="47244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95800" y="51816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95800" y="54483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0" y="4572000"/>
            <a:ext cx="3581400" cy="1257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153400" y="4724400"/>
            <a:ext cx="2286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29600" y="51816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29600" y="5448300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1190625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- Made FOR AI</a:t>
            </a:r>
            <a:endParaRPr lang="en-US" sz="2700" dirty="0"/>
          </a:p>
        </p:txBody>
      </p:sp>
      <p:sp>
        <p:nvSpPr>
          <p:cNvPr id="38" name="Text 6"/>
          <p:cNvSpPr/>
          <p:nvPr/>
        </p:nvSpPr>
        <p:spPr>
          <a:xfrm>
            <a:off x="2952750" y="3619500"/>
            <a:ext cx="365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0" y="3272020"/>
            <a:ext cx="34975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altLang="zh-CN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r>
              <a:rPr lang="zh-CN" alt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友好的</a:t>
            </a:r>
            <a:r>
              <a:rPr lang="en-US" sz="13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语法</a:t>
            </a:r>
            <a:r>
              <a:rPr lang="zh-CN" alt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设计</a:t>
            </a:r>
            <a:endParaRPr lang="en-US" sz="1350" dirty="0"/>
          </a:p>
        </p:txBody>
      </p:sp>
      <p:sp>
        <p:nvSpPr>
          <p:cNvPr id="44" name="Text 12"/>
          <p:cNvSpPr/>
          <p:nvPr/>
        </p:nvSpPr>
        <p:spPr>
          <a:xfrm>
            <a:off x="676092" y="3652837"/>
            <a:ext cx="3352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 × 人类 = Auto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4762500" y="139065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双模式错误信息</a:t>
            </a:r>
            <a:r>
              <a:rPr lang="zh-CN" alt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</a:t>
            </a:r>
            <a:r>
              <a:rPr lang="en-US" altLang="zh-CN" sz="13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--ai flag</a:t>
            </a:r>
            <a:r>
              <a:rPr lang="zh-CN" alt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</a:t>
            </a:r>
            <a:endParaRPr lang="en-US" sz="1350" dirty="0"/>
          </a:p>
        </p:txBody>
      </p:sp>
      <p:sp>
        <p:nvSpPr>
          <p:cNvPr id="46" name="Text 14"/>
          <p:cNvSpPr/>
          <p:nvPr/>
        </p:nvSpPr>
        <p:spPr>
          <a:xfrm>
            <a:off x="4800600" y="1790700"/>
            <a:ext cx="2895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人类：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4800600" y="1981200"/>
            <a:ext cx="3596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miette（美观的错误展示）</a:t>
            </a:r>
            <a:endParaRPr lang="en-US" sz="1200" dirty="0"/>
          </a:p>
        </p:txBody>
      </p:sp>
      <p:sp>
        <p:nvSpPr>
          <p:cNvPr id="48" name="Text 16"/>
          <p:cNvSpPr/>
          <p:nvPr/>
        </p:nvSpPr>
        <p:spPr>
          <a:xfrm>
            <a:off x="4800600" y="2286000"/>
            <a:ext cx="2895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AI：</a:t>
            </a:r>
            <a:endParaRPr lang="en-US" sz="1050" dirty="0"/>
          </a:p>
        </p:txBody>
      </p:sp>
      <p:sp>
        <p:nvSpPr>
          <p:cNvPr id="49" name="Text 17"/>
          <p:cNvSpPr/>
          <p:nvPr/>
        </p:nvSpPr>
        <p:spPr>
          <a:xfrm>
            <a:off x="4800600" y="2476500"/>
            <a:ext cx="3230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JSON（结构化错误信息）</a:t>
            </a:r>
            <a:endParaRPr lang="en-US" sz="1200" dirty="0"/>
          </a:p>
        </p:txBody>
      </p:sp>
      <p:sp>
        <p:nvSpPr>
          <p:cNvPr id="50" name="Text 18"/>
          <p:cNvSpPr/>
          <p:nvPr/>
        </p:nvSpPr>
        <p:spPr>
          <a:xfrm>
            <a:off x="8439150" y="1390650"/>
            <a:ext cx="2400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注解式契约编程</a:t>
            </a:r>
            <a:endParaRPr lang="en-US" sz="1350" dirty="0"/>
          </a:p>
        </p:txBody>
      </p:sp>
      <p:sp>
        <p:nvSpPr>
          <p:cNvPr id="51" name="Text 19"/>
          <p:cNvSpPr/>
          <p:nvPr/>
        </p:nvSpPr>
        <p:spPr>
          <a:xfrm>
            <a:off x="8394220" y="2147161"/>
            <a:ext cx="25069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#[in(…)]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</a:rPr>
              <a:t>#[out(…)]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</a:rPr>
              <a:t>#[invariant(…)]</a:t>
            </a:r>
          </a:p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52" name="Text 20"/>
          <p:cNvSpPr/>
          <p:nvPr/>
        </p:nvSpPr>
        <p:spPr>
          <a:xfrm>
            <a:off x="8382790" y="2416928"/>
            <a:ext cx="4800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fn </a:t>
            </a:r>
            <a:endParaRPr lang="en-US" sz="1050" dirty="0"/>
          </a:p>
        </p:txBody>
      </p:sp>
      <p:sp>
        <p:nvSpPr>
          <p:cNvPr id="53" name="Text 21"/>
          <p:cNvSpPr/>
          <p:nvPr/>
        </p:nvSpPr>
        <p:spPr>
          <a:xfrm>
            <a:off x="8611390" y="2416928"/>
            <a:ext cx="9601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divide</a:t>
            </a:r>
            <a:endParaRPr lang="en-US" sz="1050" dirty="0"/>
          </a:p>
        </p:txBody>
      </p:sp>
      <p:sp>
        <p:nvSpPr>
          <p:cNvPr id="54" name="Text 22"/>
          <p:cNvSpPr/>
          <p:nvPr/>
        </p:nvSpPr>
        <p:spPr>
          <a:xfrm>
            <a:off x="9068590" y="2416928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(a: </a:t>
            </a:r>
            <a:endParaRPr lang="en-US" sz="1050" dirty="0"/>
          </a:p>
        </p:txBody>
      </p:sp>
      <p:sp>
        <p:nvSpPr>
          <p:cNvPr id="55" name="Text 23"/>
          <p:cNvSpPr/>
          <p:nvPr/>
        </p:nvSpPr>
        <p:spPr>
          <a:xfrm>
            <a:off x="9373390" y="2416928"/>
            <a:ext cx="6934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i32</a:t>
            </a:r>
            <a:endParaRPr lang="en-US" sz="1050" dirty="0"/>
          </a:p>
        </p:txBody>
      </p:sp>
      <p:sp>
        <p:nvSpPr>
          <p:cNvPr id="56" name="Text 24"/>
          <p:cNvSpPr/>
          <p:nvPr/>
        </p:nvSpPr>
        <p:spPr>
          <a:xfrm>
            <a:off x="9601990" y="2416928"/>
            <a:ext cx="8001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 b: </a:t>
            </a:r>
            <a:endParaRPr lang="en-US" sz="1050" dirty="0"/>
          </a:p>
        </p:txBody>
      </p:sp>
      <p:sp>
        <p:nvSpPr>
          <p:cNvPr id="57" name="Text 25"/>
          <p:cNvSpPr/>
          <p:nvPr/>
        </p:nvSpPr>
        <p:spPr>
          <a:xfrm>
            <a:off x="9982990" y="2416928"/>
            <a:ext cx="6934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i32</a:t>
            </a:r>
            <a:endParaRPr lang="en-US" sz="1050" dirty="0"/>
          </a:p>
        </p:txBody>
      </p:sp>
      <p:sp>
        <p:nvSpPr>
          <p:cNvPr id="58" name="Text 26"/>
          <p:cNvSpPr/>
          <p:nvPr/>
        </p:nvSpPr>
        <p:spPr>
          <a:xfrm>
            <a:off x="10211590" y="2416928"/>
            <a:ext cx="8001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 -&gt; </a:t>
            </a:r>
            <a:endParaRPr lang="en-US" sz="1050" dirty="0"/>
          </a:p>
        </p:txBody>
      </p:sp>
      <p:sp>
        <p:nvSpPr>
          <p:cNvPr id="59" name="Text 27"/>
          <p:cNvSpPr/>
          <p:nvPr/>
        </p:nvSpPr>
        <p:spPr>
          <a:xfrm>
            <a:off x="10592590" y="2416928"/>
            <a:ext cx="6934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i32</a:t>
            </a:r>
            <a:endParaRPr lang="en-US" sz="1050" dirty="0"/>
          </a:p>
        </p:txBody>
      </p:sp>
      <p:sp>
        <p:nvSpPr>
          <p:cNvPr id="60" name="Text 28"/>
          <p:cNvSpPr/>
          <p:nvPr/>
        </p:nvSpPr>
        <p:spPr>
          <a:xfrm>
            <a:off x="4705350" y="321945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意图注解</a:t>
            </a:r>
            <a:endParaRPr lang="en-US" sz="1350" dirty="0"/>
          </a:p>
        </p:txBody>
      </p:sp>
      <p:sp>
        <p:nvSpPr>
          <p:cNvPr id="61" name="Text 29"/>
          <p:cNvSpPr/>
          <p:nvPr/>
        </p:nvSpPr>
        <p:spPr>
          <a:xfrm>
            <a:off x="4533900" y="3743325"/>
            <a:ext cx="48006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#[intent("生成REST API客户端")]</a:t>
            </a:r>
            <a:endParaRPr lang="en-US" sz="1050" dirty="0"/>
          </a:p>
        </p:txBody>
      </p:sp>
      <p:sp>
        <p:nvSpPr>
          <p:cNvPr id="62" name="Text 30"/>
          <p:cNvSpPr/>
          <p:nvPr/>
        </p:nvSpPr>
        <p:spPr>
          <a:xfrm>
            <a:off x="4610100" y="3933825"/>
            <a:ext cx="4800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fn </a:t>
            </a:r>
            <a:endParaRPr lang="en-US" sz="1050" dirty="0"/>
          </a:p>
        </p:txBody>
      </p:sp>
      <p:sp>
        <p:nvSpPr>
          <p:cNvPr id="63" name="Text 31"/>
          <p:cNvSpPr/>
          <p:nvPr/>
        </p:nvSpPr>
        <p:spPr>
          <a:xfrm>
            <a:off x="4838700" y="3933825"/>
            <a:ext cx="20802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create_client</a:t>
            </a:r>
            <a:endParaRPr lang="en-US" sz="1050" dirty="0"/>
          </a:p>
        </p:txBody>
      </p:sp>
      <p:sp>
        <p:nvSpPr>
          <p:cNvPr id="64" name="Text 32"/>
          <p:cNvSpPr/>
          <p:nvPr/>
        </p:nvSpPr>
        <p:spPr>
          <a:xfrm>
            <a:off x="5829300" y="39338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()</a:t>
            </a:r>
            <a:endParaRPr lang="en-US" sz="1050" dirty="0"/>
          </a:p>
        </p:txBody>
      </p:sp>
      <p:sp>
        <p:nvSpPr>
          <p:cNvPr id="65" name="Text 33"/>
          <p:cNvSpPr/>
          <p:nvPr/>
        </p:nvSpPr>
        <p:spPr>
          <a:xfrm>
            <a:off x="8524875" y="3219450"/>
            <a:ext cx="21259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AI示例代码库</a:t>
            </a:r>
            <a:endParaRPr lang="en-US" sz="1350" dirty="0"/>
          </a:p>
        </p:txBody>
      </p:sp>
      <p:sp>
        <p:nvSpPr>
          <p:cNvPr id="66" name="Text 34"/>
          <p:cNvSpPr/>
          <p:nvPr/>
        </p:nvSpPr>
        <p:spPr>
          <a:xfrm>
            <a:off x="8439150" y="3619500"/>
            <a:ext cx="213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区分对人和对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AI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的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Demo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示例</a:t>
            </a:r>
            <a:endParaRPr lang="en-US" sz="1200" dirty="0"/>
          </a:p>
        </p:txBody>
      </p:sp>
      <p:sp>
        <p:nvSpPr>
          <p:cNvPr id="67" name="Text 35"/>
          <p:cNvSpPr/>
          <p:nvPr/>
        </p:nvSpPr>
        <p:spPr>
          <a:xfrm>
            <a:off x="8458200" y="388620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辅助生成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大规模</a:t>
            </a:r>
            <a:r>
              <a:rPr lang="en-US" altLang="zh-CN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库</a:t>
            </a:r>
            <a:endParaRPr lang="en-US" sz="1200" dirty="0"/>
          </a:p>
        </p:txBody>
      </p:sp>
      <p:sp>
        <p:nvSpPr>
          <p:cNvPr id="68" name="Text 36"/>
          <p:cNvSpPr/>
          <p:nvPr/>
        </p:nvSpPr>
        <p:spPr>
          <a:xfrm>
            <a:off x="4762500" y="4743450"/>
            <a:ext cx="137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反向转译</a:t>
            </a:r>
            <a:endParaRPr lang="en-US" sz="1350" dirty="0"/>
          </a:p>
        </p:txBody>
      </p:sp>
      <p:sp>
        <p:nvSpPr>
          <p:cNvPr id="69" name="Text 37"/>
          <p:cNvSpPr/>
          <p:nvPr/>
        </p:nvSpPr>
        <p:spPr>
          <a:xfrm>
            <a:off x="4762500" y="5143500"/>
            <a:ext cx="236146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将目标代码工程反向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生成Auto代码</a:t>
            </a:r>
            <a:endParaRPr lang="en-US" sz="1200" dirty="0"/>
          </a:p>
        </p:txBody>
      </p:sp>
      <p:sp>
        <p:nvSpPr>
          <p:cNvPr id="70" name="Text 38"/>
          <p:cNvSpPr/>
          <p:nvPr/>
        </p:nvSpPr>
        <p:spPr>
          <a:xfrm>
            <a:off x="4724400" y="5410200"/>
            <a:ext cx="27109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理解人类注释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，生成符合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理解的注释</a:t>
            </a:r>
            <a:endParaRPr lang="en-US" sz="1200" dirty="0"/>
          </a:p>
        </p:txBody>
      </p:sp>
      <p:sp>
        <p:nvSpPr>
          <p:cNvPr id="71" name="Text 39"/>
          <p:cNvSpPr/>
          <p:nvPr/>
        </p:nvSpPr>
        <p:spPr>
          <a:xfrm>
            <a:off x="8496300" y="4743450"/>
            <a:ext cx="24688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Skill</a:t>
            </a:r>
            <a:endParaRPr lang="en-US" sz="1350" dirty="0"/>
          </a:p>
        </p:txBody>
      </p:sp>
      <p:sp>
        <p:nvSpPr>
          <p:cNvPr id="72" name="Text 40"/>
          <p:cNvSpPr/>
          <p:nvPr/>
        </p:nvSpPr>
        <p:spPr>
          <a:xfrm>
            <a:off x="8496300" y="5143500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Auto代码生成技能</a:t>
            </a:r>
            <a:endParaRPr lang="en-US" sz="1200" dirty="0"/>
          </a:p>
        </p:txBody>
      </p:sp>
      <p:sp>
        <p:nvSpPr>
          <p:cNvPr id="73" name="Text 41"/>
          <p:cNvSpPr/>
          <p:nvPr/>
        </p:nvSpPr>
        <p:spPr>
          <a:xfrm>
            <a:off x="8458200" y="541020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集成开发环境</a:t>
            </a:r>
            <a:endParaRPr lang="en-US" sz="1200" dirty="0"/>
          </a:p>
        </p:txBody>
      </p:sp>
      <p:sp>
        <p:nvSpPr>
          <p:cNvPr id="74" name="Text 42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75" name="Text 43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76" name="Text 44"/>
          <p:cNvSpPr/>
          <p:nvPr/>
        </p:nvSpPr>
        <p:spPr>
          <a:xfrm>
            <a:off x="10668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</a:t>
            </a:r>
            <a:endParaRPr lang="en-US" sz="1050" dirty="0"/>
          </a:p>
        </p:txBody>
      </p:sp>
      <p:sp>
        <p:nvSpPr>
          <p:cNvPr id="77" name="Text 45"/>
          <p:cNvSpPr/>
          <p:nvPr/>
        </p:nvSpPr>
        <p:spPr>
          <a:xfrm>
            <a:off x="12192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78" name="Text 46"/>
          <p:cNvSpPr/>
          <p:nvPr/>
        </p:nvSpPr>
        <p:spPr>
          <a:xfrm>
            <a:off x="1295400" y="6067425"/>
            <a:ext cx="160020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"friendly"</a:t>
            </a:r>
            <a:endParaRPr lang="en-US" sz="1050" dirty="0"/>
          </a:p>
        </p:txBody>
      </p:sp>
      <p:sp>
        <p:nvSpPr>
          <p:cNvPr id="79" name="Text 47"/>
          <p:cNvSpPr/>
          <p:nvPr/>
        </p:nvSpPr>
        <p:spPr>
          <a:xfrm>
            <a:off x="20574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A33F1-8096-CCB9-74D1-09BB1B63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50B9F38-09A1-BE65-49A1-6961916E4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0C65AD5-7050-08A5-BEDC-7892CFAD1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E667B05-8426-1499-EA89-D17BD0840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41A5E0E2-D013-200F-CEF3-7E5064441D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250" y="2857500"/>
            <a:ext cx="2857500" cy="1905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669F6F9B-6ED1-214B-D48B-DA28298C6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9001" y="2862263"/>
            <a:ext cx="1254748" cy="2154237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2FCD10E2-3CB4-560D-15CE-4B633C5DB7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0501" y="717551"/>
            <a:ext cx="1254748" cy="2154237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A76BBBDF-5A96-2D1A-7C3C-5786CE90C8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7250" y="28575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DC7EB34B-C4DF-659C-7E25-DF797ABBC5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0" y="28575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4DD1AB53-B002-42A7-42C5-E13196E72F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0" y="4953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80AAB74B-6069-98C1-E3E9-320B3193C8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0" y="495300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34EA85F9-2D8C-5953-FBA4-3ABBAC8908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14859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01D58F3A-2CCB-D3B8-6265-AFDCE2C7D5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3371850"/>
            <a:ext cx="3352800" cy="19812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988E50E5-8EFA-A15A-A6F4-F7F069DE5E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0600" y="3600450"/>
            <a:ext cx="428625" cy="3429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07BDF642-B533-C208-2E13-9D9A305BDA7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9600" y="3371850"/>
            <a:ext cx="3352800" cy="19812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F565B9AD-A1E9-B1E1-7D40-6282B6578DB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8200" y="360045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13A3F98F-9129-118E-8A72-87F63922B69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77200" y="3371850"/>
            <a:ext cx="3352800" cy="1981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49BA70AE-7297-9CCA-E7FF-FE7D7AC3571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5800" y="360045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>
            <a:extLst>
              <a:ext uri="{FF2B5EF4-FFF2-40B4-BE49-F238E27FC236}">
                <a16:creationId xmlns:a16="http://schemas.microsoft.com/office/drawing/2014/main" id="{922EF0F9-9928-6CDC-11EE-2B01AC4DCF2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Text 1">
            <a:extLst>
              <a:ext uri="{FF2B5EF4-FFF2-40B4-BE49-F238E27FC236}">
                <a16:creationId xmlns:a16="http://schemas.microsoft.com/office/drawing/2014/main" id="{65B6E7D1-8DFF-57EF-F8E7-82AC7728BBFB}"/>
              </a:ext>
            </a:extLst>
          </p:cNvPr>
          <p:cNvSpPr/>
          <p:nvPr/>
        </p:nvSpPr>
        <p:spPr>
          <a:xfrm>
            <a:off x="609600" y="10287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Outline – Auto: AI 三位一体</a:t>
            </a:r>
            <a:endParaRPr lang="en-US" sz="27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4FD3F2D0-134B-87C1-6DD5-DE0F5285186C}"/>
              </a:ext>
            </a:extLst>
          </p:cNvPr>
          <p:cNvSpPr/>
          <p:nvPr/>
        </p:nvSpPr>
        <p:spPr>
          <a:xfrm>
            <a:off x="990600" y="40957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由AI主导开发</a:t>
            </a:r>
            <a:endParaRPr lang="en-US" sz="15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95898EF-ED66-DA0B-07C2-479306A335E2}"/>
              </a:ext>
            </a:extLst>
          </p:cNvPr>
          <p:cNvSpPr/>
          <p:nvPr/>
        </p:nvSpPr>
        <p:spPr>
          <a:xfrm>
            <a:off x="9906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基于100亿Tokens的AI算力，两个月内完成传统需要数年的开发工作，由AI主导语言设计与实现。</a:t>
            </a:r>
            <a:endParaRPr lang="en-US" sz="12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D07F2477-D105-BDBF-F069-A8B0C049F5AA}"/>
              </a:ext>
            </a:extLst>
          </p:cNvPr>
          <p:cNvSpPr/>
          <p:nvPr/>
        </p:nvSpPr>
        <p:spPr>
          <a:xfrm>
            <a:off x="4648200" y="4095750"/>
            <a:ext cx="3124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为AI代码生成优化</a:t>
            </a:r>
            <a:endParaRPr lang="en-US" sz="15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1F7164E9-362D-1701-F2EF-215B4125D69D}"/>
              </a:ext>
            </a:extLst>
          </p:cNvPr>
          <p:cNvSpPr/>
          <p:nvPr/>
        </p:nvSpPr>
        <p:spPr>
          <a:xfrm>
            <a:off x="46482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专为AI生成设计的语法，双模式错误信息，注解式契约编程，让AI更容易理解和生成代码。</a:t>
            </a:r>
            <a:endParaRPr lang="en-US" sz="12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55B39632-DF3A-F3EE-E7EA-E997A15069BE}"/>
              </a:ext>
            </a:extLst>
          </p:cNvPr>
          <p:cNvSpPr/>
          <p:nvPr/>
        </p:nvSpPr>
        <p:spPr>
          <a:xfrm>
            <a:off x="8305800" y="4095750"/>
            <a:ext cx="2895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由AI代码构成</a:t>
            </a:r>
            <a:endParaRPr lang="en-US" sz="15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8282548F-3237-F111-E542-F6D134988493}"/>
              </a:ext>
            </a:extLst>
          </p:cNvPr>
          <p:cNvSpPr/>
          <p:nvPr/>
        </p:nvSpPr>
        <p:spPr>
          <a:xfrm>
            <a:off x="8305800" y="4438650"/>
            <a:ext cx="2895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语言本身由AI代码构成，AI可以直接理解和修改Auto代码，实现"一次生成，处处使用"的愿景。</a:t>
            </a:r>
            <a:endParaRPr lang="en-US" sz="120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135DD225-ECD8-F4C6-22EB-3634BED0BBD5}"/>
              </a:ext>
            </a:extLst>
          </p:cNvPr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24FD211B-B8A8-5578-F6CA-9816539BE228}"/>
              </a:ext>
            </a:extLst>
          </p:cNvPr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3DDF0F6D-7AC9-6741-3DA4-38503AD643E1}"/>
              </a:ext>
            </a:extLst>
          </p:cNvPr>
          <p:cNvSpPr/>
          <p:nvPr/>
        </p:nvSpPr>
        <p:spPr>
          <a:xfrm>
            <a:off x="10668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</a:t>
            </a:r>
            <a:endParaRPr lang="en-US" sz="10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DA2F561B-E819-71E5-60C3-B896FC178E85}"/>
              </a:ext>
            </a:extLst>
          </p:cNvPr>
          <p:cNvSpPr/>
          <p:nvPr/>
        </p:nvSpPr>
        <p:spPr>
          <a:xfrm>
            <a:off x="12192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486D1B0C-F75F-C645-1290-D46574880603}"/>
              </a:ext>
            </a:extLst>
          </p:cNvPr>
          <p:cNvSpPr/>
          <p:nvPr/>
        </p:nvSpPr>
        <p:spPr>
          <a:xfrm>
            <a:off x="12954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"triad"</a:t>
            </a:r>
            <a:endParaRPr lang="en-US" sz="10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8561380-E5F5-7AC8-9E09-6D4D6260E29A}"/>
              </a:ext>
            </a:extLst>
          </p:cNvPr>
          <p:cNvSpPr/>
          <p:nvPr/>
        </p:nvSpPr>
        <p:spPr>
          <a:xfrm>
            <a:off x="18288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038AC95-4204-6F13-A041-56B833FBB380}"/>
              </a:ext>
            </a:extLst>
          </p:cNvPr>
          <p:cNvSpPr txBox="1"/>
          <p:nvPr/>
        </p:nvSpPr>
        <p:spPr>
          <a:xfrm>
            <a:off x="887270" y="3651529"/>
            <a:ext cx="2737757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zh-CN" sz="180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</a:t>
            </a:r>
            <a:endParaRPr lang="en-US" altLang="zh-CN" sz="18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E5884892-7CDC-5507-CECA-AA93DE3E83DC}"/>
              </a:ext>
            </a:extLst>
          </p:cNvPr>
          <p:cNvSpPr/>
          <p:nvPr/>
        </p:nvSpPr>
        <p:spPr>
          <a:xfrm>
            <a:off x="8477250" y="3657600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</a:rPr>
              <a:t>Made OF AI</a:t>
            </a: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5722FA61-CDC2-6D7F-4A58-F7AACA25A9F8}"/>
              </a:ext>
            </a:extLst>
          </p:cNvPr>
          <p:cNvSpPr/>
          <p:nvPr/>
        </p:nvSpPr>
        <p:spPr>
          <a:xfrm>
            <a:off x="4901336" y="3656972"/>
            <a:ext cx="1828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dirty="0">
                <a:solidFill>
                  <a:srgbClr val="F9A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dirty="0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E8037B7-E400-4478-9F0C-CC6871AD20B5}"/>
              </a:ext>
            </a:extLst>
          </p:cNvPr>
          <p:cNvGrpSpPr/>
          <p:nvPr/>
        </p:nvGrpSpPr>
        <p:grpSpPr>
          <a:xfrm>
            <a:off x="5568812" y="1631951"/>
            <a:ext cx="1054376" cy="1085935"/>
            <a:chOff x="5418879" y="1488666"/>
            <a:chExt cx="1350497" cy="1350497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BAA30348-AD0B-3B0F-D9C3-D5652765B232}"/>
                </a:ext>
              </a:extLst>
            </p:cNvPr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图形 43">
              <a:extLst>
                <a:ext uri="{FF2B5EF4-FFF2-40B4-BE49-F238E27FC236}">
                  <a16:creationId xmlns:a16="http://schemas.microsoft.com/office/drawing/2014/main" id="{8D5ACE1C-E029-2DD6-FEC4-186F7ED1C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7854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358" y="557358"/>
            <a:ext cx="1399883" cy="139988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228" y="4054428"/>
            <a:ext cx="882744" cy="8827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6521" y="4539121"/>
            <a:ext cx="1951709" cy="195170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7443" y="1663118"/>
            <a:ext cx="34037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3329" y="4707987"/>
            <a:ext cx="34037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14081" y="2611837"/>
            <a:ext cx="22860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1989" y="4591050"/>
            <a:ext cx="749350" cy="190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-5608320" y="457200"/>
            <a:ext cx="234086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>
                    <a:alpha val="0"/>
                  </a:srgb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· Made of AI — </a:t>
            </a:r>
            <a:endParaRPr lang="en-US" sz="3600" dirty="0"/>
          </a:p>
        </p:txBody>
      </p:sp>
      <p:sp>
        <p:nvSpPr>
          <p:cNvPr id="17" name="Text 2"/>
          <p:cNvSpPr/>
          <p:nvPr/>
        </p:nvSpPr>
        <p:spPr>
          <a:xfrm>
            <a:off x="1331313" y="1701218"/>
            <a:ext cx="17602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a2py</a:t>
            </a:r>
            <a:endParaRPr lang="en-US" sz="1050" dirty="0"/>
          </a:p>
        </p:txBody>
      </p:sp>
      <p:sp>
        <p:nvSpPr>
          <p:cNvPr id="18" name="Text 3"/>
          <p:cNvSpPr/>
          <p:nvPr/>
        </p:nvSpPr>
        <p:spPr>
          <a:xfrm>
            <a:off x="2551743" y="1647549"/>
            <a:ext cx="11177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→</a:t>
            </a:r>
            <a:endParaRPr lang="en-US" sz="1050" dirty="0"/>
          </a:p>
        </p:txBody>
      </p:sp>
      <p:sp>
        <p:nvSpPr>
          <p:cNvPr id="19" name="Text 4"/>
          <p:cNvSpPr/>
          <p:nvPr/>
        </p:nvSpPr>
        <p:spPr>
          <a:xfrm>
            <a:off x="2611179" y="1705347"/>
            <a:ext cx="1386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 Agent</a:t>
            </a:r>
            <a:endParaRPr lang="en-US" sz="1400" b="1" dirty="0"/>
          </a:p>
        </p:txBody>
      </p:sp>
      <p:sp>
        <p:nvSpPr>
          <p:cNvPr id="20" name="Text 5"/>
          <p:cNvSpPr/>
          <p:nvPr/>
        </p:nvSpPr>
        <p:spPr>
          <a:xfrm>
            <a:off x="1230953" y="2059198"/>
            <a:ext cx="30937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支持Python生态无缝接入</a:t>
            </a:r>
            <a:endParaRPr lang="en-US" sz="1050" dirty="0"/>
          </a:p>
        </p:txBody>
      </p:sp>
      <p:sp>
        <p:nvSpPr>
          <p:cNvPr id="22" name="Text 7"/>
          <p:cNvSpPr/>
          <p:nvPr/>
        </p:nvSpPr>
        <p:spPr>
          <a:xfrm>
            <a:off x="7983812" y="1596312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SmartCmd</a:t>
            </a:r>
            <a:endParaRPr lang="en-US" sz="1050" dirty="0"/>
          </a:p>
        </p:txBody>
      </p:sp>
      <p:sp>
        <p:nvSpPr>
          <p:cNvPr id="23" name="Text 8"/>
          <p:cNvSpPr/>
          <p:nvPr/>
        </p:nvSpPr>
        <p:spPr>
          <a:xfrm>
            <a:off x="9276341" y="1557988"/>
            <a:ext cx="919437" cy="5971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4" name="Text 9"/>
          <p:cNvSpPr/>
          <p:nvPr/>
        </p:nvSpPr>
        <p:spPr>
          <a:xfrm>
            <a:off x="9416720" y="1606337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 Tool</a:t>
            </a:r>
            <a:endParaRPr lang="en-US" sz="1400" b="1" dirty="0"/>
          </a:p>
        </p:txBody>
      </p:sp>
      <p:sp>
        <p:nvSpPr>
          <p:cNvPr id="25" name="Text 10"/>
          <p:cNvSpPr/>
          <p:nvPr/>
        </p:nvSpPr>
        <p:spPr>
          <a:xfrm>
            <a:off x="7983812" y="2000188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让Agent能够执行实际操作</a:t>
            </a:r>
            <a:endParaRPr lang="en-US" sz="1050" dirty="0"/>
          </a:p>
        </p:txBody>
      </p:sp>
      <p:sp>
        <p:nvSpPr>
          <p:cNvPr id="27" name="Text 12"/>
          <p:cNvSpPr/>
          <p:nvPr/>
        </p:nvSpPr>
        <p:spPr>
          <a:xfrm>
            <a:off x="1806789" y="4581282"/>
            <a:ext cx="7764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AutoDown</a:t>
            </a:r>
            <a:endParaRPr lang="en-US" sz="1050" dirty="0"/>
          </a:p>
        </p:txBody>
      </p:sp>
      <p:sp>
        <p:nvSpPr>
          <p:cNvPr id="29" name="Text 14"/>
          <p:cNvSpPr/>
          <p:nvPr/>
        </p:nvSpPr>
        <p:spPr>
          <a:xfrm>
            <a:off x="2027478" y="4591050"/>
            <a:ext cx="2720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 Skill</a:t>
            </a:r>
            <a:endParaRPr lang="en-US" sz="1400" b="1" dirty="0"/>
          </a:p>
        </p:txBody>
      </p:sp>
      <p:sp>
        <p:nvSpPr>
          <p:cNvPr id="30" name="Text 15"/>
          <p:cNvSpPr/>
          <p:nvPr/>
        </p:nvSpPr>
        <p:spPr>
          <a:xfrm>
            <a:off x="2002616" y="4812998"/>
            <a:ext cx="1714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zh-CN" altLang="en-US" sz="1050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</a:rPr>
              <a:t>用</a:t>
            </a:r>
            <a:r>
              <a:rPr lang="en-US" altLang="zh-CN" sz="1050" dirty="0" err="1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</a:rPr>
              <a:t>AutoDown</a:t>
            </a:r>
            <a:r>
              <a:rPr lang="zh-CN" altLang="en-US" sz="1050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</a:rPr>
              <a:t>描述</a:t>
            </a:r>
            <a:r>
              <a:rPr lang="en-US" altLang="zh-CN" sz="1050" dirty="0">
                <a:solidFill>
                  <a:srgbClr val="FB923C"/>
                </a:solidFill>
                <a:latin typeface="ui-sans-serif" pitchFamily="34" charset="0"/>
                <a:ea typeface="ui-sans-serif" pitchFamily="34" charset="-122"/>
              </a:rPr>
              <a:t>Skill</a:t>
            </a:r>
            <a:endParaRPr lang="en-US" sz="1050" dirty="0"/>
          </a:p>
        </p:txBody>
      </p:sp>
      <p:sp>
        <p:nvSpPr>
          <p:cNvPr id="32" name="Text 17"/>
          <p:cNvSpPr/>
          <p:nvPr/>
        </p:nvSpPr>
        <p:spPr>
          <a:xfrm>
            <a:off x="8500273" y="4732607"/>
            <a:ext cx="67305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AutoDown</a:t>
            </a:r>
            <a:endParaRPr lang="en-US" sz="1050" dirty="0"/>
          </a:p>
        </p:txBody>
      </p:sp>
      <p:sp>
        <p:nvSpPr>
          <p:cNvPr id="34" name="Text 19"/>
          <p:cNvSpPr/>
          <p:nvPr/>
        </p:nvSpPr>
        <p:spPr>
          <a:xfrm>
            <a:off x="9556507" y="4752484"/>
            <a:ext cx="1333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 </a:t>
            </a:r>
            <a:r>
              <a:rPr lang="en-US" sz="1400" b="1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Knowlege</a:t>
            </a:r>
            <a:endParaRPr lang="en-US" sz="1400" b="1" dirty="0"/>
          </a:p>
        </p:txBody>
      </p:sp>
      <p:sp>
        <p:nvSpPr>
          <p:cNvPr id="35" name="Text 20"/>
          <p:cNvSpPr/>
          <p:nvPr/>
        </p:nvSpPr>
        <p:spPr>
          <a:xfrm>
            <a:off x="7825662" y="5066879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8B4F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为Agent提供领域知识支持</a:t>
            </a:r>
            <a:endParaRPr lang="en-US" sz="1050" dirty="0"/>
          </a:p>
        </p:txBody>
      </p:sp>
      <p:sp>
        <p:nvSpPr>
          <p:cNvPr id="36" name="Text 21"/>
          <p:cNvSpPr/>
          <p:nvPr/>
        </p:nvSpPr>
        <p:spPr>
          <a:xfrm>
            <a:off x="5242680" y="3486921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kern="0" spc="-3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SafeClaw</a:t>
            </a:r>
            <a:endParaRPr lang="en-US" sz="1500" dirty="0"/>
          </a:p>
        </p:txBody>
      </p:sp>
      <p:sp>
        <p:nvSpPr>
          <p:cNvPr id="37" name="Text 22"/>
          <p:cNvSpPr/>
          <p:nvPr/>
        </p:nvSpPr>
        <p:spPr>
          <a:xfrm>
            <a:off x="4892860" y="3193100"/>
            <a:ext cx="25284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Agent 集群</a:t>
            </a:r>
            <a:endParaRPr lang="en-US" sz="1200" dirty="0"/>
          </a:p>
        </p:txBody>
      </p:sp>
      <p:sp>
        <p:nvSpPr>
          <p:cNvPr id="38" name="Text 23"/>
          <p:cNvSpPr/>
          <p:nvPr/>
        </p:nvSpPr>
        <p:spPr>
          <a:xfrm>
            <a:off x="3623431" y="4749649"/>
            <a:ext cx="50673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由四个核心组件组合而成的完整Agent系统</a:t>
            </a:r>
            <a:endParaRPr lang="en-US" sz="1050" dirty="0"/>
          </a:p>
        </p:txBody>
      </p:sp>
      <p:sp>
        <p:nvSpPr>
          <p:cNvPr id="39" name="Text 24"/>
          <p:cNvSpPr/>
          <p:nvPr/>
        </p:nvSpPr>
        <p:spPr>
          <a:xfrm>
            <a:off x="4255696" y="4978300"/>
            <a:ext cx="3680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具备理解、执行、学习、记忆能力</a:t>
            </a:r>
            <a:endParaRPr lang="en-US" sz="1050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54C79A5-41FF-B874-D125-4D514388FABB}"/>
              </a:ext>
            </a:extLst>
          </p:cNvPr>
          <p:cNvGrpSpPr/>
          <p:nvPr/>
        </p:nvGrpSpPr>
        <p:grpSpPr>
          <a:xfrm>
            <a:off x="2580425" y="4543182"/>
            <a:ext cx="362575" cy="298155"/>
            <a:chOff x="2735672" y="3843422"/>
            <a:chExt cx="362575" cy="298155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86671983-A37D-A18F-5C6F-957D6807377B}"/>
                </a:ext>
              </a:extLst>
            </p:cNvPr>
            <p:cNvSpPr/>
            <p:nvPr/>
          </p:nvSpPr>
          <p:spPr>
            <a:xfrm>
              <a:off x="2735672" y="3848530"/>
              <a:ext cx="362575" cy="29304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 13"/>
            <p:cNvSpPr/>
            <p:nvPr/>
          </p:nvSpPr>
          <p:spPr>
            <a:xfrm>
              <a:off x="2861074" y="3843422"/>
              <a:ext cx="11177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→</a:t>
              </a:r>
              <a:endParaRPr lang="en-US" sz="105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683F133-B5DA-511B-5B15-CC70DE9A67CB}"/>
              </a:ext>
            </a:extLst>
          </p:cNvPr>
          <p:cNvGrpSpPr/>
          <p:nvPr/>
        </p:nvGrpSpPr>
        <p:grpSpPr>
          <a:xfrm>
            <a:off x="9235433" y="1556108"/>
            <a:ext cx="362575" cy="298155"/>
            <a:chOff x="2735672" y="3843422"/>
            <a:chExt cx="362575" cy="298155"/>
          </a:xfrm>
        </p:grpSpPr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B15102C6-C877-22C1-87C2-9ECCBC64E905}"/>
                </a:ext>
              </a:extLst>
            </p:cNvPr>
            <p:cNvSpPr/>
            <p:nvPr/>
          </p:nvSpPr>
          <p:spPr>
            <a:xfrm>
              <a:off x="2735672" y="3848530"/>
              <a:ext cx="362575" cy="293047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055EB536-47F9-F275-5AA5-C6879D39CC43}"/>
                </a:ext>
              </a:extLst>
            </p:cNvPr>
            <p:cNvSpPr/>
            <p:nvPr/>
          </p:nvSpPr>
          <p:spPr>
            <a:xfrm>
              <a:off x="2861074" y="3843422"/>
              <a:ext cx="11177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→</a:t>
              </a:r>
              <a:endParaRPr lang="en-US" sz="1050" dirty="0"/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313364C-058D-554B-1BC2-39BCB611CF90}"/>
              </a:ext>
            </a:extLst>
          </p:cNvPr>
          <p:cNvGrpSpPr/>
          <p:nvPr/>
        </p:nvGrpSpPr>
        <p:grpSpPr>
          <a:xfrm>
            <a:off x="9221437" y="4685890"/>
            <a:ext cx="362575" cy="293047"/>
            <a:chOff x="3250021" y="6958293"/>
            <a:chExt cx="362575" cy="293047"/>
          </a:xfrm>
        </p:grpSpPr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2CD66E77-DF76-13BA-777A-B59C4851B848}"/>
                </a:ext>
              </a:extLst>
            </p:cNvPr>
            <p:cNvSpPr/>
            <p:nvPr/>
          </p:nvSpPr>
          <p:spPr>
            <a:xfrm>
              <a:off x="3250021" y="6958293"/>
              <a:ext cx="362575" cy="293047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Text 13">
              <a:extLst>
                <a:ext uri="{FF2B5EF4-FFF2-40B4-BE49-F238E27FC236}">
                  <a16:creationId xmlns:a16="http://schemas.microsoft.com/office/drawing/2014/main" id="{7F008356-066F-28F8-2B6C-A94DFE67DE50}"/>
                </a:ext>
              </a:extLst>
            </p:cNvPr>
            <p:cNvSpPr/>
            <p:nvPr/>
          </p:nvSpPr>
          <p:spPr>
            <a:xfrm>
              <a:off x="3380008" y="6971466"/>
              <a:ext cx="11177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→</a:t>
              </a:r>
              <a:endParaRPr lang="en-US" sz="1050" dirty="0"/>
            </a:p>
          </p:txBody>
        </p:sp>
      </p:grp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27D4404F-3401-686A-9F48-461D58A6916E}"/>
              </a:ext>
            </a:extLst>
          </p:cNvPr>
          <p:cNvCxnSpPr>
            <a:cxnSpLocks/>
          </p:cNvCxnSpPr>
          <p:nvPr/>
        </p:nvCxnSpPr>
        <p:spPr>
          <a:xfrm>
            <a:off x="3623431" y="2318879"/>
            <a:ext cx="1077025" cy="702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B045958-24BA-2BE3-980A-87356C857E01}"/>
              </a:ext>
            </a:extLst>
          </p:cNvPr>
          <p:cNvCxnSpPr>
            <a:cxnSpLocks/>
          </p:cNvCxnSpPr>
          <p:nvPr/>
        </p:nvCxnSpPr>
        <p:spPr>
          <a:xfrm flipH="1">
            <a:off x="7491546" y="2249698"/>
            <a:ext cx="964477" cy="724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E96ABD5-F18D-99A4-38E2-A00B5286AA15}"/>
              </a:ext>
            </a:extLst>
          </p:cNvPr>
          <p:cNvCxnSpPr>
            <a:cxnSpLocks/>
          </p:cNvCxnSpPr>
          <p:nvPr/>
        </p:nvCxnSpPr>
        <p:spPr>
          <a:xfrm flipH="1" flipV="1">
            <a:off x="7543800" y="4095422"/>
            <a:ext cx="956473" cy="52922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B4D9CEAA-9C9D-1EB4-3506-2F3DDB0F194D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3762376" y="4001589"/>
            <a:ext cx="975854" cy="537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6015EBF3-B506-64A2-EEFA-53D1889B9C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628650"/>
            <a:ext cx="428625" cy="342900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75FA1A93-C77E-1DDE-E748-21405F20C12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3952" y="981236"/>
            <a:ext cx="762000" cy="3810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22485E12-39CE-F3A1-185B-E6D8ED2030D9}"/>
              </a:ext>
            </a:extLst>
          </p:cNvPr>
          <p:cNvSpPr/>
          <p:nvPr/>
        </p:nvSpPr>
        <p:spPr>
          <a:xfrm>
            <a:off x="1190625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- Made OF AI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自制 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</a:t>
            </a:r>
            <a:endParaRPr lang="en-US" sz="2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358" y="557358"/>
            <a:ext cx="1399883" cy="139988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521" y="4539121"/>
            <a:ext cx="1951709" cy="195170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216590"/>
            <a:ext cx="2739777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648866"/>
            <a:ext cx="2914501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3" name="Text 2"/>
          <p:cNvSpPr/>
          <p:nvPr/>
        </p:nvSpPr>
        <p:spPr>
          <a:xfrm>
            <a:off x="914400" y="1216590"/>
            <a:ext cx="471350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 with </a:t>
            </a:r>
            <a:r>
              <a:rPr 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Languages</a:t>
            </a:r>
            <a:endParaRPr lang="en-US" sz="1200" dirty="0">
              <a:solidFill>
                <a:srgbClr val="C084FC"/>
              </a:solidFill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6222079-C446-1668-2F4A-920FCE82329E}"/>
              </a:ext>
            </a:extLst>
          </p:cNvPr>
          <p:cNvGrpSpPr/>
          <p:nvPr/>
        </p:nvGrpSpPr>
        <p:grpSpPr>
          <a:xfrm>
            <a:off x="4367022" y="1887949"/>
            <a:ext cx="6113700" cy="2193972"/>
            <a:chOff x="4367022" y="1887949"/>
            <a:chExt cx="6113700" cy="2193972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597978" y="3199177"/>
              <a:ext cx="882744" cy="882744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476750" y="1887949"/>
              <a:ext cx="1371600" cy="13716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153150" y="1887949"/>
              <a:ext cx="1371600" cy="13716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96075" y="2135599"/>
              <a:ext cx="285750" cy="342900"/>
            </a:xfrm>
            <a:prstGeom prst="rect">
              <a:avLst/>
            </a:prstGeom>
          </p:spPr>
        </p:pic>
        <p:sp>
          <p:nvSpPr>
            <p:cNvPr id="34" name="Text 3"/>
            <p:cNvSpPr/>
            <p:nvPr/>
          </p:nvSpPr>
          <p:spPr>
            <a:xfrm>
              <a:off x="4545256" y="2685112"/>
              <a:ext cx="123444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Triton</a:t>
              </a:r>
              <a:endParaRPr lang="en-US" sz="1350" dirty="0"/>
            </a:p>
          </p:txBody>
        </p:sp>
        <p:sp>
          <p:nvSpPr>
            <p:cNvPr id="36" name="Text 5"/>
            <p:cNvSpPr/>
            <p:nvPr/>
          </p:nvSpPr>
          <p:spPr>
            <a:xfrm>
              <a:off x="4367022" y="3373849"/>
              <a:ext cx="1591056" cy="205829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620"/>
                </a:lnSpc>
                <a:buNone/>
              </a:pPr>
              <a:r>
                <a:rPr lang="en-US" sz="1080" i="1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GPU通用计算</a:t>
              </a:r>
              <a:endParaRPr lang="en-US" sz="1080" dirty="0"/>
            </a:p>
          </p:txBody>
        </p:sp>
        <p:sp>
          <p:nvSpPr>
            <p:cNvPr id="37" name="Text 6"/>
            <p:cNvSpPr/>
            <p:nvPr/>
          </p:nvSpPr>
          <p:spPr>
            <a:xfrm>
              <a:off x="6427396" y="2554699"/>
              <a:ext cx="82296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Mojo</a:t>
              </a:r>
              <a:endParaRPr lang="en-US" sz="1350" dirty="0"/>
            </a:p>
          </p:txBody>
        </p:sp>
        <p:sp>
          <p:nvSpPr>
            <p:cNvPr id="38" name="Text 7"/>
            <p:cNvSpPr/>
            <p:nvPr/>
          </p:nvSpPr>
          <p:spPr>
            <a:xfrm>
              <a:off x="6278806" y="2821399"/>
              <a:ext cx="112014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Modular</a:t>
              </a:r>
              <a:endParaRPr lang="en-US" sz="1050" dirty="0"/>
            </a:p>
          </p:txBody>
        </p:sp>
        <p:sp>
          <p:nvSpPr>
            <p:cNvPr id="39" name="Text 8"/>
            <p:cNvSpPr/>
            <p:nvPr/>
          </p:nvSpPr>
          <p:spPr>
            <a:xfrm>
              <a:off x="5988558" y="3373849"/>
              <a:ext cx="1700784" cy="205829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620"/>
                </a:lnSpc>
                <a:buNone/>
              </a:pPr>
              <a:r>
                <a:rPr lang="en-US" sz="1080" i="1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高性能AI推理</a:t>
              </a:r>
              <a:endParaRPr lang="en-US" sz="1080" dirty="0"/>
            </a:p>
          </p:txBody>
        </p:sp>
      </p:grpSp>
      <p:sp>
        <p:nvSpPr>
          <p:cNvPr id="40" name="Text 9"/>
          <p:cNvSpPr/>
          <p:nvPr/>
        </p:nvSpPr>
        <p:spPr>
          <a:xfrm>
            <a:off x="914400" y="3648866"/>
            <a:ext cx="5130969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直接转译层 - </a:t>
            </a:r>
            <a:r>
              <a:rPr lang="en-US" sz="1200" b="1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200" b="1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transpilation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41" name="Text 10"/>
          <p:cNvSpPr/>
          <p:nvPr/>
        </p:nvSpPr>
        <p:spPr>
          <a:xfrm>
            <a:off x="762000" y="5518842"/>
            <a:ext cx="10668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Auto直接转译到各</a:t>
            </a:r>
            <a:r>
              <a:rPr lang="zh-CN" alt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种计算</a:t>
            </a:r>
            <a:r>
              <a:rPr lang="en-US" sz="1050" dirty="0" err="1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平台</a:t>
            </a:r>
            <a:endParaRPr lang="en-US" sz="1050" dirty="0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E333F8EE-2C24-0FBA-1FFB-5563232865D4}"/>
              </a:ext>
            </a:extLst>
          </p:cNvPr>
          <p:cNvGrpSpPr/>
          <p:nvPr/>
        </p:nvGrpSpPr>
        <p:grpSpPr>
          <a:xfrm>
            <a:off x="3654027" y="4401758"/>
            <a:ext cx="5295900" cy="1123950"/>
            <a:chOff x="3448050" y="5882729"/>
            <a:chExt cx="5295900" cy="1123950"/>
          </a:xfrm>
        </p:grpSpPr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448050" y="5882729"/>
              <a:ext cx="1238250" cy="9906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71925" y="5997029"/>
              <a:ext cx="190500" cy="266700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057650" y="6720929"/>
              <a:ext cx="19050" cy="28575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800600" y="5882729"/>
              <a:ext cx="1238250" cy="9906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24475" y="5997029"/>
              <a:ext cx="190500" cy="26670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410200" y="6720929"/>
              <a:ext cx="19050" cy="28575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153150" y="5882729"/>
              <a:ext cx="1238250" cy="9906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677025" y="5997029"/>
              <a:ext cx="190500" cy="2667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62750" y="6720929"/>
              <a:ext cx="19050" cy="28575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505700" y="5882729"/>
              <a:ext cx="1238250" cy="9906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029575" y="5997029"/>
              <a:ext cx="190500" cy="266700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15300" y="6720929"/>
              <a:ext cx="19050" cy="285750"/>
            </a:xfrm>
            <a:prstGeom prst="rect">
              <a:avLst/>
            </a:prstGeom>
          </p:spPr>
        </p:pic>
        <p:sp>
          <p:nvSpPr>
            <p:cNvPr id="42" name="Text 11"/>
            <p:cNvSpPr/>
            <p:nvPr/>
          </p:nvSpPr>
          <p:spPr>
            <a:xfrm>
              <a:off x="3701415" y="6301829"/>
              <a:ext cx="73152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CUDA</a:t>
              </a:r>
              <a:endParaRPr lang="en-US" sz="1200" dirty="0"/>
            </a:p>
          </p:txBody>
        </p:sp>
        <p:sp>
          <p:nvSpPr>
            <p:cNvPr id="43" name="Text 12"/>
            <p:cNvSpPr/>
            <p:nvPr/>
          </p:nvSpPr>
          <p:spPr>
            <a:xfrm>
              <a:off x="3587041" y="6568529"/>
              <a:ext cx="96012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NVIDIA</a:t>
              </a:r>
              <a:endParaRPr lang="en-US" sz="1050" dirty="0"/>
            </a:p>
          </p:txBody>
        </p:sp>
        <p:sp>
          <p:nvSpPr>
            <p:cNvPr id="44" name="Text 13"/>
            <p:cNvSpPr/>
            <p:nvPr/>
          </p:nvSpPr>
          <p:spPr>
            <a:xfrm>
              <a:off x="5053965" y="6301829"/>
              <a:ext cx="73152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CANN</a:t>
              </a:r>
              <a:endParaRPr lang="en-US" sz="1200" dirty="0"/>
            </a:p>
          </p:txBody>
        </p:sp>
        <p:sp>
          <p:nvSpPr>
            <p:cNvPr id="45" name="Text 14"/>
            <p:cNvSpPr/>
            <p:nvPr/>
          </p:nvSpPr>
          <p:spPr>
            <a:xfrm>
              <a:off x="5153025" y="6568529"/>
              <a:ext cx="53340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华为</a:t>
              </a:r>
              <a:endParaRPr lang="en-US" sz="1050" dirty="0"/>
            </a:p>
          </p:txBody>
        </p:sp>
        <p:sp>
          <p:nvSpPr>
            <p:cNvPr id="46" name="Text 15"/>
            <p:cNvSpPr/>
            <p:nvPr/>
          </p:nvSpPr>
          <p:spPr>
            <a:xfrm>
              <a:off x="6406515" y="6301829"/>
              <a:ext cx="73152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ROCm</a:t>
              </a:r>
              <a:endParaRPr lang="en-US" sz="1200" dirty="0"/>
            </a:p>
          </p:txBody>
        </p:sp>
        <p:sp>
          <p:nvSpPr>
            <p:cNvPr id="47" name="Text 16"/>
            <p:cNvSpPr/>
            <p:nvPr/>
          </p:nvSpPr>
          <p:spPr>
            <a:xfrm>
              <a:off x="6532245" y="6568529"/>
              <a:ext cx="48006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AMD</a:t>
              </a:r>
              <a:endParaRPr lang="en-US" sz="1050" dirty="0"/>
            </a:p>
          </p:txBody>
        </p:sp>
        <p:sp>
          <p:nvSpPr>
            <p:cNvPr id="48" name="Text 17"/>
            <p:cNvSpPr/>
            <p:nvPr/>
          </p:nvSpPr>
          <p:spPr>
            <a:xfrm>
              <a:off x="7758991" y="6301829"/>
              <a:ext cx="73152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MUSA</a:t>
              </a:r>
              <a:endParaRPr lang="en-US" sz="1200" dirty="0"/>
            </a:p>
          </p:txBody>
        </p:sp>
        <p:sp>
          <p:nvSpPr>
            <p:cNvPr id="49" name="Text 18"/>
            <p:cNvSpPr/>
            <p:nvPr/>
          </p:nvSpPr>
          <p:spPr>
            <a:xfrm>
              <a:off x="7591425" y="6568529"/>
              <a:ext cx="1066800" cy="1905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摩尔线程</a:t>
              </a:r>
              <a:endParaRPr lang="en-US" sz="1050" dirty="0"/>
            </a:p>
          </p:txBody>
        </p:sp>
      </p:grpSp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B6336133-4B24-ADF8-B5B3-EA2524EBBE1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628650"/>
            <a:ext cx="428625" cy="342900"/>
          </a:xfrm>
          <a:prstGeom prst="rect">
            <a:avLst/>
          </a:prstGeom>
        </p:spPr>
      </p:pic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2C5CD78C-4945-1AC5-9AE7-E8DF7688BA8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73952" y="981236"/>
            <a:ext cx="762000" cy="38100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F93A7F78-77B8-ED9D-ECCA-7BC9FF99B984}"/>
              </a:ext>
            </a:extLst>
          </p:cNvPr>
          <p:cNvSpPr/>
          <p:nvPr/>
        </p:nvSpPr>
        <p:spPr>
          <a:xfrm>
            <a:off x="1190625" y="609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- Made OF AI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r>
              <a:rPr lang="en-US" altLang="zh-CN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编译加速</a:t>
            </a:r>
            <a:endParaRPr lang="en-US" sz="2700" dirty="0"/>
          </a:p>
        </p:txBody>
      </p:sp>
      <p:sp>
        <p:nvSpPr>
          <p:cNvPr id="6" name="AutoShape 2" descr="@triton-lang">
            <a:extLst>
              <a:ext uri="{FF2B5EF4-FFF2-40B4-BE49-F238E27FC236}">
                <a16:creationId xmlns:a16="http://schemas.microsoft.com/office/drawing/2014/main" id="{3E78CBB5-CA55-2AB2-17F4-8FF69CA098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88A0D868-9B66-816E-55A1-22A02E19B7E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19228" y="2133081"/>
            <a:ext cx="486495" cy="4864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71A4-C6BB-7118-8BDC-F388C5CA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EFFF1F5-FC82-E5BA-DC4F-09F156C48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12E56F1-5356-93BD-DF05-32C887982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EBA94FB8-1A2C-1FC5-4CF8-8FFF6A10B1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71DF23B-8F68-4C70-C81A-AA810E45E1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4099073-0684-0E60-CCF8-AFA4CD6E52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40BA4218-DA63-5853-DA26-9CFFBBC916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57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1CA34D4D-5FA7-724A-64C7-0DE9ACED90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5433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B4A8DD90-5921-BD53-5A7D-68225E5018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9100" y="1371600"/>
            <a:ext cx="3543300" cy="19050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C8BBCC92-72C6-2C3C-660C-B554826C734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7700" y="16764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072243D9-D420-F7C2-32E5-7577B1D762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2427" y="1373762"/>
            <a:ext cx="3543300" cy="19050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CAEDAEC7-E225-AA1A-E9D5-B7DB13B244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1704976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DBB8EAD1-E079-DB10-AC18-17F95C6D8C5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3619500"/>
            <a:ext cx="3543300" cy="21336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D5E1A8FE-23B7-B98F-8CC8-37B5E9713A5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95800" y="3848100"/>
            <a:ext cx="257175" cy="3429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997676CB-B9B3-995D-6C90-92F61778567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39100" y="3619500"/>
            <a:ext cx="3543300" cy="2133600"/>
          </a:xfrm>
          <a:prstGeom prst="rect">
            <a:avLst/>
          </a:prstGeom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2A4D5C27-4443-095E-7FEE-69A46A538BA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67700" y="384810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D547542B-16E3-45EF-68C9-4E4B7D6F12D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899A3899-BD71-3496-D545-A69949C1F52F}"/>
              </a:ext>
            </a:extLst>
          </p:cNvPr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大纲概览</a:t>
            </a:r>
            <a:endParaRPr lang="en-US" sz="27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0A268DC0-BC74-E25B-830A-166F0A3C5C48}"/>
              </a:ext>
            </a:extLst>
          </p:cNvPr>
          <p:cNvGrpSpPr/>
          <p:nvPr/>
        </p:nvGrpSpPr>
        <p:grpSpPr>
          <a:xfrm>
            <a:off x="612009" y="2204357"/>
            <a:ext cx="518368" cy="381000"/>
            <a:chOff x="609600" y="1485900"/>
            <a:chExt cx="518368" cy="381000"/>
          </a:xfrm>
        </p:grpSpPr>
        <p:pic>
          <p:nvPicPr>
            <p:cNvPr id="7" name="Image 5" descr="preencoded.png">
              <a:extLst>
                <a:ext uri="{FF2B5EF4-FFF2-40B4-BE49-F238E27FC236}">
                  <a16:creationId xmlns:a16="http://schemas.microsoft.com/office/drawing/2014/main" id="{72F01BA8-F569-2F81-2097-2B01DB5EA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09600" y="1485900"/>
              <a:ext cx="381000" cy="381000"/>
            </a:xfrm>
            <a:prstGeom prst="rect">
              <a:avLst/>
            </a:prstGeom>
          </p:spPr>
        </p:pic>
        <p:sp>
          <p:nvSpPr>
            <p:cNvPr id="21" name="Text 1">
              <a:extLst>
                <a:ext uri="{FF2B5EF4-FFF2-40B4-BE49-F238E27FC236}">
                  <a16:creationId xmlns:a16="http://schemas.microsoft.com/office/drawing/2014/main" id="{EB751036-FA61-E74C-F5CA-29184F80347D}"/>
                </a:ext>
              </a:extLst>
            </p:cNvPr>
            <p:cNvSpPr/>
            <p:nvPr/>
          </p:nvSpPr>
          <p:spPr>
            <a:xfrm>
              <a:off x="746968" y="1485900"/>
              <a:ext cx="3810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">
            <a:extLst>
              <a:ext uri="{FF2B5EF4-FFF2-40B4-BE49-F238E27FC236}">
                <a16:creationId xmlns:a16="http://schemas.microsoft.com/office/drawing/2014/main" id="{F295933F-BD93-E82C-BDDE-F42E2B4B8A7B}"/>
              </a:ext>
            </a:extLst>
          </p:cNvPr>
          <p:cNvSpPr/>
          <p:nvPr/>
        </p:nvSpPr>
        <p:spPr>
          <a:xfrm>
            <a:off x="1130377" y="222885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</a:t>
            </a:r>
            <a:r>
              <a:rPr lang="en-US" altLang="zh-CN" sz="1400" b="1" dirty="0">
                <a:solidFill>
                  <a:schemeClr val="bg1"/>
                </a:solidFill>
              </a:rPr>
              <a:t>×</a:t>
            </a: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 </a:t>
            </a:r>
            <a:endParaRPr lang="en-US" sz="1500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886BC0F9-3426-6A3A-D2A0-464340C1F3D7}"/>
              </a:ext>
            </a:extLst>
          </p:cNvPr>
          <p:cNvGrpSpPr/>
          <p:nvPr/>
        </p:nvGrpSpPr>
        <p:grpSpPr>
          <a:xfrm>
            <a:off x="612009" y="1514476"/>
            <a:ext cx="518368" cy="381000"/>
            <a:chOff x="609600" y="2171700"/>
            <a:chExt cx="518368" cy="381000"/>
          </a:xfrm>
        </p:grpSpPr>
        <p:pic>
          <p:nvPicPr>
            <p:cNvPr id="8" name="Image 6" descr="preencoded.png">
              <a:extLst>
                <a:ext uri="{FF2B5EF4-FFF2-40B4-BE49-F238E27FC236}">
                  <a16:creationId xmlns:a16="http://schemas.microsoft.com/office/drawing/2014/main" id="{F731B82E-7177-1A20-7806-F9F58381D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09600" y="2171700"/>
              <a:ext cx="381000" cy="381000"/>
            </a:xfrm>
            <a:prstGeom prst="rect">
              <a:avLst/>
            </a:prstGeom>
          </p:spPr>
        </p:pic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683D481D-3C46-906B-04DB-0E1B96E4DFC1}"/>
                </a:ext>
              </a:extLst>
            </p:cNvPr>
            <p:cNvSpPr/>
            <p:nvPr/>
          </p:nvSpPr>
          <p:spPr>
            <a:xfrm>
              <a:off x="746968" y="2171700"/>
              <a:ext cx="3810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24" name="Text 4">
            <a:extLst>
              <a:ext uri="{FF2B5EF4-FFF2-40B4-BE49-F238E27FC236}">
                <a16:creationId xmlns:a16="http://schemas.microsoft.com/office/drawing/2014/main" id="{F85760E2-8080-03D6-D817-76A8DE182969}"/>
              </a:ext>
            </a:extLst>
          </p:cNvPr>
          <p:cNvSpPr/>
          <p:nvPr/>
        </p:nvSpPr>
        <p:spPr>
          <a:xfrm>
            <a:off x="1130377" y="1547813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4F7BA45B-B3F5-1F3A-4313-6E2530D08D44}"/>
              </a:ext>
            </a:extLst>
          </p:cNvPr>
          <p:cNvSpPr/>
          <p:nvPr/>
        </p:nvSpPr>
        <p:spPr>
          <a:xfrm>
            <a:off x="746968" y="28575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BBB60F70-98F8-88A5-0AE5-1DE9CBE07244}"/>
              </a:ext>
            </a:extLst>
          </p:cNvPr>
          <p:cNvSpPr/>
          <p:nvPr/>
        </p:nvSpPr>
        <p:spPr>
          <a:xfrm>
            <a:off x="1143000" y="2914650"/>
            <a:ext cx="190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融合与突破</a:t>
            </a:r>
            <a:endParaRPr lang="en-US" sz="15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2B6F18B-D8C3-BD7F-DA73-3370213054FC}"/>
              </a:ext>
            </a:extLst>
          </p:cNvPr>
          <p:cNvSpPr/>
          <p:nvPr/>
        </p:nvSpPr>
        <p:spPr>
          <a:xfrm>
            <a:off x="746968" y="35433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B188EF39-4A3A-D2B8-9ACC-3937662E8F1E}"/>
              </a:ext>
            </a:extLst>
          </p:cNvPr>
          <p:cNvSpPr/>
          <p:nvPr/>
        </p:nvSpPr>
        <p:spPr>
          <a:xfrm>
            <a:off x="1143000" y="3600450"/>
            <a:ext cx="190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行业应用</a:t>
            </a:r>
            <a:r>
              <a:rPr lang="en-US" sz="1500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愿景</a:t>
            </a:r>
            <a:endParaRPr lang="en-US" sz="15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4F0E1878-EB62-7B4B-88F8-0FE756214F72}"/>
              </a:ext>
            </a:extLst>
          </p:cNvPr>
          <p:cNvSpPr/>
          <p:nvPr/>
        </p:nvSpPr>
        <p:spPr>
          <a:xfrm>
            <a:off x="4495800" y="22098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A138DDD-30B1-54BF-7D15-82A01820BF80}"/>
              </a:ext>
            </a:extLst>
          </p:cNvPr>
          <p:cNvSpPr/>
          <p:nvPr/>
        </p:nvSpPr>
        <p:spPr>
          <a:xfrm>
            <a:off x="4495800" y="2552700"/>
            <a:ext cx="3086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把语言生态当作操作系统来开发，实现去年的愿景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4D01FE29-4A6D-AFE1-9856-4760B567060E}"/>
              </a:ext>
            </a:extLst>
          </p:cNvPr>
          <p:cNvSpPr/>
          <p:nvPr/>
        </p:nvSpPr>
        <p:spPr>
          <a:xfrm>
            <a:off x="8267700" y="22098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</a:t>
            </a:r>
            <a:r>
              <a:rPr lang="en-US" altLang="zh-CN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</a:t>
            </a: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语言与</a:t>
            </a:r>
            <a:r>
              <a:rPr lang="en-US" altLang="zh-CN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的关系</a:t>
            </a:r>
            <a:endParaRPr lang="en-US" sz="15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0C6C0342-1DE2-F974-71F4-5C8D440D8BC6}"/>
              </a:ext>
            </a:extLst>
          </p:cNvPr>
          <p:cNvSpPr/>
          <p:nvPr/>
        </p:nvSpPr>
        <p:spPr>
          <a:xfrm>
            <a:off x="8267699" y="2552700"/>
            <a:ext cx="3174923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 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到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sz="12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A980F5AA-AF67-D8C3-FE65-7B89A8DB9F16}"/>
              </a:ext>
            </a:extLst>
          </p:cNvPr>
          <p:cNvSpPr/>
          <p:nvPr/>
        </p:nvSpPr>
        <p:spPr>
          <a:xfrm>
            <a:off x="4495800" y="43434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融合与突破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6B9BDC53-7C72-96C8-5F24-C507B3818E5A}"/>
              </a:ext>
            </a:extLst>
          </p:cNvPr>
          <p:cNvSpPr/>
          <p:nvPr/>
        </p:nvSpPr>
        <p:spPr>
          <a:xfrm>
            <a:off x="4495800" y="468630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AI与OS的深度融合，打破不可能三角限制，实现开发效率、程序安全与运行性能的全面突破。</a:t>
            </a:r>
            <a:endParaRPr lang="en-US" sz="12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05DD5C7E-5358-0BDC-39B8-7056F6AC22C0}"/>
              </a:ext>
            </a:extLst>
          </p:cNvPr>
          <p:cNvSpPr/>
          <p:nvPr/>
        </p:nvSpPr>
        <p:spPr>
          <a:xfrm>
            <a:off x="8267699" y="4343400"/>
            <a:ext cx="34507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行业应用</a:t>
            </a: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愿景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ADB202AB-F524-83AB-B288-36B747AB6D01}"/>
              </a:ext>
            </a:extLst>
          </p:cNvPr>
          <p:cNvSpPr/>
          <p:nvPr/>
        </p:nvSpPr>
        <p:spPr>
          <a:xfrm>
            <a:off x="8267700" y="468630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从单一OS到跨行业应用，Auto语言将扩展至汽车、机器人和通用应用开发</a:t>
            </a:r>
            <a:endParaRPr lang="en-US" sz="12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7F09BAC2-5CB3-526F-F373-0D1D9A74A89B}"/>
              </a:ext>
            </a:extLst>
          </p:cNvPr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94C2582B-5DE7-8880-5948-FAA5BE3FD867}"/>
              </a:ext>
            </a:extLst>
          </p:cNvPr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390AC9D2-FB8B-E3CF-173A-121689FEEA7E}"/>
              </a:ext>
            </a:extLst>
          </p:cNvPr>
          <p:cNvSpPr/>
          <p:nvPr/>
        </p:nvSpPr>
        <p:spPr>
          <a:xfrm>
            <a:off x="10668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outline</a:t>
            </a:r>
            <a:endParaRPr lang="en-US" sz="105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7035D6CF-8326-BBE9-0AA3-ED06CCAAE3CC}"/>
              </a:ext>
            </a:extLst>
          </p:cNvPr>
          <p:cNvSpPr/>
          <p:nvPr/>
        </p:nvSpPr>
        <p:spPr>
          <a:xfrm>
            <a:off x="16002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1F407A46-4C3B-2E5A-C00D-F58C39BC0DC4}"/>
              </a:ext>
            </a:extLst>
          </p:cNvPr>
          <p:cNvSpPr/>
          <p:nvPr/>
        </p:nvSpPr>
        <p:spPr>
          <a:xfrm>
            <a:off x="1676400" y="6067425"/>
            <a:ext cx="13868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"2026"</a:t>
            </a:r>
            <a:endParaRPr lang="en-US" sz="105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B3598C26-C411-A200-40FA-32102B3FDF26}"/>
              </a:ext>
            </a:extLst>
          </p:cNvPr>
          <p:cNvSpPr/>
          <p:nvPr/>
        </p:nvSpPr>
        <p:spPr>
          <a:xfrm>
            <a:off x="21336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B9F6C87-E541-FFB7-F6C5-2CFC8B48A8E9}"/>
              </a:ext>
            </a:extLst>
          </p:cNvPr>
          <p:cNvSpPr txBox="1"/>
          <p:nvPr/>
        </p:nvSpPr>
        <p:spPr>
          <a:xfrm>
            <a:off x="4798018" y="3820597"/>
            <a:ext cx="655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+ OS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AD74CE4-F89F-51B7-6C5E-6EDEE5EA9789}"/>
              </a:ext>
            </a:extLst>
          </p:cNvPr>
          <p:cNvSpPr txBox="1"/>
          <p:nvPr/>
        </p:nvSpPr>
        <p:spPr>
          <a:xfrm>
            <a:off x="8696325" y="3851001"/>
            <a:ext cx="6555782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400" b="1" dirty="0">
                <a:solidFill>
                  <a:srgbClr val="22C5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Once, Run Anywhere</a:t>
            </a:r>
            <a:endParaRPr lang="en-US" altLang="zh-CN" sz="1400" dirty="0">
              <a:solidFill>
                <a:srgbClr val="22C55E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71D7DB7-8C85-35B1-22C8-BC991AF341FD}"/>
              </a:ext>
            </a:extLst>
          </p:cNvPr>
          <p:cNvSpPr txBox="1"/>
          <p:nvPr/>
        </p:nvSpPr>
        <p:spPr>
          <a:xfrm>
            <a:off x="4873087" y="1692729"/>
            <a:ext cx="764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LaOS</a:t>
            </a:r>
            <a:endParaRPr lang="zh-CN" altLang="en-US" dirty="0">
              <a:solidFill>
                <a:srgbClr val="60A5FA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57683CD-386E-D726-AD10-1574D885713C}"/>
              </a:ext>
            </a:extLst>
          </p:cNvPr>
          <p:cNvSpPr txBox="1"/>
          <p:nvPr/>
        </p:nvSpPr>
        <p:spPr>
          <a:xfrm>
            <a:off x="8610600" y="1664734"/>
            <a:ext cx="764647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800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</a:t>
            </a:r>
            <a:r>
              <a:rPr lang="en-US" altLang="zh-CN" sz="1600" b="1" dirty="0">
                <a:solidFill>
                  <a:srgbClr val="EC4899"/>
                </a:solidFill>
              </a:rPr>
              <a:t>×</a:t>
            </a:r>
            <a:r>
              <a:rPr lang="en-US" altLang="zh-CN" sz="1800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</a:t>
            </a:r>
            <a:endParaRPr lang="en-US" altLang="zh-CN" sz="1800" dirty="0">
              <a:solidFill>
                <a:srgbClr val="EC48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930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6761" y="3605213"/>
            <a:ext cx="8778180" cy="28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6761" y="356235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1380" y="356235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3562350"/>
            <a:ext cx="114300" cy="114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0471" y="356235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1790700"/>
            <a:ext cx="2438400" cy="1485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" y="1990725"/>
            <a:ext cx="323850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54301" y="1790700"/>
            <a:ext cx="2438400" cy="1485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44801" y="1990725"/>
            <a:ext cx="361950" cy="2857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99002" y="1790700"/>
            <a:ext cx="2438400" cy="1485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43702" y="1790700"/>
            <a:ext cx="2438400" cy="1485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4202" y="1990725"/>
            <a:ext cx="285750" cy="2857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3733800"/>
            <a:ext cx="5334000" cy="1676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8200" y="4000500"/>
            <a:ext cx="238125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" y="43815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" y="46863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" y="49911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8400" y="3733800"/>
            <a:ext cx="5334000" cy="1676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000500"/>
            <a:ext cx="19050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3815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6863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9911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+ OS - Agent OS 生态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800100" y="24003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Cursor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800100" y="2705100"/>
            <a:ext cx="2057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初始阶段：AI驱动的代码编辑器，提供基础AI辅助编程体验。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3644801" y="24003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3644801" y="2705100"/>
            <a:ext cx="2057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进化阶段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通过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和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，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提供更智能的开发环境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6489502" y="24003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OpenClaw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6489502" y="2705100"/>
            <a:ext cx="2057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突破阶段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多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体系，通过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tools/skills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实现跨平台的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工作环境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9334202" y="24003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OS</a:t>
            </a:r>
            <a:endParaRPr lang="en-US" sz="1500" dirty="0"/>
          </a:p>
        </p:txBody>
      </p:sp>
      <p:sp>
        <p:nvSpPr>
          <p:cNvPr id="39" name="Text 8"/>
          <p:cNvSpPr/>
          <p:nvPr/>
        </p:nvSpPr>
        <p:spPr>
          <a:xfrm>
            <a:off x="9334202" y="2788674"/>
            <a:ext cx="2248198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整合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目标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由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组成的操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作系统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，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更安全高效的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分布式智能体协作网络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1190625" y="39624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</a:rPr>
              <a:t>多</a:t>
            </a:r>
            <a:r>
              <a:rPr lang="en-US" altLang="zh-CN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</a:rPr>
              <a:t>Agent</a:t>
            </a:r>
            <a:r>
              <a:rPr lang="zh-CN" alt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</a:rPr>
              <a:t>框架的探索</a:t>
            </a:r>
            <a:endParaRPr lang="en-US" sz="1500" dirty="0"/>
          </a:p>
        </p:txBody>
      </p:sp>
      <p:sp>
        <p:nvSpPr>
          <p:cNvPr id="41" name="Text 10"/>
          <p:cNvSpPr/>
          <p:nvPr/>
        </p:nvSpPr>
        <p:spPr>
          <a:xfrm>
            <a:off x="1066800" y="4343400"/>
            <a:ext cx="5486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OpenFang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：更严谨的多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体系，初步探索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 OS</a:t>
            </a:r>
            <a:endParaRPr lang="en-US" sz="1200" dirty="0"/>
          </a:p>
        </p:txBody>
      </p:sp>
      <p:sp>
        <p:nvSpPr>
          <p:cNvPr id="42" name="Text 11"/>
          <p:cNvSpPr/>
          <p:nvPr/>
        </p:nvSpPr>
        <p:spPr>
          <a:xfrm>
            <a:off x="1066800" y="4648200"/>
            <a:ext cx="62788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三省六部制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：新颖的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治理架构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1066800" y="4953000"/>
            <a:ext cx="4572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IronClaw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：安全优先的</a:t>
            </a:r>
            <a:r>
              <a:rPr lang="en-US" altLang="zh-CN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OpenClaw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，使用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实现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6781800" y="3962400"/>
            <a:ext cx="4876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SafeClaw</a:t>
            </a: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endParaRPr lang="en-US" sz="1500" dirty="0"/>
          </a:p>
        </p:txBody>
      </p:sp>
      <p:sp>
        <p:nvSpPr>
          <p:cNvPr id="45" name="Text 14"/>
          <p:cNvSpPr/>
          <p:nvPr/>
        </p:nvSpPr>
        <p:spPr>
          <a:xfrm>
            <a:off x="6705600" y="4343400"/>
            <a:ext cx="4084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从NanoClaw转译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成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，再反转译成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</a:t>
            </a:r>
            <a:endParaRPr lang="en-US" sz="1200" dirty="0"/>
          </a:p>
        </p:txBody>
      </p:sp>
      <p:sp>
        <p:nvSpPr>
          <p:cNvPr id="46" name="Text 15"/>
          <p:cNvSpPr/>
          <p:nvPr/>
        </p:nvSpPr>
        <p:spPr>
          <a:xfrm>
            <a:off x="6705600" y="4648200"/>
            <a:ext cx="4389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未来会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融合IronClaw特性，增强安全性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6705600" y="4953000"/>
            <a:ext cx="5120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集成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 UI，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并嵌入到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语言的虚拟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OS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系统内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09600" y="6067425"/>
            <a:ext cx="128016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agent_os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12192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1371600" y="6067425"/>
            <a:ext cx="14401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evolution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20574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2133600" y="6067425"/>
            <a:ext cx="62407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"Cursor → Claude → OpenClaw → Agent OS"</a:t>
            </a:r>
            <a:endParaRPr lang="en-US" sz="1050" dirty="0"/>
          </a:p>
        </p:txBody>
      </p:sp>
      <p:sp>
        <p:nvSpPr>
          <p:cNvPr id="53" name="Text 22"/>
          <p:cNvSpPr/>
          <p:nvPr/>
        </p:nvSpPr>
        <p:spPr>
          <a:xfrm>
            <a:off x="5117753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75B30CDA-9835-4C97-2D50-DE67056AF08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22161" y="1893321"/>
            <a:ext cx="490677" cy="4831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825" y="2429425"/>
            <a:ext cx="2342051" cy="234205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191000"/>
            <a:ext cx="5410200" cy="762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343400"/>
            <a:ext cx="32385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448175"/>
            <a:ext cx="1714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191000"/>
            <a:ext cx="5410200" cy="762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4343400"/>
            <a:ext cx="304800" cy="3810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448175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5105400"/>
            <a:ext cx="5410200" cy="7620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5257800"/>
            <a:ext cx="304800" cy="3810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5362575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5105400"/>
            <a:ext cx="5410200" cy="7620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5257800"/>
            <a:ext cx="342900" cy="3810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5362575"/>
            <a:ext cx="190500" cy="1524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AutoOS - 跨平台虚拟操作系统</a:t>
            </a:r>
            <a:endParaRPr lang="en-US" sz="2700" dirty="0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58831CFF-CA74-49B6-885B-A9A917802FD5}"/>
              </a:ext>
            </a:extLst>
          </p:cNvPr>
          <p:cNvGrpSpPr/>
          <p:nvPr/>
        </p:nvGrpSpPr>
        <p:grpSpPr>
          <a:xfrm>
            <a:off x="5471160" y="2100263"/>
            <a:ext cx="1097280" cy="1050131"/>
            <a:chOff x="5471160" y="2100263"/>
            <a:chExt cx="1097280" cy="1050131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622755" y="2100263"/>
              <a:ext cx="762000" cy="762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855643" y="2286000"/>
              <a:ext cx="285750" cy="342900"/>
            </a:xfrm>
            <a:prstGeom prst="rect">
              <a:avLst/>
            </a:prstGeom>
          </p:spPr>
        </p:pic>
        <p:sp>
          <p:nvSpPr>
            <p:cNvPr id="47" name="Text 1"/>
            <p:cNvSpPr/>
            <p:nvPr/>
          </p:nvSpPr>
          <p:spPr>
            <a:xfrm>
              <a:off x="5471160" y="2921794"/>
              <a:ext cx="109728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AutoOS</a:t>
              </a:r>
              <a:endParaRPr lang="en-US" sz="1200" dirty="0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5D96E2D4-CCC7-F0B1-F287-296E519F4CC5}"/>
              </a:ext>
            </a:extLst>
          </p:cNvPr>
          <p:cNvGrpSpPr/>
          <p:nvPr/>
        </p:nvGrpSpPr>
        <p:grpSpPr>
          <a:xfrm>
            <a:off x="4261652" y="1307755"/>
            <a:ext cx="1280160" cy="1028700"/>
            <a:chOff x="9620107" y="979311"/>
            <a:chExt cx="1280160" cy="102870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793111" y="979311"/>
              <a:ext cx="914400" cy="10287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059811" y="1143000"/>
              <a:ext cx="381000" cy="3810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155061" y="1287248"/>
              <a:ext cx="190500" cy="152400"/>
            </a:xfrm>
            <a:prstGeom prst="rect">
              <a:avLst/>
            </a:prstGeom>
          </p:spPr>
        </p:pic>
        <p:sp>
          <p:nvSpPr>
            <p:cNvPr id="49" name="Text 3"/>
            <p:cNvSpPr/>
            <p:nvPr/>
          </p:nvSpPr>
          <p:spPr>
            <a:xfrm>
              <a:off x="9620107" y="1561715"/>
              <a:ext cx="128016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Windows</a:t>
              </a:r>
              <a:endParaRPr lang="en-US" sz="1200" dirty="0"/>
            </a:p>
          </p:txBody>
        </p:sp>
        <p:sp>
          <p:nvSpPr>
            <p:cNvPr id="50" name="Text 4"/>
            <p:cNvSpPr/>
            <p:nvPr/>
          </p:nvSpPr>
          <p:spPr>
            <a:xfrm>
              <a:off x="9820170" y="1777868"/>
              <a:ext cx="91440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60A5FA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桌面系统</a:t>
              </a:r>
              <a:endParaRPr lang="en-US" sz="900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07D0BD62-1A6F-803F-7B5D-F6EB2F483E26}"/>
              </a:ext>
            </a:extLst>
          </p:cNvPr>
          <p:cNvGrpSpPr/>
          <p:nvPr/>
        </p:nvGrpSpPr>
        <p:grpSpPr>
          <a:xfrm>
            <a:off x="4546884" y="2893050"/>
            <a:ext cx="924276" cy="1028700"/>
            <a:chOff x="9793111" y="2716767"/>
            <a:chExt cx="924276" cy="1028700"/>
          </a:xfrm>
        </p:grpSpPr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793111" y="2716767"/>
              <a:ext cx="914400" cy="10287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069687" y="2941852"/>
              <a:ext cx="381000" cy="3810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199307" y="3064235"/>
              <a:ext cx="171450" cy="152400"/>
            </a:xfrm>
            <a:prstGeom prst="rect">
              <a:avLst/>
            </a:prstGeom>
          </p:spPr>
        </p:pic>
        <p:sp>
          <p:nvSpPr>
            <p:cNvPr id="51" name="Text 5"/>
            <p:cNvSpPr/>
            <p:nvPr/>
          </p:nvSpPr>
          <p:spPr>
            <a:xfrm>
              <a:off x="9802987" y="3319337"/>
              <a:ext cx="9144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Linux</a:t>
              </a:r>
              <a:endParaRPr lang="en-US" sz="1200" dirty="0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E52350A8-320B-9F6E-DB24-124D89987834}"/>
              </a:ext>
            </a:extLst>
          </p:cNvPr>
          <p:cNvGrpSpPr/>
          <p:nvPr/>
        </p:nvGrpSpPr>
        <p:grpSpPr>
          <a:xfrm>
            <a:off x="8131827" y="2134364"/>
            <a:ext cx="931758" cy="1028700"/>
            <a:chOff x="1762116" y="2028825"/>
            <a:chExt cx="931758" cy="10287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762116" y="2028825"/>
              <a:ext cx="914400" cy="10287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2038821" y="2180323"/>
              <a:ext cx="381000" cy="38100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2162646" y="2282019"/>
              <a:ext cx="133350" cy="152400"/>
            </a:xfrm>
            <a:prstGeom prst="rect">
              <a:avLst/>
            </a:prstGeom>
          </p:spPr>
        </p:pic>
        <p:sp>
          <p:nvSpPr>
            <p:cNvPr id="53" name="Text 7"/>
            <p:cNvSpPr/>
            <p:nvPr/>
          </p:nvSpPr>
          <p:spPr>
            <a:xfrm>
              <a:off x="1772121" y="2581231"/>
              <a:ext cx="9144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macOS</a:t>
              </a:r>
              <a:endParaRPr lang="en-US" sz="1200" dirty="0"/>
            </a:p>
          </p:txBody>
        </p:sp>
        <p:sp>
          <p:nvSpPr>
            <p:cNvPr id="54" name="Text 8"/>
            <p:cNvSpPr/>
            <p:nvPr/>
          </p:nvSpPr>
          <p:spPr>
            <a:xfrm>
              <a:off x="1779474" y="2835981"/>
              <a:ext cx="91440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苹果生态</a:t>
              </a:r>
              <a:endParaRPr lang="en-US" sz="900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B473EEDC-19CC-D38F-31CD-85A2C1F98018}"/>
              </a:ext>
            </a:extLst>
          </p:cNvPr>
          <p:cNvGrpSpPr/>
          <p:nvPr/>
        </p:nvGrpSpPr>
        <p:grpSpPr>
          <a:xfrm>
            <a:off x="6505334" y="1288476"/>
            <a:ext cx="1280160" cy="1028700"/>
            <a:chOff x="7741920" y="2171700"/>
            <a:chExt cx="1280160" cy="1028700"/>
          </a:xfrm>
        </p:grpSpPr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924800" y="2171700"/>
              <a:ext cx="914400" cy="10287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8191500" y="2286000"/>
              <a:ext cx="381000" cy="38100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324850" y="2400300"/>
              <a:ext cx="114300" cy="152400"/>
            </a:xfrm>
            <a:prstGeom prst="rect">
              <a:avLst/>
            </a:prstGeom>
          </p:spPr>
        </p:pic>
        <p:sp>
          <p:nvSpPr>
            <p:cNvPr id="55" name="Text 9"/>
            <p:cNvSpPr/>
            <p:nvPr/>
          </p:nvSpPr>
          <p:spPr>
            <a:xfrm>
              <a:off x="7741920" y="2705100"/>
              <a:ext cx="128016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Android</a:t>
              </a:r>
              <a:endParaRPr lang="en-US" sz="1200" dirty="0"/>
            </a:p>
          </p:txBody>
        </p:sp>
        <p:sp>
          <p:nvSpPr>
            <p:cNvPr id="56" name="Text 10"/>
            <p:cNvSpPr/>
            <p:nvPr/>
          </p:nvSpPr>
          <p:spPr>
            <a:xfrm>
              <a:off x="7924800" y="2933700"/>
              <a:ext cx="91440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86EFAC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移动系统</a:t>
              </a:r>
              <a:endParaRPr lang="en-US" sz="900" dirty="0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9FE8C30E-D260-57EE-77E2-79A8D482690F}"/>
              </a:ext>
            </a:extLst>
          </p:cNvPr>
          <p:cNvGrpSpPr/>
          <p:nvPr/>
        </p:nvGrpSpPr>
        <p:grpSpPr>
          <a:xfrm>
            <a:off x="2668435" y="2119317"/>
            <a:ext cx="1645920" cy="1028700"/>
            <a:chOff x="3372528" y="2763157"/>
            <a:chExt cx="1645920" cy="1028700"/>
          </a:xfrm>
        </p:grpSpPr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08B58DEC-1CC4-3759-61B5-18CCB30A0D16}"/>
                </a:ext>
              </a:extLst>
            </p:cNvPr>
            <p:cNvGrpSpPr/>
            <p:nvPr/>
          </p:nvGrpSpPr>
          <p:grpSpPr>
            <a:xfrm>
              <a:off x="3739810" y="2763157"/>
              <a:ext cx="914400" cy="1028700"/>
              <a:chOff x="3739810" y="2763157"/>
              <a:chExt cx="914400" cy="1028700"/>
            </a:xfrm>
          </p:grpSpPr>
          <p:pic>
            <p:nvPicPr>
              <p:cNvPr id="25" name="Image 23" descr="preencoded.png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39810" y="2763157"/>
                <a:ext cx="914400" cy="1028700"/>
              </a:xfrm>
              <a:prstGeom prst="rect">
                <a:avLst/>
              </a:prstGeom>
            </p:spPr>
          </p:pic>
          <p:pic>
            <p:nvPicPr>
              <p:cNvPr id="26" name="Image 24" descr="preencoded.png"/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009987" y="2917246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27" name="Image 25" descr="preencoded.png"/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128813" y="3031546"/>
                <a:ext cx="133350" cy="152400"/>
              </a:xfrm>
              <a:prstGeom prst="rect">
                <a:avLst/>
              </a:prstGeom>
            </p:spPr>
          </p:pic>
        </p:grpSp>
        <p:sp>
          <p:nvSpPr>
            <p:cNvPr id="57" name="Text 11"/>
            <p:cNvSpPr/>
            <p:nvPr/>
          </p:nvSpPr>
          <p:spPr>
            <a:xfrm>
              <a:off x="3372528" y="3317296"/>
              <a:ext cx="164592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HarmonyOS</a:t>
              </a:r>
              <a:endParaRPr lang="en-US" sz="1200" dirty="0"/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60FB159-0730-4E3E-8A7F-B807D4CDD7F8}"/>
              </a:ext>
            </a:extLst>
          </p:cNvPr>
          <p:cNvGrpSpPr/>
          <p:nvPr/>
        </p:nvGrpSpPr>
        <p:grpSpPr>
          <a:xfrm>
            <a:off x="6688214" y="2893050"/>
            <a:ext cx="914400" cy="1028700"/>
            <a:chOff x="7010400" y="2171700"/>
            <a:chExt cx="914400" cy="1028700"/>
          </a:xfrm>
        </p:grpSpPr>
        <p:pic>
          <p:nvPicPr>
            <p:cNvPr id="29" name="Image 27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010400" y="2171700"/>
              <a:ext cx="914400" cy="1028700"/>
            </a:xfrm>
            <a:prstGeom prst="rect">
              <a:avLst/>
            </a:prstGeom>
          </p:spPr>
        </p:pic>
        <p:pic>
          <p:nvPicPr>
            <p:cNvPr id="30" name="Image 28" descr="preencoded.png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7277100" y="2286000"/>
              <a:ext cx="381000" cy="381000"/>
            </a:xfrm>
            <a:prstGeom prst="rect">
              <a:avLst/>
            </a:prstGeom>
          </p:spPr>
        </p:pic>
        <p:pic>
          <p:nvPicPr>
            <p:cNvPr id="31" name="Image 29" descr="preencoded.png"/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7391400" y="2400300"/>
              <a:ext cx="152400" cy="152400"/>
            </a:xfrm>
            <a:prstGeom prst="rect">
              <a:avLst/>
            </a:prstGeom>
          </p:spPr>
        </p:pic>
        <p:sp>
          <p:nvSpPr>
            <p:cNvPr id="59" name="Text 13"/>
            <p:cNvSpPr/>
            <p:nvPr/>
          </p:nvSpPr>
          <p:spPr>
            <a:xfrm>
              <a:off x="7124700" y="2705100"/>
              <a:ext cx="685800" cy="2286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MCU</a:t>
              </a:r>
              <a:endParaRPr lang="en-US" sz="1200" dirty="0"/>
            </a:p>
          </p:txBody>
        </p:sp>
        <p:sp>
          <p:nvSpPr>
            <p:cNvPr id="60" name="Text 14"/>
            <p:cNvSpPr/>
            <p:nvPr/>
          </p:nvSpPr>
          <p:spPr>
            <a:xfrm>
              <a:off x="7124700" y="2933700"/>
              <a:ext cx="685800" cy="1524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D8B4FE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嵌入式</a:t>
              </a:r>
              <a:endParaRPr lang="en-US" sz="900" dirty="0"/>
            </a:p>
          </p:txBody>
        </p:sp>
      </p:grpSp>
      <p:sp>
        <p:nvSpPr>
          <p:cNvPr id="61" name="Text 15"/>
          <p:cNvSpPr/>
          <p:nvPr/>
        </p:nvSpPr>
        <p:spPr>
          <a:xfrm>
            <a:off x="1200150" y="4343400"/>
            <a:ext cx="29591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跨平台虚拟OS</a:t>
            </a:r>
            <a:endParaRPr lang="en-US" sz="1200" dirty="0"/>
          </a:p>
        </p:txBody>
      </p:sp>
      <p:sp>
        <p:nvSpPr>
          <p:cNvPr id="62" name="Text 16"/>
          <p:cNvSpPr/>
          <p:nvPr/>
        </p:nvSpPr>
        <p:spPr>
          <a:xfrm>
            <a:off x="1200150" y="4610100"/>
            <a:ext cx="68808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Win / Linux / Mac / Android / Harmony / MCU</a:t>
            </a:r>
            <a:endParaRPr lang="en-US" sz="1050" dirty="0"/>
          </a:p>
        </p:txBody>
      </p:sp>
      <p:sp>
        <p:nvSpPr>
          <p:cNvPr id="63" name="Text 17"/>
          <p:cNvSpPr/>
          <p:nvPr/>
        </p:nvSpPr>
        <p:spPr>
          <a:xfrm>
            <a:off x="6743700" y="4343400"/>
            <a:ext cx="21945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Agentic Apps</a:t>
            </a:r>
            <a:endParaRPr lang="en-US" sz="1200" dirty="0"/>
          </a:p>
        </p:txBody>
      </p:sp>
      <p:sp>
        <p:nvSpPr>
          <p:cNvPr id="64" name="Text 18"/>
          <p:cNvSpPr/>
          <p:nvPr/>
        </p:nvSpPr>
        <p:spPr>
          <a:xfrm>
            <a:off x="6743700" y="4610100"/>
            <a:ext cx="3360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统一应用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服务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，统一通讯架构</a:t>
            </a:r>
            <a:endParaRPr lang="en-US" sz="1050" dirty="0"/>
          </a:p>
        </p:txBody>
      </p:sp>
      <p:sp>
        <p:nvSpPr>
          <p:cNvPr id="65" name="Text 19"/>
          <p:cNvSpPr/>
          <p:nvPr/>
        </p:nvSpPr>
        <p:spPr>
          <a:xfrm>
            <a:off x="1181100" y="5257800"/>
            <a:ext cx="28999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全流程支持</a:t>
            </a:r>
            <a:endParaRPr lang="en-US" sz="1200" dirty="0"/>
          </a:p>
        </p:txBody>
      </p:sp>
      <p:sp>
        <p:nvSpPr>
          <p:cNvPr id="66" name="Text 20"/>
          <p:cNvSpPr/>
          <p:nvPr/>
        </p:nvSpPr>
        <p:spPr>
          <a:xfrm>
            <a:off x="1181100" y="5524500"/>
            <a:ext cx="58140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AutoIDE → AutoUI → AutoMan（开发到部署）</a:t>
            </a:r>
            <a:endParaRPr lang="en-US" sz="1050" dirty="0"/>
          </a:p>
        </p:txBody>
      </p:sp>
      <p:sp>
        <p:nvSpPr>
          <p:cNvPr id="67" name="Text 21"/>
          <p:cNvSpPr/>
          <p:nvPr/>
        </p:nvSpPr>
        <p:spPr>
          <a:xfrm>
            <a:off x="6781800" y="5257800"/>
            <a:ext cx="188818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开放生态</a:t>
            </a:r>
            <a:endParaRPr lang="en-US" sz="1200" dirty="0"/>
          </a:p>
        </p:txBody>
      </p:sp>
      <p:sp>
        <p:nvSpPr>
          <p:cNvPr id="68" name="Text 22"/>
          <p:cNvSpPr/>
          <p:nvPr/>
        </p:nvSpPr>
        <p:spPr>
          <a:xfrm>
            <a:off x="6781800" y="5524500"/>
            <a:ext cx="4000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OpenSource / OpenBusiness</a:t>
            </a:r>
            <a:endParaRPr lang="en-US" sz="1050" dirty="0"/>
          </a:p>
        </p:txBody>
      </p:sp>
      <p:sp>
        <p:nvSpPr>
          <p:cNvPr id="80" name="Text 4">
            <a:extLst>
              <a:ext uri="{FF2B5EF4-FFF2-40B4-BE49-F238E27FC236}">
                <a16:creationId xmlns:a16="http://schemas.microsoft.com/office/drawing/2014/main" id="{76BB471C-CE2A-1F55-0069-4FA7885C77FC}"/>
              </a:ext>
            </a:extLst>
          </p:cNvPr>
          <p:cNvSpPr/>
          <p:nvPr/>
        </p:nvSpPr>
        <p:spPr>
          <a:xfrm>
            <a:off x="4529906" y="3709710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0A5F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桌面系统</a:t>
            </a:r>
            <a:endParaRPr lang="en-US" sz="9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6B9FAFB7-DA77-0C93-4595-C7DF17F096FF}"/>
              </a:ext>
            </a:extLst>
          </p:cNvPr>
          <p:cNvSpPr/>
          <p:nvPr/>
        </p:nvSpPr>
        <p:spPr>
          <a:xfrm>
            <a:off x="3054213" y="2938467"/>
            <a:ext cx="9144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zh-CN" alt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华为</a:t>
            </a:r>
            <a:r>
              <a:rPr lang="en-US" sz="9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生态</a:t>
            </a:r>
            <a:endParaRPr lang="en-US" sz="900" dirty="0"/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4920FDE-0E06-FDEC-DDD6-12BCF58A1054}"/>
              </a:ext>
            </a:extLst>
          </p:cNvPr>
          <p:cNvGrpSpPr/>
          <p:nvPr/>
        </p:nvGrpSpPr>
        <p:grpSpPr>
          <a:xfrm>
            <a:off x="5478262" y="1835859"/>
            <a:ext cx="1054376" cy="1085935"/>
            <a:chOff x="5418879" y="1488666"/>
            <a:chExt cx="1350497" cy="1350497"/>
          </a:xfrm>
        </p:grpSpPr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E62A2B23-6B70-7D99-34BB-45EC9EF40A7F}"/>
                </a:ext>
              </a:extLst>
            </p:cNvPr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4" name="图形 83">
              <a:extLst>
                <a:ext uri="{FF2B5EF4-FFF2-40B4-BE49-F238E27FC236}">
                  <a16:creationId xmlns:a16="http://schemas.microsoft.com/office/drawing/2014/main" id="{BDF81980-7A08-3DE4-16F4-46BAD4637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F5ED6-F353-CA3A-AD2B-14C52FAC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DD324AE-FB37-45A2-E499-FCE3C9FBF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804DB1C4-B8F7-7417-1D60-197E98336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52A929D-9868-72F6-48E4-FA1DD58A9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5CE34EB9-4B09-61C8-075F-3E796CA2A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0ED9F363-11CB-733C-375F-5BB7A5B59C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1C78EECF-A1C8-1195-4E82-400AF15820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857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FAD6D482-11C5-1048-0711-CE75C6820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5433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0F405814-8FC3-A3DC-D4E3-90B2DCC816D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7700" y="16764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79CCDB4C-67C1-29AC-1D48-72F863A26A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2427" y="1373762"/>
            <a:ext cx="3543300" cy="19050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D75DBC82-FADD-BD87-32E5-03833F4066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1704976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71A46688-5B22-8A2F-A1F5-44FC98ECA3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67200" y="3619500"/>
            <a:ext cx="3543300" cy="21336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95E6F498-7B11-BBEC-92F1-8EC217AF431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95800" y="3848100"/>
            <a:ext cx="257175" cy="3429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22325F13-2654-D43D-6C87-45A436E06A7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39100" y="3619500"/>
            <a:ext cx="3543300" cy="2133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</p:pic>
      <p:pic>
        <p:nvPicPr>
          <p:cNvPr id="18" name="Image 16" descr="preencoded.png">
            <a:extLst>
              <a:ext uri="{FF2B5EF4-FFF2-40B4-BE49-F238E27FC236}">
                <a16:creationId xmlns:a16="http://schemas.microsoft.com/office/drawing/2014/main" id="{D2F2F3DE-C43A-9443-87BB-986640B59ED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7700" y="384810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2897FFE8-3D8B-04EA-6C03-0A24605419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327211B0-E59B-A035-5CE8-EC2BBC255D22}"/>
              </a:ext>
            </a:extLst>
          </p:cNvPr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大纲概览</a:t>
            </a:r>
            <a:endParaRPr lang="en-US" sz="2700" dirty="0"/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8E15903D-F4E2-45E8-40E1-7DB6F22059EC}"/>
              </a:ext>
            </a:extLst>
          </p:cNvPr>
          <p:cNvGrpSpPr/>
          <p:nvPr/>
        </p:nvGrpSpPr>
        <p:grpSpPr>
          <a:xfrm>
            <a:off x="612009" y="2204357"/>
            <a:ext cx="518368" cy="381000"/>
            <a:chOff x="609600" y="1485900"/>
            <a:chExt cx="518368" cy="381000"/>
          </a:xfrm>
        </p:grpSpPr>
        <p:pic>
          <p:nvPicPr>
            <p:cNvPr id="7" name="Image 5" descr="preencoded.png">
              <a:extLst>
                <a:ext uri="{FF2B5EF4-FFF2-40B4-BE49-F238E27FC236}">
                  <a16:creationId xmlns:a16="http://schemas.microsoft.com/office/drawing/2014/main" id="{76A55AFA-AD20-1344-097C-40084E45F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9600" y="1485900"/>
              <a:ext cx="381000" cy="381000"/>
            </a:xfrm>
            <a:prstGeom prst="rect">
              <a:avLst/>
            </a:prstGeom>
          </p:spPr>
        </p:pic>
        <p:sp>
          <p:nvSpPr>
            <p:cNvPr id="21" name="Text 1">
              <a:extLst>
                <a:ext uri="{FF2B5EF4-FFF2-40B4-BE49-F238E27FC236}">
                  <a16:creationId xmlns:a16="http://schemas.microsoft.com/office/drawing/2014/main" id="{2CC92A90-0978-5ED2-179F-2D1C4C6191FA}"/>
                </a:ext>
              </a:extLst>
            </p:cNvPr>
            <p:cNvSpPr/>
            <p:nvPr/>
          </p:nvSpPr>
          <p:spPr>
            <a:xfrm>
              <a:off x="746968" y="1485900"/>
              <a:ext cx="3810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">
            <a:extLst>
              <a:ext uri="{FF2B5EF4-FFF2-40B4-BE49-F238E27FC236}">
                <a16:creationId xmlns:a16="http://schemas.microsoft.com/office/drawing/2014/main" id="{21259773-F9D7-0CBF-9461-4FBE99F8949F}"/>
              </a:ext>
            </a:extLst>
          </p:cNvPr>
          <p:cNvSpPr/>
          <p:nvPr/>
        </p:nvSpPr>
        <p:spPr>
          <a:xfrm>
            <a:off x="1130377" y="2228850"/>
            <a:ext cx="2971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</a:t>
            </a:r>
            <a:r>
              <a:rPr lang="en-US" altLang="zh-CN" sz="1400" b="1" dirty="0">
                <a:solidFill>
                  <a:schemeClr val="bg1"/>
                </a:solidFill>
              </a:rPr>
              <a:t>×</a:t>
            </a: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 </a:t>
            </a:r>
            <a:endParaRPr lang="en-US" sz="1500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439EC654-DB97-5192-4EDC-21D4924BD19E}"/>
              </a:ext>
            </a:extLst>
          </p:cNvPr>
          <p:cNvGrpSpPr/>
          <p:nvPr/>
        </p:nvGrpSpPr>
        <p:grpSpPr>
          <a:xfrm>
            <a:off x="612009" y="1514476"/>
            <a:ext cx="518368" cy="381000"/>
            <a:chOff x="609600" y="2171700"/>
            <a:chExt cx="518368" cy="381000"/>
          </a:xfrm>
        </p:grpSpPr>
        <p:pic>
          <p:nvPicPr>
            <p:cNvPr id="8" name="Image 6" descr="preencoded.png">
              <a:extLst>
                <a:ext uri="{FF2B5EF4-FFF2-40B4-BE49-F238E27FC236}">
                  <a16:creationId xmlns:a16="http://schemas.microsoft.com/office/drawing/2014/main" id="{FAABBAC1-F6BE-D94E-8E0C-8D40032FE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09600" y="2171700"/>
              <a:ext cx="381000" cy="381000"/>
            </a:xfrm>
            <a:prstGeom prst="rect">
              <a:avLst/>
            </a:prstGeom>
          </p:spPr>
        </p:pic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15CB6A47-B390-6034-7BBD-FA60F7681B41}"/>
                </a:ext>
              </a:extLst>
            </p:cNvPr>
            <p:cNvSpPr/>
            <p:nvPr/>
          </p:nvSpPr>
          <p:spPr>
            <a:xfrm>
              <a:off x="746968" y="2171700"/>
              <a:ext cx="381000" cy="3810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24" name="Text 4">
            <a:extLst>
              <a:ext uri="{FF2B5EF4-FFF2-40B4-BE49-F238E27FC236}">
                <a16:creationId xmlns:a16="http://schemas.microsoft.com/office/drawing/2014/main" id="{FE8D4CB2-EEE4-165E-0FB2-F2017CC62A36}"/>
              </a:ext>
            </a:extLst>
          </p:cNvPr>
          <p:cNvSpPr/>
          <p:nvPr/>
        </p:nvSpPr>
        <p:spPr>
          <a:xfrm>
            <a:off x="1130377" y="1547813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7C612985-710A-6B20-C61E-625B9001FAA5}"/>
              </a:ext>
            </a:extLst>
          </p:cNvPr>
          <p:cNvSpPr/>
          <p:nvPr/>
        </p:nvSpPr>
        <p:spPr>
          <a:xfrm>
            <a:off x="746968" y="28575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DD4F9A74-E270-2CDD-CE5C-85217FDCA044}"/>
              </a:ext>
            </a:extLst>
          </p:cNvPr>
          <p:cNvSpPr/>
          <p:nvPr/>
        </p:nvSpPr>
        <p:spPr>
          <a:xfrm>
            <a:off x="1143000" y="2914650"/>
            <a:ext cx="190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融合与突破</a:t>
            </a:r>
            <a:endParaRPr lang="en-US" sz="15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06932CBE-4753-AF77-5168-2463CDA36D19}"/>
              </a:ext>
            </a:extLst>
          </p:cNvPr>
          <p:cNvSpPr/>
          <p:nvPr/>
        </p:nvSpPr>
        <p:spPr>
          <a:xfrm>
            <a:off x="746968" y="3543300"/>
            <a:ext cx="381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51A7B983-B552-6B12-F1B8-CA88A8A0186A}"/>
              </a:ext>
            </a:extLst>
          </p:cNvPr>
          <p:cNvSpPr/>
          <p:nvPr/>
        </p:nvSpPr>
        <p:spPr>
          <a:xfrm>
            <a:off x="1143000" y="3600450"/>
            <a:ext cx="1905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行业应用</a:t>
            </a:r>
            <a:r>
              <a:rPr lang="en-US" sz="1500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愿景</a:t>
            </a:r>
            <a:endParaRPr lang="en-US" sz="15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165F212-076F-4AA4-13C1-35BCB272BA25}"/>
              </a:ext>
            </a:extLst>
          </p:cNvPr>
          <p:cNvSpPr/>
          <p:nvPr/>
        </p:nvSpPr>
        <p:spPr>
          <a:xfrm>
            <a:off x="4495800" y="22098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C4C80244-DA58-B826-1F6C-3658609691B6}"/>
              </a:ext>
            </a:extLst>
          </p:cNvPr>
          <p:cNvSpPr/>
          <p:nvPr/>
        </p:nvSpPr>
        <p:spPr>
          <a:xfrm>
            <a:off x="4495800" y="2552700"/>
            <a:ext cx="3086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把语言生态当作操作系统来开发，实现去年的愿景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1E1224B3-4077-8F9F-516D-0AC6E05BB31C}"/>
              </a:ext>
            </a:extLst>
          </p:cNvPr>
          <p:cNvSpPr/>
          <p:nvPr/>
        </p:nvSpPr>
        <p:spPr>
          <a:xfrm>
            <a:off x="8267700" y="22098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探索</a:t>
            </a:r>
            <a:r>
              <a:rPr lang="en-US" altLang="zh-CN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</a:t>
            </a: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语言与</a:t>
            </a:r>
            <a:r>
              <a:rPr lang="en-US" altLang="zh-CN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的关系</a:t>
            </a:r>
            <a:endParaRPr lang="en-US" sz="15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7A8F20AE-246B-07B1-F54C-3E3D36B193A3}"/>
              </a:ext>
            </a:extLst>
          </p:cNvPr>
          <p:cNvSpPr/>
          <p:nvPr/>
        </p:nvSpPr>
        <p:spPr>
          <a:xfrm>
            <a:off x="8267699" y="2552700"/>
            <a:ext cx="3174923" cy="552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 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到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sz="12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2E13DC51-25FD-02FF-C9B5-0283C5AF841A}"/>
              </a:ext>
            </a:extLst>
          </p:cNvPr>
          <p:cNvSpPr/>
          <p:nvPr/>
        </p:nvSpPr>
        <p:spPr>
          <a:xfrm>
            <a:off x="4495800" y="4343400"/>
            <a:ext cx="3086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融合与突破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746CCDCE-963C-82CA-A365-9995C658A86F}"/>
              </a:ext>
            </a:extLst>
          </p:cNvPr>
          <p:cNvSpPr/>
          <p:nvPr/>
        </p:nvSpPr>
        <p:spPr>
          <a:xfrm>
            <a:off x="4495800" y="468630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AI与OS的深度融合，打破不可能三角限制，实现开发效率、程序安全与运行性能的全面突破。</a:t>
            </a:r>
            <a:endParaRPr lang="en-US" sz="12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480241CE-B87B-7200-5148-98668A77EA0B}"/>
              </a:ext>
            </a:extLst>
          </p:cNvPr>
          <p:cNvSpPr/>
          <p:nvPr/>
        </p:nvSpPr>
        <p:spPr>
          <a:xfrm>
            <a:off x="8267699" y="4343400"/>
            <a:ext cx="34507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行业应用</a:t>
            </a:r>
            <a:r>
              <a:rPr lang="en-US" sz="15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愿景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5D24D1F6-B71A-53C6-69C2-A7C4719980DB}"/>
              </a:ext>
            </a:extLst>
          </p:cNvPr>
          <p:cNvSpPr/>
          <p:nvPr/>
        </p:nvSpPr>
        <p:spPr>
          <a:xfrm>
            <a:off x="8267700" y="4686300"/>
            <a:ext cx="30861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从单一OS到跨行业应用，Auto语言将扩展至汽车、机器人和通用应用开发</a:t>
            </a:r>
            <a:endParaRPr lang="en-US" sz="12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F86B4179-E66D-62BE-B02E-678908EA30A4}"/>
              </a:ext>
            </a:extLst>
          </p:cNvPr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ED70862-7D71-A893-542E-02CEA7F8E0D4}"/>
              </a:ext>
            </a:extLst>
          </p:cNvPr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74B0AB17-AAE4-E378-E6B0-BB628F2DCC92}"/>
              </a:ext>
            </a:extLst>
          </p:cNvPr>
          <p:cNvSpPr/>
          <p:nvPr/>
        </p:nvSpPr>
        <p:spPr>
          <a:xfrm>
            <a:off x="1066800" y="6067425"/>
            <a:ext cx="11201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outline</a:t>
            </a:r>
            <a:endParaRPr lang="en-US" sz="1050" dirty="0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83A46755-6B19-4670-71F8-15898689DC7C}"/>
              </a:ext>
            </a:extLst>
          </p:cNvPr>
          <p:cNvSpPr/>
          <p:nvPr/>
        </p:nvSpPr>
        <p:spPr>
          <a:xfrm>
            <a:off x="16002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CE50D908-66E8-8E5B-E2B7-65930C63D7E5}"/>
              </a:ext>
            </a:extLst>
          </p:cNvPr>
          <p:cNvSpPr/>
          <p:nvPr/>
        </p:nvSpPr>
        <p:spPr>
          <a:xfrm>
            <a:off x="1676400" y="6067425"/>
            <a:ext cx="13868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"2026"</a:t>
            </a:r>
            <a:endParaRPr lang="en-US" sz="1050" dirty="0"/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67EADF9C-5FFD-7168-EFF6-E63BC2B2CA3E}"/>
              </a:ext>
            </a:extLst>
          </p:cNvPr>
          <p:cNvSpPr/>
          <p:nvPr/>
        </p:nvSpPr>
        <p:spPr>
          <a:xfrm>
            <a:off x="2133600" y="60674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7C48CC3-4142-D1EF-015C-D109D670F2A0}"/>
              </a:ext>
            </a:extLst>
          </p:cNvPr>
          <p:cNvSpPr txBox="1"/>
          <p:nvPr/>
        </p:nvSpPr>
        <p:spPr>
          <a:xfrm>
            <a:off x="4798018" y="3820597"/>
            <a:ext cx="655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+ OS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EDE3A4B-B6D4-4451-7C43-283DFE21647C}"/>
              </a:ext>
            </a:extLst>
          </p:cNvPr>
          <p:cNvSpPr txBox="1"/>
          <p:nvPr/>
        </p:nvSpPr>
        <p:spPr>
          <a:xfrm>
            <a:off x="8696325" y="3851001"/>
            <a:ext cx="6555782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400" b="1" dirty="0">
                <a:solidFill>
                  <a:srgbClr val="22C5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Once, Run Anywhere</a:t>
            </a:r>
            <a:endParaRPr lang="en-US" altLang="zh-CN" sz="1400" dirty="0">
              <a:solidFill>
                <a:srgbClr val="22C55E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C872780-C024-E05A-E374-2CA2D12BD21B}"/>
              </a:ext>
            </a:extLst>
          </p:cNvPr>
          <p:cNvSpPr txBox="1"/>
          <p:nvPr/>
        </p:nvSpPr>
        <p:spPr>
          <a:xfrm>
            <a:off x="4873087" y="1692729"/>
            <a:ext cx="764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60A5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LaOS</a:t>
            </a:r>
            <a:endParaRPr lang="zh-CN" altLang="en-US" dirty="0">
              <a:solidFill>
                <a:srgbClr val="60A5FA"/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F48BE8C-24FF-CA8F-E235-B85F8DE23CD7}"/>
              </a:ext>
            </a:extLst>
          </p:cNvPr>
          <p:cNvSpPr txBox="1"/>
          <p:nvPr/>
        </p:nvSpPr>
        <p:spPr>
          <a:xfrm>
            <a:off x="8610600" y="1664734"/>
            <a:ext cx="764647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800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Language </a:t>
            </a:r>
            <a:r>
              <a:rPr lang="en-US" altLang="zh-CN" sz="1600" b="1" dirty="0">
                <a:solidFill>
                  <a:srgbClr val="EC4899"/>
                </a:solidFill>
              </a:rPr>
              <a:t>×</a:t>
            </a:r>
            <a:r>
              <a:rPr lang="en-US" altLang="zh-CN" sz="1800" dirty="0">
                <a:solidFill>
                  <a:srgbClr val="EC489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</a:t>
            </a:r>
            <a:endParaRPr lang="en-US" altLang="zh-CN" sz="1800" dirty="0">
              <a:solidFill>
                <a:srgbClr val="EC48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48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485900"/>
            <a:ext cx="3454301" cy="419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7145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17907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8701" y="1485900"/>
            <a:ext cx="3454450" cy="419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7301" y="17145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83026" y="17907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27950" y="1485900"/>
            <a:ext cx="3454301" cy="419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56550" y="17145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42275" y="17907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124712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Beyond Single OS - </a:t>
            </a:r>
            <a:r>
              <a:rPr lang="en-US" sz="27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跨行业应用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展望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409700" y="1790700"/>
            <a:ext cx="1828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汽车行业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838200" y="2324100"/>
            <a:ext cx="29971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整车开发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1028700" y="2705100"/>
            <a:ext cx="28066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车载系统一体化开发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028700" y="3048000"/>
            <a:ext cx="28066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座舱</a:t>
            </a:r>
            <a:r>
              <a:rPr lang="en-US" altLang="zh-CN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a2jet/a2ark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028700" y="3390900"/>
            <a:ext cx="28066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SOC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软件：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a2rs/a2c++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028700" y="3733800"/>
            <a:ext cx="28066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MCU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底软：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a2c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5168801" y="1790700"/>
            <a:ext cx="2286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机器人行业</a:t>
            </a:r>
            <a:endParaRPr lang="en-US" sz="1800" dirty="0"/>
          </a:p>
        </p:txBody>
      </p:sp>
      <p:sp>
        <p:nvSpPr>
          <p:cNvPr id="28" name="Text 9"/>
          <p:cNvSpPr/>
          <p:nvPr/>
        </p:nvSpPr>
        <p:spPr>
          <a:xfrm>
            <a:off x="4597301" y="2324100"/>
            <a:ext cx="29972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AutoOS</a:t>
            </a:r>
            <a:r>
              <a:rPr lang="en-US" sz="1350" dirty="0">
                <a:solidFill>
                  <a:srgbClr val="FDE0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= ROS++</a:t>
            </a:r>
            <a:endParaRPr lang="en-US" sz="1350" dirty="0"/>
          </a:p>
        </p:txBody>
      </p:sp>
      <p:sp>
        <p:nvSpPr>
          <p:cNvPr id="29" name="Text 10"/>
          <p:cNvSpPr/>
          <p:nvPr/>
        </p:nvSpPr>
        <p:spPr>
          <a:xfrm>
            <a:off x="4787801" y="2705100"/>
            <a:ext cx="28067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主控芯片：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a2rs/a2c++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4787801" y="3048000"/>
            <a:ext cx="28067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执行器：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a2c</a:t>
            </a:r>
            <a:endParaRPr lang="en-US" sz="1200" dirty="0"/>
          </a:p>
        </p:txBody>
      </p:sp>
      <p:sp>
        <p:nvSpPr>
          <p:cNvPr id="32" name="Text 13"/>
          <p:cNvSpPr/>
          <p:nvPr/>
        </p:nvSpPr>
        <p:spPr>
          <a:xfrm>
            <a:off x="4787801" y="3390900"/>
            <a:ext cx="28067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大小脑：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a2py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8928050" y="1790700"/>
            <a:ext cx="1828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</a:t>
            </a:r>
            <a:r>
              <a:rPr lang="zh-CN" alt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</a:t>
            </a:r>
            <a:r>
              <a:rPr lang="en-US" sz="18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</a:t>
            </a:r>
            <a:endParaRPr lang="en-US" sz="1800" dirty="0"/>
          </a:p>
        </p:txBody>
      </p:sp>
      <p:sp>
        <p:nvSpPr>
          <p:cNvPr id="35" name="Text 16"/>
          <p:cNvSpPr/>
          <p:nvPr/>
        </p:nvSpPr>
        <p:spPr>
          <a:xfrm>
            <a:off x="8356550" y="2324100"/>
            <a:ext cx="29971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350" dirty="0">
                <a:solidFill>
                  <a:srgbClr val="F9A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真</a:t>
            </a:r>
            <a:r>
              <a:rPr lang="en-US" sz="1350" dirty="0" err="1">
                <a:solidFill>
                  <a:srgbClr val="F9A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全栈开发</a:t>
            </a:r>
            <a:endParaRPr lang="en-US" sz="1350" dirty="0"/>
          </a:p>
        </p:txBody>
      </p:sp>
      <p:sp>
        <p:nvSpPr>
          <p:cNvPr id="36" name="Text 17"/>
          <p:cNvSpPr/>
          <p:nvPr/>
        </p:nvSpPr>
        <p:spPr>
          <a:xfrm>
            <a:off x="8547050" y="2705100"/>
            <a:ext cx="42243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前后端统一开发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8547050" y="3048000"/>
            <a:ext cx="28066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跨平台UI框架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8547050" y="3390900"/>
            <a:ext cx="28542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后端服务与数据库集成</a:t>
            </a:r>
            <a:endParaRPr lang="en-US" sz="1200" dirty="0"/>
          </a:p>
        </p:txBody>
      </p:sp>
      <p:sp>
        <p:nvSpPr>
          <p:cNvPr id="39" name="Text 20"/>
          <p:cNvSpPr/>
          <p:nvPr/>
        </p:nvSpPr>
        <p:spPr>
          <a:xfrm>
            <a:off x="8547050" y="3733800"/>
            <a:ext cx="34251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自适配跨端调用</a:t>
            </a:r>
            <a:endParaRPr lang="en-US" sz="1200" dirty="0"/>
          </a:p>
        </p:txBody>
      </p:sp>
      <p:sp>
        <p:nvSpPr>
          <p:cNvPr id="41" name="Text 22"/>
          <p:cNvSpPr/>
          <p:nvPr/>
        </p:nvSpPr>
        <p:spPr>
          <a:xfrm>
            <a:off x="609600" y="6029325"/>
            <a:ext cx="6400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42" name="Text 23"/>
          <p:cNvSpPr/>
          <p:nvPr/>
        </p:nvSpPr>
        <p:spPr>
          <a:xfrm>
            <a:off x="914400" y="6029325"/>
            <a:ext cx="3200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43" name="Text 24"/>
          <p:cNvSpPr/>
          <p:nvPr/>
        </p:nvSpPr>
        <p:spPr>
          <a:xfrm>
            <a:off x="1066800" y="6029325"/>
            <a:ext cx="224028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cross_platform</a:t>
            </a:r>
            <a:endParaRPr lang="en-US" sz="1050" dirty="0"/>
          </a:p>
        </p:txBody>
      </p:sp>
      <p:sp>
        <p:nvSpPr>
          <p:cNvPr id="44" name="Text 25"/>
          <p:cNvSpPr/>
          <p:nvPr/>
        </p:nvSpPr>
        <p:spPr>
          <a:xfrm>
            <a:off x="2133600" y="60293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5" name="Text 26"/>
          <p:cNvSpPr/>
          <p:nvPr/>
        </p:nvSpPr>
        <p:spPr>
          <a:xfrm>
            <a:off x="2209800" y="6029325"/>
            <a:ext cx="85344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6" name="Text 27"/>
          <p:cNvSpPr/>
          <p:nvPr/>
        </p:nvSpPr>
        <p:spPr>
          <a:xfrm>
            <a:off x="2232027" y="6029325"/>
            <a:ext cx="160020" cy="1714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D0627DB7-28E2-92AC-ED1B-75E06B705208}"/>
              </a:ext>
            </a:extLst>
          </p:cNvPr>
          <p:cNvSpPr/>
          <p:nvPr/>
        </p:nvSpPr>
        <p:spPr>
          <a:xfrm>
            <a:off x="1028699" y="4071868"/>
            <a:ext cx="280660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车内通讯：</a:t>
            </a:r>
            <a:r>
              <a:rPr lang="en-US" altLang="zh-CN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vbus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for (ETH/CAN/LIN/..)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081E-2D28-0C66-1281-964FFE60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16BF322-3418-27A7-2FAF-0E4B42A9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0FE4E9E-2E91-0CF5-E491-2BA770F82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EF0A952-F2B3-FF38-9893-AC7118AEE2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sp>
        <p:nvSpPr>
          <p:cNvPr id="19" name="Text 0">
            <a:extLst>
              <a:ext uri="{FF2B5EF4-FFF2-40B4-BE49-F238E27FC236}">
                <a16:creationId xmlns:a16="http://schemas.microsoft.com/office/drawing/2014/main" id="{78DB3590-35F4-C9E8-A75F-364DB7AEB09A}"/>
              </a:ext>
            </a:extLst>
          </p:cNvPr>
          <p:cNvSpPr/>
          <p:nvPr/>
        </p:nvSpPr>
        <p:spPr>
          <a:xfrm>
            <a:off x="609600" y="609600"/>
            <a:ext cx="11247120" cy="4953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Beyond Single OS - </a:t>
            </a:r>
            <a:r>
              <a:rPr lang="en-US" sz="2700" b="1" dirty="0" err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跨行业应用</a:t>
            </a:r>
            <a:r>
              <a:rPr lang="zh-CN" altLang="en-US" sz="2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展望</a:t>
            </a:r>
            <a:endParaRPr lang="en-US" sz="27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061D46C-6C4C-6218-FD30-50C85F2576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5845" y="1319172"/>
            <a:ext cx="8980310" cy="481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6231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531" y="814631"/>
            <a:ext cx="2333139" cy="233313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603" y="4679994"/>
            <a:ext cx="1655144" cy="1655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825" y="2429425"/>
            <a:ext cx="2342051" cy="234205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877" y="1134877"/>
            <a:ext cx="1616446" cy="161644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1944" y="3943544"/>
            <a:ext cx="1866512" cy="18665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53013" y="647700"/>
            <a:ext cx="714375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1295400"/>
            <a:ext cx="1219200" cy="38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9575" y="5968887"/>
            <a:ext cx="4150802" cy="4476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053013" y="609600"/>
            <a:ext cx="20859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Q&amp;A</a:t>
            </a:r>
            <a:endParaRPr lang="en-US" sz="4500" dirty="0"/>
          </a:p>
        </p:txBody>
      </p:sp>
      <p:sp>
        <p:nvSpPr>
          <p:cNvPr id="23" name="Text 1"/>
          <p:cNvSpPr/>
          <p:nvPr/>
        </p:nvSpPr>
        <p:spPr>
          <a:xfrm>
            <a:off x="3969841" y="5029218"/>
            <a:ext cx="425231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感谢您的关注</a:t>
            </a:r>
            <a:endParaRPr lang="en-US" sz="2250" dirty="0"/>
          </a:p>
        </p:txBody>
      </p:sp>
      <p:sp>
        <p:nvSpPr>
          <p:cNvPr id="24" name="Text 2"/>
          <p:cNvSpPr/>
          <p:nvPr/>
        </p:nvSpPr>
        <p:spPr>
          <a:xfrm>
            <a:off x="1905000" y="5507566"/>
            <a:ext cx="838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我们期待与您深入交流，共同探讨Auto语言的未来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2584798" y="3995849"/>
            <a:ext cx="16439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项目</a:t>
            </a:r>
            <a:r>
              <a:rPr lang="zh-CN" alt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仓库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1651682" y="4553504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github.com/auto-stack/auto-lang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5521001" y="3994423"/>
            <a:ext cx="11499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zh-CN" alt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微信群</a:t>
            </a:r>
            <a:endParaRPr lang="en-US" sz="1350" dirty="0"/>
          </a:p>
        </p:txBody>
      </p:sp>
      <p:sp>
        <p:nvSpPr>
          <p:cNvPr id="30" name="Text 8"/>
          <p:cNvSpPr/>
          <p:nvPr/>
        </p:nvSpPr>
        <p:spPr>
          <a:xfrm>
            <a:off x="4815838" y="4354345"/>
            <a:ext cx="2560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Auto</a:t>
            </a:r>
            <a:r>
              <a:rPr lang="zh-CN" alt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语言讨论群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2901072" y="5968887"/>
            <a:ext cx="6828561" cy="4476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chemeClr val="accent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Made</a:t>
            </a:r>
            <a:r>
              <a:rPr lang="en-US" sz="1800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</a:t>
            </a:r>
            <a:r>
              <a:rPr lang="en-US" sz="1800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 </a:t>
            </a:r>
            <a:r>
              <a:rPr lang="en-US" sz="180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</a:t>
            </a:r>
            <a:r>
              <a:rPr lang="en-US" sz="1800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 </a:t>
            </a:r>
            <a:r>
              <a:rPr lang="en-US" sz="180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OF</a:t>
            </a:r>
            <a:r>
              <a:rPr lang="en-US" sz="1800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</a:t>
            </a:r>
            <a:endParaRPr lang="en-US" sz="1800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38E707C-0512-4F4B-3B2C-8B62AA7E98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0528" y="1693608"/>
            <a:ext cx="2062644" cy="2055075"/>
          </a:xfrm>
          <a:prstGeom prst="rect">
            <a:avLst/>
          </a:prstGeom>
        </p:spPr>
      </p:pic>
      <p:sp>
        <p:nvSpPr>
          <p:cNvPr id="34" name="Text 4">
            <a:extLst>
              <a:ext uri="{FF2B5EF4-FFF2-40B4-BE49-F238E27FC236}">
                <a16:creationId xmlns:a16="http://schemas.microsoft.com/office/drawing/2014/main" id="{E0B6A86D-7283-137C-2ECC-270FAB70618D}"/>
              </a:ext>
            </a:extLst>
          </p:cNvPr>
          <p:cNvSpPr/>
          <p:nvPr/>
        </p:nvSpPr>
        <p:spPr>
          <a:xfrm>
            <a:off x="1679390" y="4383670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gitcode.com/auto-stack/auto-lang</a:t>
            </a:r>
            <a:endParaRPr lang="en-US" sz="12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7E3F79E-4500-8102-9B2B-357799154CAA}"/>
              </a:ext>
            </a:extLst>
          </p:cNvPr>
          <p:cNvGrpSpPr/>
          <p:nvPr/>
        </p:nvGrpSpPr>
        <p:grpSpPr>
          <a:xfrm>
            <a:off x="2408924" y="1779692"/>
            <a:ext cx="1765399" cy="1765998"/>
            <a:chOff x="5418879" y="1488666"/>
            <a:chExt cx="1350497" cy="1350497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93A4B3F0-C729-E95E-1F5D-32CF443AC003}"/>
                </a:ext>
              </a:extLst>
            </p:cNvPr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形 37">
              <a:extLst>
                <a:ext uri="{FF2B5EF4-FFF2-40B4-BE49-F238E27FC236}">
                  <a16:creationId xmlns:a16="http://schemas.microsoft.com/office/drawing/2014/main" id="{57D8DB13-C0BA-5C64-1996-8FAB0B0E1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  <p:sp>
        <p:nvSpPr>
          <p:cNvPr id="39" name="Text 4">
            <a:extLst>
              <a:ext uri="{FF2B5EF4-FFF2-40B4-BE49-F238E27FC236}">
                <a16:creationId xmlns:a16="http://schemas.microsoft.com/office/drawing/2014/main" id="{9CEFF8B9-1D5F-D402-DBF9-1BDD2FABDE52}"/>
              </a:ext>
            </a:extLst>
          </p:cNvPr>
          <p:cNvSpPr/>
          <p:nvPr/>
        </p:nvSpPr>
        <p:spPr>
          <a:xfrm>
            <a:off x="1604515" y="4227677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gitee.com/auto-stack/auto-lang</a:t>
            </a:r>
            <a:endParaRPr lang="en-US" sz="1200" dirty="0"/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00D27D30-52ED-A264-71C8-28500867C25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1461" y="1736109"/>
            <a:ext cx="2022296" cy="2002469"/>
          </a:xfrm>
          <a:prstGeom prst="rect">
            <a:avLst/>
          </a:prstGeom>
        </p:spPr>
      </p:pic>
      <p:sp>
        <p:nvSpPr>
          <p:cNvPr id="42" name="Text 7">
            <a:extLst>
              <a:ext uri="{FF2B5EF4-FFF2-40B4-BE49-F238E27FC236}">
                <a16:creationId xmlns:a16="http://schemas.microsoft.com/office/drawing/2014/main" id="{5DA4D960-0703-5BCC-867A-E2CB70EFC06C}"/>
              </a:ext>
            </a:extLst>
          </p:cNvPr>
          <p:cNvSpPr/>
          <p:nvPr/>
        </p:nvSpPr>
        <p:spPr>
          <a:xfrm>
            <a:off x="8144585" y="3980640"/>
            <a:ext cx="19691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2100"/>
              </a:lnSpc>
            </a:pPr>
            <a:r>
              <a:rPr lang="zh-CN" alt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公众号</a:t>
            </a:r>
            <a:endParaRPr lang="en-US" sz="135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B21431F9-DE94-D460-F246-01E795D66D82}"/>
              </a:ext>
            </a:extLst>
          </p:cNvPr>
          <p:cNvSpPr/>
          <p:nvPr/>
        </p:nvSpPr>
        <p:spPr>
          <a:xfrm>
            <a:off x="8144585" y="4321937"/>
            <a:ext cx="196917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altLang="zh-CN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PLOC</a:t>
            </a:r>
            <a:r>
              <a:rPr lang="zh-CN" alt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</a:rPr>
              <a:t>国产语言联盟</a:t>
            </a:r>
            <a:endParaRPr lang="en-US" sz="1200" dirty="0">
              <a:solidFill>
                <a:srgbClr val="9CA3AF"/>
              </a:solidFill>
              <a:latin typeface="ui-sans-serif" pitchFamily="34" charset="0"/>
              <a:ea typeface="ui-sans-serif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2454</TotalTime>
  <Words>2161</Words>
  <Application>Microsoft Office PowerPoint</Application>
  <PresentationFormat>宽屏</PresentationFormat>
  <Paragraphs>704</Paragraphs>
  <Slides>37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Noto Sans SC</vt:lpstr>
      <vt:lpstr>ui-monospace</vt:lpstr>
      <vt:lpstr>ui-sans-serif</vt:lpstr>
      <vt:lpstr>Arial</vt:lpstr>
      <vt:lpstr>Source Code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soutek</cp:lastModifiedBy>
  <cp:revision>443</cp:revision>
  <dcterms:created xsi:type="dcterms:W3CDTF">2026-03-24T02:24:23Z</dcterms:created>
  <dcterms:modified xsi:type="dcterms:W3CDTF">2026-03-26T14:52:49Z</dcterms:modified>
</cp:coreProperties>
</file>