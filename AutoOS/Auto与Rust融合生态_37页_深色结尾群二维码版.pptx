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98" r:id="rId6"/>
    <p:sldId id="258" r:id="rId7"/>
    <p:sldId id="259" r:id="rId8"/>
    <p:sldId id="260" r:id="rId9"/>
    <p:sldId id="261" r:id="rId10"/>
    <p:sldId id="262" r:id="rId11"/>
    <p:sldId id="301" r:id="rId12"/>
    <p:sldId id="299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300" r:id="rId21"/>
    <p:sldId id="293" r:id="rId22"/>
    <p:sldId id="294" r:id="rId23"/>
    <p:sldId id="295" r:id="rId24"/>
    <p:sldId id="296" r:id="rId25"/>
    <p:sldId id="297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2" Type="http://schemas.openxmlformats.org/officeDocument/2006/relationships/tableStyles" Target="tableStyles.xml"/><Relationship Id="rId51" Type="http://schemas.openxmlformats.org/officeDocument/2006/relationships/viewProps" Target="viewProps.xml"/><Relationship Id="rId50" Type="http://schemas.openxmlformats.org/officeDocument/2006/relationships/presProps" Target="presProps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开场约 30 秒。主题不是再介绍一门替代 Rust 的语言，而是为 Rust 增加可以脚本迭代的应用层。先展示生态，再解释 GUI 和语言与 Rust 各自负责什么。报告按 30–40 分钟的技术展开组织；若时间较短，可把语法对照作为演示或答疑材料。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D:/autostack/auto-lang/README.cn.md</a:t>
            </a:r>
          </a:p>
          <a:p>
            <a:r>
              <a:t>封面背景：由内置 imagegen 于2026-10-16生成。提示词摘要：深蓝技术报告背景，左侧留白，右侧半透明系统层与蓝色连接，铜色核心，无文字与标志。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导航。报告按三个主题展开：首先展示AutoOS桌面和应用，介绍与Linux或Rust内核结合的发行版战略；接着讲AutoUI如何通过不同后端支持多个平台，并展示开发工具；最后讨论Auto语言如何融入Rust生态，以AutoVM解释执行提高开发周转速度，以a2r转译发布获得Rust部署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章节过渡页。AutoOS：跨 OS 桌面、应用生态与发行版路线。停顿片刻后进入下一页。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50 秒。先让观众建立视觉印象：任务栏、桌面小组件，以及同屏编辑器、待办和日历。当前是运行在已有 OS 之上的虚拟桌面，Rust/iced 提供宿主窗口和绘制，Auto 提供应用描述与逻辑。独立发行版是后续战略。截图为官网共享的 2026-10-01 原图。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D:/autostack/auto-lang/README.cn.md</a:t>
            </a:r>
          </a:p>
          <a:p>
            <a:r>
              <a:t>D:/autostack/auto-lang/website/public/desktop-showcase/02-desktop-dark.png</a:t>
            </a:r>
          </a:p>
          <a:p>
            <a:r>
              <a:t>D:/autostack/auto-lang/website/public/desktop-showcase/06-productivity-dark.png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70 秒。AutoEdit 负责代码/文本，AutoShell 负责命令与结构化数据，AutoMusk 负责 Coding Agent，AutoJade 负责文档与本地知识库。这些是真实项目截图，各产品由 Auto 与 Rust 共同构建。强调 Rust 能力不因应用层使用 Auto 而丢失。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D:/autostack/auto-lang/README.cn.md</a:t>
            </a:r>
          </a:p>
          <a:p>
            <a:r>
              <a:t>D:/autostack/auto-lang/website/public/apps/autoedit/overview-dark.png</a:t>
            </a:r>
          </a:p>
          <a:p>
            <a:r>
              <a:t>D:/autostack/auto-lang/website/public/apps/autoshell/ash-01.png</a:t>
            </a:r>
          </a:p>
          <a:p>
            <a:r>
              <a:t>D:/autostack/auto-lang/website/public/v05/automusk-workspace.png</a:t>
            </a:r>
          </a:p>
          <a:p>
            <a:r>
              <a:t>D:/autostack/auto-lang/website/public/apps/auto-jade/p1-main-dark.png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55 秒。AutoMusk 将对话、工具、Plan、Spec 和执行连接成 Coding Agent 工作流，AutoJade 面向文档、双链与本地知识库。两者展示 Auto 生态在开发和知识工作中的应用，不把当前产品界面当作内核能力。四个主力应用共同检验 AutoUI、VM桥、Rust宿主和标准库。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D:/autostack/auto-lang/README.cn.md</a:t>
            </a:r>
          </a:p>
          <a:p>
            <a:r>
              <a:t>D:/autostack/auto-lang/website/public/v05/automusk-workspace.png</a:t>
            </a:r>
          </a:p>
          <a:p>
            <a:r>
              <a:t>D:/autostack/auto-lang/website/public/apps/auto-jade/p1-main-dark.png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75 秒。此页按本次用户明确给出的战略组织。第一步以跨平台 AutoUI 构建跨 OS 的虚拟桌面与应用生态；第二步结合 Linux 内核，或合适的 Rust 内核，形成独立部署系统与完整发行版；第三步面向 MCU/SoC 等专用场景研究自主内核。第二、三步均是目标，不能将桌面已经运行等同于内核、驱动和发行工程已完成。Linux 路线的发行版需要用户态、系统服务、包与更新体系，不只是更换 UI。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D:/autostack/auto-lang/README.cn.md</a:t>
            </a:r>
          </a:p>
          <a:p>
            <a:r>
              <a:t>D:/autostack/auto-lang/website/zh/os.md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80 秒。精确表述：Pop!_OS 是发行版，COSMIC 是 Rust 桌面环境，libcosmic 是基于 iced 的桌面应用工具包；iced 不承担 Linux 内核工作。Auto 可借鉴这种 Rust 图形用户态加 Linux 的组合。AutoOS 的差异是引入统一脚本应用层、AutoUI 和开发反馈回路。此页是路线对照，不是已完成兼容或复用 libcosmic 的声明。</a:t>
            </a:r>
          </a:p>
          <a:p/>
          <a:p>
            <a:r>
              <a:t>来源（资料截点 2026-10-16，auto-lang HEAD e4ac72a62）：</a:t>
            </a:r>
          </a:p>
          <a:p>
            <a:r>
              <a:t>https://github.com/pop-os/libcosmic</a:t>
            </a:r>
          </a:p>
          <a:p>
            <a:r>
              <a:t>https://github.com/pop-os/cosmic-epoch</a:t>
            </a:r>
          </a:p>
          <a:p>
            <a:r>
              <a:t>D:/autostack/auto-lang/docs/specs/auto-lang/ui/overview.md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约90秒。此页是结合方案与教学实践路线，不是已完成集成的成果。AutoOS作为用户态桌面与应用外壳，内核负责进程调度、地址空间、文件与设备等。平台适配层需要按具体目标实现应用装载/ELF/ABI、libc或Rust std与依赖的运行时能力、分配器、线程/时钟/事件循环、图形表面与输入、文件与网络等。Rust源代码能编译并不意味着iced、winit或GPU/窗口系统可直接运行；图形阶段可以从软件渲染及framebuffer/输入驱动的小型宿主探针切入，是否采用该方案须另行验证。不要把桌面应用或VM直接链接进内核当作默认集成形态。</a:t>
            </a:r>
          </a:p>
          <a:p/>
          <a:p>
            <a:r>
              <a:t>uCore：官方教学仓库包括用户进程、调度、同步、文件系统实验；本页提出先构造最小用户态程序与系统调用包装，再按应用实际依赖补齐服务，不能推导它已支持完整Linux ABI。</a:t>
            </a:r>
          </a:p>
          <a:p>
            <a:r>
              <a:t>rCore：历史rCore仓库描述Linux兼容系统调用等能力，仓库也标明不再维护；当前教学rCore-Tutorial-v3具有自己的user_lib和syscall接口，initproc启动user_shell。需选定具体仓库/分支和ABI，不能混为一谈。即使内核用Rust，也不自动提供应用所需Rust std或GUI宿主环境。</a:t>
            </a:r>
          </a:p>
          <a:p>
            <a:r>
              <a:t>zCore：官方README描述Zircon与Linux模式、bare-metal与libos方式，并给出busybox/musl用户态运行方式。Linux兼容路径是优先评估的候选，不保证AutoOS所有syscall、异步、图形或动态加载依赖均已覆盖。建议先在QEMU运行命令行程序与文件操作，再验证图形、输入与桌面；这些是基于资料和当前AutoOS边界提出的工程推断。</a:t>
            </a:r>
          </a:p>
          <a:p/>
          <a:p>
            <a:r>
              <a:t>资料核对日期：2026-10-19。</a:t>
            </a:r>
          </a:p>
          <a:p>
            <a:r>
              <a:t>本地：D:/autostack/auto-lang/website/zh/os.md</a:t>
            </a:r>
          </a:p>
          <a:p>
            <a:r>
              <a:t>官方来源：</a:t>
            </a:r>
          </a:p>
          <a:p>
            <a:r>
              <a:t>https://github.com/chyyuu/ucore_lab</a:t>
            </a:r>
          </a:p>
          <a:p>
            <a:r>
              <a:t>https://github.com/rcore-os/rCore</a:t>
            </a:r>
          </a:p>
          <a:p>
            <a:r>
              <a:t>https://rcore-os.cn/rCore-Tutorial-Book-v3/chapter5/1process.html</a:t>
            </a:r>
          </a:p>
          <a:p>
            <a:r>
              <a:t>https://github.com/rcore-os/zCore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章节过渡页。AutoUI：跨平台界面与 Rust / iced 后端。停顿片刻后进入下一页。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75 秒。这里展示已存在的生成器与主力消费路径。Web 是 Vue + TypeScript；桌面原生路径是 Rust/iced，支持 Win/Linux/macOS 这一跨平台目标；鸿蒙走 ArkTS，安卓走 Kotlin/Jetpack Compose。Web 与原生桌面是主路径，移动端已有可行性和 demo，不把桌面所有复杂组件的覆盖推给移动端。移动生成策略来自用户的方向与当前 UI 文档。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D:/autostack/auto-lang/docs/language/overview.cn.md</a:t>
            </a:r>
          </a:p>
          <a:p>
            <a:r>
              <a:t>D:/autostack/auto-lang/website/ui/index.md</a:t>
            </a:r>
          </a:p>
          <a:p>
            <a:r>
              <a:t>D:/autostack/auto-lang/docs/specs/auto-lang/ui/overview.md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60 秒。通过文件管理器、图表、音乐播放器和日历说明组件组合覆盖不同应用形态。Rust 一侧提供文件系统、图形、音频等底座，Auto 一侧组织界面、状态与交互。示例截图用于说明应用能力，不作为跨端完全一致或性能测量。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D:/autostack/auto-lang/website/public/apps/demos/file-manager.png</a:t>
            </a:r>
          </a:p>
          <a:p>
            <a:r>
              <a:t>D:/autostack/auto-lang/website/public/apps/demos/charts.png</a:t>
            </a:r>
          </a:p>
          <a:p>
            <a:r>
              <a:t>D:/autostack/auto-lang/website/public/apps/demos/music-player.png</a:t>
            </a:r>
          </a:p>
          <a:p>
            <a:r>
              <a:t>D:/autostack/auto-lang/website/public/apps/demos/calendar.png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60秒。接在系统工具、图表和媒体Demo页之后，展示娱乐类原生应用。图片查看器的工具栏展示文件/目录、全屏、缩放、适应窗口与旋转；视频播放器展示播放画面、媒体队列、进度、音量与速度控制；纸牌接龙展示牌桌、计时、步数和撤销等交互；扫雷展示难度切换、计时、棋盘和结束状态。借这些小应用说明AutoUI能够组织媒体视图与游戏状态，具体解码、文件访问、渲染等能力由宿主和相应库承担。不从截图推导全部后端功能相同或声称已经完成性能测试。</a:t>
            </a:r>
          </a:p>
          <a:p/>
          <a:p>
            <a:r>
              <a:t>来源：用户本轮提供的四种应用截图，已嵌入本页。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90 秒。计数器节选只保留加一。AURA 提取视图树、状态定义和逻辑载荷，使语言层不绑定到 iced 的泛型控件类型。VM 轨由 VmBridge 执行 handler，Rust 轨生成原生代码；iced 负责原生窗口、控件和事件。把 UI 写在 Auto 不等于逐个重写 Rust 图形库。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D:/autostack/auto-lang/examples/ui/002-counter/src/front/app.at</a:t>
            </a:r>
          </a:p>
          <a:p>
            <a:r>
              <a:t>D:/autostack/auto-lang/docs/specs/auto-lang/ui/design/aura-pipeline.md</a:t>
            </a:r>
          </a:p>
          <a:p>
            <a:r>
              <a:t>D:/autostack/auto-lang/docs/specs/auto-lang/ui/overview.md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95 秒。当前 dynamic.rs reload 的具体流程是快照旧状态、为新 widget 创建 VM Bridge、迁移字段、替换 bridge 和视图模板并置脏。这里旧字段定义传空，按同名字段保留并对新字段使用默认值，不能声称完成了通用类型安全状态迁移。源码变化触发重新解析/重建脚本，通常无需重编 iced 或依赖库。Rust 宿主/FFI 改动仍需构建。与后面规划的原生 DLL 代际切换不同。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D:/autostack/auto-lang/crates/auto-lang/src/ui/dynamic.rs</a:t>
            </a:r>
          </a:p>
          <a:p>
            <a:r>
              <a:t>D:/autostack/auto-lang/crates/auto-lang/src/ui/state_migration.rs</a:t>
            </a:r>
          </a:p>
          <a:p>
            <a:r>
              <a:t>D:/autostack/auto-lang/docs/specs/auto-lang/ui/design/vm-host-stability.md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90秒。以用户提供的照片图库截图介绍原生DevTools。左侧是真实运行的原生照片图库，右半部分是与应用并排的工具界面。中间树按Column、Row、Button和Text展开，与界面结构对应；截图选中了内容为“全部照片”的Text节点。最右边的面包屑展示层级路径，Properties给出kind: Text、path和content。可以用它追踪渲染结果与组件结构的关系，检查文本或布局问题。顶部同时能看到检视、控制台与采样入口；当前画面实际展示的是检视，不把它说成性能采样结果。</a:t>
            </a:r>
          </a:p>
          <a:p/>
          <a:p>
            <a:r>
              <a:t>MCP提供snapshot、inspect、输入、操作与截图接口，使工具和AI能够读取和驱动UI。截图本身展示人用DevTools，MCP能力由框架文档说明，两者共同构成观察、操作、验证和修复回路。</a:t>
            </a:r>
          </a:p>
          <a:p/>
          <a:p>
            <a:r>
              <a:t>来源：用户本轮提供的截图（已嵌入PPT）。</a:t>
            </a:r>
          </a:p>
          <a:p>
            <a:r>
              <a:t>D:/autostack/auto-lang/docs/guides/autoui-verification-and-mcp-guide.md</a:t>
            </a:r>
          </a:p>
          <a:p>
            <a:r>
              <a:t>D:/autostack/auto-lang/docs/specs/auto-lang/ui/overview.md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75 秒。说明开发时 Auto + VM + 同一套 Rust 能力库，发布时 Auto 经 a2r 生成 Rust，再由 Cargo 构建。脚本反馈快与原生发布共存。生成 Rust 并不强制每个应用彻底无 VM：复杂宿主可能继续保留脚本会话；对已转译的逻辑，执行的是生成 Rust 的机器码。这个边界让后续统一 Runtime 设计有自然动机。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D:/autostack/auto-lang/docs/script-to-ship/ch06-ship-release.md</a:t>
            </a:r>
          </a:p>
          <a:p>
            <a:r>
              <a:t>D:/autostack/auto-lang/docs/design/28-rust-interop-architecture.md</a:t>
            </a:r>
          </a:p>
          <a:p>
            <a:r>
              <a:t>D:/autostack/auto-lang/docs/specs/auto-lang/ui/design/a2r-app-mapping-completeness.md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章节过渡页。Auto 语言与 Rust 融合：语言演化、解释执行与原生发布。停顿片刻后进入下一页。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45秒。起点是基础配置语言，先改善数据的书写体验。左边是标准JSON，右边是同一组数据的AutoConfig写法。支持注释、无引号键名，换行可作分隔符。此阶段强调结构化数据，并未引入控制流。JSON超集是数据格式层的设计目标，不意味着任意JSON语法在任意表达式位置都无需语境处理。</a:t>
            </a:r>
          </a:p>
          <a:p/>
          <a:p>
            <a:r>
              <a:t>历史阶段划分依据：报告作者本轮提供的演化主线，不虚构发布时间。示例为仓库材料的教学节选或改编，未重新编译仓库。核对日期：2026-10-19。</a:t>
            </a:r>
          </a:p>
          <a:p/>
          <a:p>
            <a:r>
              <a:t>参考：</a:t>
            </a:r>
          </a:p>
          <a:p>
            <a:r>
              <a:t>D:/autostack/auto-lang/docs/design/raw/atom.md</a:t>
            </a:r>
          </a:p>
          <a:p>
            <a:r>
              <a:t>D:/autostack/auto-lang/docs/design/07-data-structures.md</a:t>
            </a:r>
          </a:p>
          <a:p>
            <a:r>
              <a:t>D:/autostack/auto-lang/docs/language/specification.md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约55秒。Node在这里指结构化数据节点，不是Node.js。它把名称、属性、子节点放在一起，获得XML式树结构的表达力。左侧XML与右侧Atom表达同一组数据，示例直接节选自atom原始设计。Atom是AuTo Object Markup，是Auto的静态数据子集。此处的兼容指结构表达能力与数据映射，不宣称完整实现XML命名空间、DTD或所有XML语法。Node格式随后自然用于UI树和代码生成。</a:t>
            </a:r>
          </a:p>
          <a:p/>
          <a:p>
            <a:r>
              <a:t>历史阶段划分依据：报告作者本轮提供的演化主线，不虚构发布时间。示例为仓库材料的教学节选或改编，未重新编译仓库。核对日期：2026-10-19。</a:t>
            </a:r>
          </a:p>
          <a:p/>
          <a:p>
            <a:r>
              <a:t>参考：</a:t>
            </a:r>
          </a:p>
          <a:p>
            <a:r>
              <a:t>D:/autostack/auto-lang/docs/design/raw/atom.md</a:t>
            </a:r>
          </a:p>
          <a:p>
            <a:r>
              <a:t>D:/autostack/auto-lang/docs/design/07-data-structures.md</a:t>
            </a:r>
          </a:p>
          <a:p>
            <a:r>
              <a:t>D:/autostack/auto-lang/docs/language/specification.md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60秒。加入var、fn、if和for后，可以计算配置并构造结构化节点。bands中每项为[分数,考生人数]，95分档12人、58分档8人、81分档20人；这些人数是预先汇总的示例数据，不是从三个单个考生计算得出。循环只处理60分及以上的分档：先print分数，再构造score-info节点，其score属性记录分数，candidates属性记录该分档人数。通过这一行，演示动态逻辑与Atom节点语法共存。节点构造本身不等于自动print或自动写出文件，实际序列化由配置/模板消费方处理。
来源：用户本轮修改要求；D:/autostack/auto-lang/docs/design/raw/atom.md；docs/language/specification.md的标识符和Nodes章节；docs/tour/ch04-control/02_for_loop.at；crates/auto-lex/src/lexer.rs的test_hyphenated_identifiers。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70秒。由动态配置走向可静态发布的程序。type及方法对应结构化数据与对象行为，泛型参数描述复用关系，标注把额外信息交给编译器与工具链。代码基于generic_methods.at中的Pair&lt;K,V&gt;和get_val方法节选，并组合a2r derive_attr语料中已存在的#[derive(Debug,Clone)]标注，调用使用顶层语句简写。类型与内联方法经a2r映射为Rust struct/impl，泛型和受支持的属性由Rust工具链继续检查。OOP在此指数据加方法的组织，不宣称完整Java式类继承。仅在支持范围内映射Rust，不代表任意Rust语法均已覆盖。</a:t>
            </a:r>
          </a:p>
          <a:p/>
          <a:p>
            <a:r>
              <a:t>历史阶段划分依据：报告作者本轮提供的演化主线，不虚构发布时间。示例为仓库材料的教学节选或改编，未重新编译仓库。核对日期：2026-10-19。</a:t>
            </a:r>
          </a:p>
          <a:p/>
          <a:p>
            <a:r>
              <a:t>参考：</a:t>
            </a:r>
          </a:p>
          <a:p>
            <a:r>
              <a:t>D:/autostack/auto-lang/test/generic/generic_methods.at</a:t>
            </a:r>
          </a:p>
          <a:p>
            <a:r>
              <a:t>D:/autostack/auto-lang/docs/tour/ch09-generics/02_generic_type.at</a:t>
            </a:r>
          </a:p>
          <a:p>
            <a:r>
              <a:t>D:/autostack/auto-lang/crates/auto-lang/test/a2r/14_modules/008_derive_attr/derive_attr.at</a:t>
            </a:r>
          </a:p>
          <a:p>
            <a:r>
              <a:t>D:/autostack/auto-lang/crates/auto-lang/test/a2r/14_modules/008_derive_attr/derive_attr.expected.rs</a:t>
            </a:r>
          </a:p>
          <a:p>
            <a:r>
              <a:t>D:/autostack/auto-lang/docs/language/overview.cn.md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约70秒。CTE是Compile-Time Execution。解释器与转译器相遇：编译前端先对AST执行CTEE变换，复用VmInterpreter进行求值，再由a2r转译保留的程序。例子以parser中test_parse_hash_if_simple的#if true为基础，将分支体改为简单函数定义，表示编译期只保留选中的定义。右边是经过条件裁剪后的Auto代码，刻意不冒充a2r逐字符生成的Rust。CTEE::transform_hash_if对顶层语句裁剪，直接布尔字面量在eval_expr中求值，符合当前实现。已实现的语句级#if/#for/#is/#{}与尚未完成的表达式级#{expr}替换要区分；不能以数值正确证明编译期执行。#for仍有整数上界等限制，完整沙箱、限额和Rust全语法兼容均未完成。演进的意义在于形成解释执行、转译发布与受支持元编程的共同链路。</a:t>
            </a:r>
          </a:p>
          <a:p/>
          <a:p>
            <a:r>
              <a:t>历史阶段划分依据：报告作者本轮提供的演化主线，不虚构发布时间。示例为仓库材料的教学节选或改编，未重新编译仓库。核对日期：2026-10-19。</a:t>
            </a:r>
          </a:p>
          <a:p/>
          <a:p>
            <a:r>
              <a:t>参考：</a:t>
            </a:r>
          </a:p>
          <a:p>
            <a:r>
              <a:t>D:/autostack/auto-lang/docs/specs/auto-lang/comptime/overview.md</a:t>
            </a:r>
          </a:p>
          <a:p>
            <a:r>
              <a:t>D:/autostack/auto-lang/crates/auto-lang/src/comptime/transformer.rs</a:t>
            </a:r>
          </a:p>
          <a:p>
            <a:r>
              <a:t>D:/autostack/auto-lang/crates/auto-lang/src/parser.rs</a:t>
            </a:r>
          </a:p>
          <a:p>
            <a:r>
              <a:t>D:/autostack/auto-lang/docs/design/raw/compile-time-execution.md</a:t>
            </a:r>
          </a:p>
          <a:p>
            <a:r>
              <a:t>D:/autostack/auto-lang/test/comptime/01_basic/020_builtin_constants.at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80 秒。来自旧 Auto_LMAO 第 5 页的三个维度，但把不可能三角当工程张力，而非数学不可能定理。旧页的 10 分制没有共同基准，因此不展示。Auto 的目标是用阶段分工兼顾动态开发效率、静态发布性能与安全，安全检查仍未达到完整 Rust 水平，后面专页讨论。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D:/autostack/docs/LMAO/Auto_LMAO.pptx</a:t>
            </a:r>
          </a:p>
          <a:p>
            <a:r>
              <a:t>D:/autostack/auto-lang/docs/design/strategy/auto-as-rust-script-strategy.md</a:t>
            </a:r>
          </a:p>
          <a:p>
            <a:r>
              <a:t>D:/autostack/auto-lang/docs/specs/auto-lang/vm/design/memory-safety-boundary.md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85 秒。寄生是本次报告的生态定位：Auto 复用 Rust 标准库、三方 crate、Tokio、iced 和工具链，而不是建设平行替代品。开发轨先 AST→ABC→AutoVM，再通过 native/绑定调用 Rust；发布轨由 AST 经过编译期变换、逃逸分析和 RustTrans 生成 Rust，最后 Cargo/rustc。a2r 不消费 VM 字节码；逐句对应指语义 lowering 规则，不是逐词替换，也不是所有场景已完成证明。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D:/autostack/auto-lang/docs/design/28-rust-interop-architecture.md</a:t>
            </a:r>
          </a:p>
          <a:p>
            <a:r>
              <a:t>D:/autostack/auto-lang/docs/specs/auto-lang/vm/architecture.md</a:t>
            </a:r>
          </a:p>
          <a:p>
            <a:r>
              <a:t>D:/autostack/auto-lang/docs/specs/auto-lang/trans/architecture.md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95 秒。示例源于 regex_real 实际三方对拍语料，版本保留原样作为证据，不声称最新。左边 Auto 代码节选，右边是对应 Rust 调用意图的说明代码，并非该 fixture 的逐字金样。首次需要构建 Rust crate 和适配包，后续才可装载/复用。方法、常量、泛型等的支持按具体签名验证。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D:/autostack/auto-lang/test/parity/libs/dep/regex_real/tests/auto/basic.at</a:t>
            </a:r>
          </a:p>
          <a:p>
            <a:r>
              <a:t>D:/autostack/auto-lang/docs/specs/parity/project.md</a:t>
            </a:r>
          </a:p>
          <a:p>
            <a:r>
              <a:t>D:/autostack/auto-lang/docs/design/28-rust-interop-architecture.md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110 秒。Rust 默认 ABI 没有跨构建稳定保证，repr(Rust) 对象布局也不能当稳定边界。库的裸符号地址不给出正确的参数、布局和析构约定。现有构建管线用 rustdoc/签名元信息分类和生成 shim，再经真实 rustc 构建，运行时核对指纹并装载。Opaque 对象尽量留在 Rust 一侧，Auto 持句柄及保活信息。C ABI wrapper 仍需定义类型、错误、所有权、线程和释放，不能光写 extern C 就叫安全。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D:/autostack/auto-lang/docs/design/28-rust-interop-architecture.md</a:t>
            </a:r>
          </a:p>
          <a:p>
            <a:r>
              <a:t>https://doc.rust-lang.org/reference/items/functions.html</a:t>
            </a:r>
          </a:p>
          <a:p>
            <a:r>
              <a:t>https://doc.rust-lang.org/reference/type-layout.html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95 秒。Auto 标准库并不代表全部功能重写。例如 auto.fs.read_text 的 VM shim 真实调用 fs::read_to_string(&amp;path).unwrap_or_default()，转译侧由 a2r-std 镜像或映射。注意 Auto 封装错误策略可能不同于 Rust 的 Result。直接 Rust 模式则业务层不需要 import auto.*，可使用 use.rs std 和 dep crate；这不等于没有 Auto 执行运行时、适配器或约束，也不意味着任意 crate 全部 API 无条件可用。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D:/autostack/auto-lang/stdlib/auto/fs.at</a:t>
            </a:r>
          </a:p>
          <a:p>
            <a:r>
              <a:t>D:/autostack/auto-lang/crates/auto-lang/src/vm/ffi/stdlib.rs</a:t>
            </a:r>
          </a:p>
          <a:p>
            <a:r>
              <a:t>D:/autostack/auto-lang/crates/a2r-std/src/fs.rs</a:t>
            </a:r>
          </a:p>
          <a:p>
            <a:r>
              <a:t>D:/autostack/auto-lang/crates/auto-lang/test/a2r/17_rust_std/002_fs/fs.at</a:t>
            </a:r>
          </a:p>
          <a:p>
            <a:r>
              <a:t>D:/autostack/auto-lang/website/zh/rust.md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90 秒。逐句 lowering 提供可解释对应，实际证据必须分层：生成 Rust 金样说明发射结构，rustc 编译运行说明原生产物可用，AutoVM/a2r/native Rust 三方对拍验证可观察结果。历史 conformance 名称有只跑 VM golden 的遗留，报告明确指向真正 parity workspace。当前只对覆盖语料给证据，不宣称全语言数学等价。接下来对照页按实际金样节选，教学缩写处另标。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D:/autostack/auto-lang/test/parity/README.md</a:t>
            </a:r>
          </a:p>
          <a:p>
            <a:r>
              <a:t>D:/autostack/auto-lang/docs/specs/parity/project.md</a:t>
            </a:r>
          </a:p>
          <a:p>
            <a:r>
              <a:t>D:/autostack/auto-lang/docs/specs/auto-lang/trans/design/test-convention.md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70 秒。主体摘自 while_loop 的 Auto 与 Rust 金样，移除 print 保留状态更新。绑定 var 对应 let mut，loop/if/break 按结构降级。其他常见形式包含 let、const、while 与 for。下方 for 区间也来自 for_range 的双方金样。样例里 int 映射 i64，这是现行 a2r 的具体证据，不推广到 AC 的 core-i32 profile。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D:/autostack/auto-lang/crates/auto-lang/test/a2r/03_control_flow/007_while_loop/while_loop.at</a:t>
            </a:r>
          </a:p>
          <a:p>
            <a:r>
              <a:t>D:/autostack/auto-lang/crates/auto-lang/test/a2r/03_control_flow/007_while_loop/while_loop.expected.rs</a:t>
            </a:r>
          </a:p>
          <a:p>
            <a:r>
              <a:t>D:/autostack/auto-lang/crates/auto-lang/test/a2r/03_control_flow/005_for_range/for_range.at</a:t>
            </a:r>
          </a:p>
          <a:p>
            <a:r>
              <a:t>D:/autostack/auto-lang/crates/auto-lang/test/a2r/03_control_flow/005_for_range/for_range.expected.rs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65 秒。两侧摘自 is_match 金样，只保留 main 的主体。is 的匹配分支使用 -&gt;，else 对应 _；Rust 侧按 match 发射。复杂枚举、模式和多语句分支各有自己的语料；不要把语法简写当作自动覆盖所有 Rust 模式能力。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D:/autostack/auto-lang/crates/auto-lang/test/a2r/03_control_flow/008_is_match/is_match.at</a:t>
            </a:r>
          </a:p>
          <a:p>
            <a:r>
              <a:t>D:/autostack/auto-lang/crates/auto-lang/test/a2r/03_control_flow/008_is_match/is_match.expected.rs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70 秒。Calculator 中的数据与方法在 Auto 一个 type 内，Rust 生成 struct 与 impl。仅保留 value 字段与 add 方法，Rust derive 和 pub 字段按完整金样保留在讲解中但屏幕省略。普通读方法接收 &amp;self，mut 方法另有映射和约束。这体现 Rust 友好的对象模型，不声称提供传统类继承。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D:/autostack/auto-lang/crates/auto-lang/test/a2r/11_methods/002_struct_methods/struct_methods.at</a:t>
            </a:r>
          </a:p>
          <a:p>
            <a:r>
              <a:t>D:/autostack/auto-lang/crates/auto-lang/test/a2r/11_methods/002_struct_methods/struct_methods.expected.rs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约75秒。Auto的可选类型通常写?T，对应Rust Option&lt;T&gt;；可失败返回通常写!T，对应Rust Result，其错误类型按具体语义确定。直接写Option&lt;T&gt;与Result&lt;T,E&gt;也合法。此页突出Auto表面简写，不改变Rust的Option/Result语义。chain节选对应现有result_bang_type金样，右侧E仅为显示缩写。</a:t>
            </a:r>
          </a:p>
          <a:p/>
          <a:p>
            <a:r>
              <a:t>来源：D:/autostack/auto-lang/docs/language/overview.cn.md</a:t>
            </a:r>
          </a:p>
          <a:p>
            <a:r>
              <a:t>D:/autostack/auto-lang/crates/auto-lang/test/a2r/17_rust_std/013_option_result/option_result.at</a:t>
            </a:r>
          </a:p>
          <a:p>
            <a:r>
              <a:t>D:/autostack/auto-lang/crates/auto-lang/test/a2r/09_option_result/034_result_bang_type/result_bang_type.expected.rs</a:t>
            </a:r>
          </a:p>
          <a:p>
            <a:r>
              <a:t>用户本轮对?T、!T和完整泛型写法的澄清。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75 秒。fetch_data 来自 async_fn 金样，~str 降为 async fn 返回 String，Rust async fn 的调用结果是实现 Future 的值。下方 ~{} 与 async move、.await 的对应来自 nested_async_await 结构金样，作为表达式节选，完整程序仍需合法异步上下文和 executor。不能展示该历史金样的同步 main 中直接 await，误导成可以通过 rustc 的独立程序。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D:/autostack/auto-lang/crates/auto-lang/test/a2r/16_interop/001_async_fn/async_fn.at</a:t>
            </a:r>
          </a:p>
          <a:p>
            <a:r>
              <a:t>D:/autostack/auto-lang/crates/auto-lang/test/a2r/16_interop/001_async_fn/async_fn.expected.rs</a:t>
            </a:r>
          </a:p>
          <a:p>
            <a:r>
              <a:t>D:/autostack/auto-lang/crates/auto-lang/test/a2r/16_interop/024_nested_async_await/nested_async_await.at</a:t>
            </a:r>
          </a:p>
          <a:p/>
          <a:p>
            <a:r>
              <a:t>脚本模式补充：用户确认曾讨论?、!、~的统一简略语法，但尚未完整实现。现有script-mode-interop文档能证明部分隐式Err传播，不代表可选、错误和异步等待已经统一。这里不发明具体符号、不承诺自动unwrap或自动await，不把统一简写混同于现有.?和.await。完整设计需明确空值、错误、异步等待、传播边界与跨模式类型合同。</a:t>
            </a:r>
          </a:p>
          <a:p>
            <a:r>
              <a:t>来源：D:/autostack/auto-lang/docs/design/strategy/script-mode-interop.md §2、§4，以及用户本轮补充。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70 秒。来自 bounded_generic_fn 的接口和泛型函数头节选。spec 对应 trait，has 约束对应 T: Trait，type as Spec 对应 impl Trait for Type。泛型的 concrete instance 在 Rust 编译期单态化；动态库绑定则还必须事先制备需要的具体实例。泛型函数直接 a2r 与运行期任意泛型反射不是同一能力。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D:/autostack/auto-lang/crates/auto-lang/test/a2r/08_generics/008_bounded_generic_fn/bounded_generic_fn.at</a:t>
            </a:r>
          </a:p>
          <a:p>
            <a:r>
              <a:t>D:/autostack/auto-lang/crates/auto-lang/test/a2r/08_generics/008_bounded_generic_fn/bounded_generic_fn.expected.rs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80 秒。第一组 answer 的 #{42} 与对应 Rust 字面量来自 comptime_read_text 金样。第二组为了排版把文件路径命名为 path，屏幕标为等价写法，实际完整 fixture 使用 test/.../greeting.txt；产物直接嵌入文件文本。重点：Auto 编译期运行结束后生成普通 Rust 数据/代码，不是必须透传成 Rust 宏。未来的统一语义 meta、类型反射和更完整元编程属于 Design42，不能把这两个小样例升级成已完成。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D:/autostack/auto-lang/crates/auto-lang/test/a2r/16_interop/017_comptime_read_text/comptime_read_text.at</a:t>
            </a:r>
          </a:p>
          <a:p>
            <a:r>
              <a:t>D:/autostack/auto-lang/crates/auto-lang/test/a2r/16_interop/017_comptime_read_text/comptime_read_text.expected.rs</a:t>
            </a:r>
          </a:p>
          <a:p>
            <a:r>
              <a:t>D:/autostack/auto-lang/docs/design/42-semantic-metadata-inference-and-comptime.md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演示建议 2–3 分钟，可按总时长选一例。先启动本地 auto-playground 服务并配置网页 API；网站可离线浏览样例，运行/转译需要后端。推荐先 is x 从10改1查看输出，再切 Rust 页看 match，最后看 comptime 文件嵌入。浏览器能展示 Rust 源码不代表已经编译运行 Rust，双轨对照应使用准备好的脚本/测试。大依赖的首次构建应在课前完成。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D:/autostack/auto-lang/website/playground.md</a:t>
            </a:r>
          </a:p>
          <a:p>
            <a:r>
              <a:t>D:/autostack/auto-lang/docs/reports/p718-website-ui/final-playground-zh-1440-dark.png</a:t>
            </a:r>
          </a:p>
          <a:p>
            <a:r>
              <a:t>D:/autostack/auto-lang/crates/auto-lang/test/a2r/03_control_flow/008_is_match/is_match.at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100 秒。Auto 的 task 是语言级 actor 状态和 handler，不是 OS thread。VM 保留私有执行帧、IP 和 state_vars，依靠宿主调度/等待恢复；Rust 发布侧通过生成异步代码和 a2r_std task 的 Tokio mpsc/spawn 等原语运行。需要统一消息顺序、挂起恢复、取消、结束/drop、reply 以及 Send 和跨任务对象寿命。已有关键调用可用并不等于任意 Rust Future 可以当黑盒跨 ABI 搬运。宿主桥可用 handle 来代表 channel，对象身份不要混进 JSON 数据快照。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D:/autostack/auto-lang/docs/specs/auto-lang/vm/design/concurrency.md</a:t>
            </a:r>
          </a:p>
          <a:p>
            <a:r>
              <a:t>D:/autostack/auto-lang/crates/a2r-std/src/task.rs</a:t>
            </a:r>
          </a:p>
          <a:p>
            <a:r>
              <a:t>D:/autostack/auto-lang/docs/design/28-rust-interop-architecture.md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110 秒。结合评估 Auto 内存安全机制会话与 PLAN667 后现行规范。用户希望不写显式 lifetime，由编译器推导；局部分析、逃逸 fallback 到 Clone/Rc/RefCell 是现有方向，但不是已完成的跨函数 NLL。VM 使用 RC 和记账/捕获帧守卫，失效引用在读写前拒绝；a2r 保守分析后生成 safe Rust，再交实际 rustc 检查，某些 mut/Send 形态明确拒绝。Rc 不能自动解决可变别名、循环或线程安全，强行 clone 可能改变语义。未来先统一资源语义，再实现更完整检查器，不采用旧讨论未经本项目测量的80/20百分比。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D:/autostack/auto-lang/docs/specs/auto-lang/vm/design/memory-safety-boundary.md</a:t>
            </a:r>
          </a:p>
          <a:p>
            <a:r>
              <a:t>D:/autostack/auto-lang/docs/specs/auto-lang/trans/design/escape-analysis-tiers.md</a:t>
            </a:r>
          </a:p>
          <a:p>
            <a:r>
              <a:t>D:/autostack/auto-lang/docs/design/04-memory-ownership.md</a:t>
            </a:r>
          </a:p>
          <a:p>
            <a:r>
              <a:t>D:/autostack/auto-lang/docs/plans/reports/667-memory-safety-evidence.md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100 秒。本页描述本项目重型工作区的工程痛点，不是说所有 Rust 小程序不可能亚秒。多 agent/多 worktree 增加独立 target、中间产物、锁等待、峰值内存与磁盘占用。Rust ABI 不稳定使二进制共享必须严格匹配构建上下文，但不是每个 cache miss 都由 ABI 导致。sccache 能复用合格 rustc 结果，并非直接给所有工程挂载同一个可链接依赖世界；产物恢复到各输出目录，link 与生成仍有成本。官方限制包括需关闭 rustc incremental、调用系统 linker 的 crate 不可缓存，版本细节以课前工具链为准。对比新全局不可变 store，而不是承诺加 sccache 就可解决。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D:/autostack/auto-lang/docs/design/40-compiler-artifacts-and-cache-lifecycle.md</a:t>
            </a:r>
          </a:p>
          <a:p>
            <a:r>
              <a:t>D:/autostack/auto-lang/docs/design/39-ac-incremental-syntax-and-language-platform.md</a:t>
            </a:r>
          </a:p>
          <a:p>
            <a:r>
              <a:t>https://raw.githubusercontent.com/mozilla/sccache/main/docs/Rust.md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110 秒。这里开始明确切换到目标架构。Auto 源码经增量语法、名字解析/类型与资源分析形成 Checked HIR，native 路线先用 Cranelift，VM 和 A2X 可继续作为不同消费者，不要求一次迁移完成。共享 Interface Metadata / Foreign IR 描述外部 API。Rust、Python、C 有不同 ABI 和对象/异常规则，共用接口描述与 adapter 合同，不是共用一种裸指针布局。AC 原型已闭合有限源码/HIR到 Windows PE，统一大架构与全语言仍在推进。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D:/autostack/auto-lang/docs/design/39-ac-incremental-syntax-and-language-platform.md</a:t>
            </a:r>
          </a:p>
          <a:p>
            <a:r>
              <a:t>D:/autostack/auto-lang/docs/design/40-compiler-artifacts-and-cache-lifecycle.md</a:t>
            </a:r>
          </a:p>
          <a:p>
            <a:r>
              <a:t>D:/autostack/auto-lang/docs/design/41-interface-metadata-and-foreign-abi.md</a:t>
            </a:r>
          </a:p>
          <a:p>
            <a:r>
              <a:t>D:/autostack/auto-lang/docs/design/strategy/auto-native-backend-evolution.md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100 秒。AutoABI 独立于编译器版本，且受 target、公开接口、运行时服务约束。C ABI 只是具体 target 的外部桥，Rust 默认经受限 C 兼容 shim / opaque 对象，Python 由相应运行时桥适配。Native Runtime 保留稳定入口，新旧 generation 并存，到安全点完成迁移与提交切换，旧代需要等在途调用、callback、deleter 和 lease 都结束才能卸载。此为 RFC 目标，当前 VM UI reload 不能当作其完成证据。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D:/autostack/auto-lang/docs/design/strategy/auto-native-abi-rfc.md</a:t>
            </a:r>
          </a:p>
          <a:p>
            <a:r>
              <a:t>D:/autostack/auto-lang/docs/design/41-interface-metadata-and-foreign-abi.md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105 秒。Design39/40/近期会话要求，从首条正式集成流水线起，增量与缓存就是验收条件。源快照、CST/语义查询、HIR、对象、绑定包和模块 manifest 进入统一不可变 store，依赖按真实输入失效，热点内存有界，磁盘以 root/lease 和再生规则管理。不是每个 worktree 复制完整中间世界，也不是全量加载所有 AST。代表编辑负载端到端 P95&lt;1s 为目标，计入排队、I/O、编译、发布和安全点；冷构建、广泛失效另报。不能用每个阶段都&lt;1s偷换总周转或用 cache hit 数当性能达标。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D:/autostack/auto-lang/docs/design/39-ac-incremental-syntax-and-language-platform.md</a:t>
            </a:r>
          </a:p>
          <a:p>
            <a:r>
              <a:t>D:/autostack/auto-lang/docs/design/40-compiler-artifacts-and-cache-lifecycle.md</a:t>
            </a:r>
          </a:p>
          <a:p>
            <a:r>
              <a:t>D:/autostack/auto-lang/docs/plans/788-autodown-ac-native-turnaround.md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100 秒。AC 是 Rust 写的原生编译器，ACC/AAC 是 Auto 写的编译器主体，命名统一尚待收敛，本报告用 ACC。有限 AC profile 目前已有 Windows x64 原生闭环；完整语言、公开 ABI、统一增量管线和 native 自举不能由此推导。v0.6 用 Cranelift 优先正确性、自举和开发基础；v0.7 按收益做优化，不保证一定自造完整后端。旧 AAVM/AA2R 自举是 Auto→Rust 的实验闭环，不等于 AC/ACC native 自举。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D:/autostack/auto-lang/docs/specs/auto-ac/project.md</a:t>
            </a:r>
          </a:p>
          <a:p>
            <a:r>
              <a:t>D:/autostack/auto-lang/docs/specs/auto-acc/project.md</a:t>
            </a:r>
          </a:p>
          <a:p>
            <a:r>
              <a:t>D:/autostack/auto-lang/docs/design/strategy/auto-acc-bootstrap-contract.md</a:t>
            </a:r>
          </a:p>
          <a:p>
            <a:r>
              <a:t>D:/autostack/auto-lang/docs/design/strategy/auto-native-backend-evolution.md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50 秒。收束：AutoOS 是应用生态和系统整合目标，AutoUI 给 iced 等后端增加统一脚本描述，Auto 语言复用 Rust 生态并减轻开发阶段的构建等待。下一代进一步把 ABI、增量、装载与生命周期纳入第一等设计。可以向师生提出实践方向：跨语言语义对拍、Rust ABI adapter、语言运行时和 Linux 桌面集成。无需在这一页再罗列所有限制。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D:/autostack/auto-lang/docs/design/strategy/auto-as-rust-script-strategy.md</a:t>
            </a:r>
          </a:p>
          <a:p>
            <a:r>
              <a:t>D:/autostack/auto-lang/docs/design/strategy/auto-native-backend-evolution.md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供课后阅读。架构战略采用2026-10-16更新，现状优先实际Spec与源码，用户本轮确定的OS三步走作为战略。公众号链接是用户给定的图文参考；截图采用仓库官网共享原图，不将未读取的正文作为技术事实依据。旧LMAO只复用三角框架，舍弃未证实打分。A2C会话的可读用户消息与仓内整合审计、Design41交叉核对，不把content-reference占位当成完整原文。</a:t>
            </a:r>
          </a:p>
          <a:p/>
          <a:p>
            <a:r>
              <a:t>来源（资料截点 2026-10-16，auto-lang HEAD e4ac72a62）：</a:t>
            </a:r>
          </a:p>
          <a:p>
            <a:r>
              <a:t>D:/autostack/auto-lang/README.cn.md</a:t>
            </a:r>
          </a:p>
          <a:p>
            <a:r>
              <a:t>D:/autostack/docs/LMAO/Auto_LMAO.pptx</a:t>
            </a:r>
          </a:p>
          <a:p>
            <a:r>
              <a:t>https://mp.weixin.qq.com/s/jgqFCpQKxPRz7_RL4SZoTQ</a:t>
            </a:r>
          </a:p>
          <a:p>
            <a:r>
              <a:t>D:/autostack/auto-lang/docs/reports/20261015-c-foreign-abi-discussion-audit.md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7.xml"/><Relationship Id="rId8" Type="http://schemas.openxmlformats.org/officeDocument/2006/relationships/slideLayout" Target="../slideLayouts/slideLayout6.xml"/><Relationship Id="rId7" Type="http://schemas.openxmlformats.org/officeDocument/2006/relationships/image" Target="../media/image18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6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19.png"/><Relationship Id="rId3" Type="http://schemas.openxmlformats.org/officeDocument/2006/relationships/hyperlink" Target="https://mp.weixin.qq.com/s/jgqFCpQKxPRz7_RL4SZoTQ" TargetMode="External"/><Relationship Id="rId2" Type="http://schemas.openxmlformats.org/officeDocument/2006/relationships/hyperlink" Target="https://github.com/auto-stack/auto-lang" TargetMode="External"/><Relationship Id="rId1" Type="http://schemas.openxmlformats.org/officeDocument/2006/relationships/hyperlink" Target="https://auto-lang.cn/zh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E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-0"/>
          <p:cNvSpPr>
            <a:spLocks noGrp="1"/>
          </p:cNvSpPr>
          <p:nvPr/>
        </p:nvSpPr>
        <p:spPr>
          <a:xfrm>
            <a:off x="609600" y="742950"/>
            <a:ext cx="695325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OS / UI / Lang</a:t>
            </a:r>
            <a:endParaRPr lang="en-US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赵普明  ·  2026 年 10 月</a:t>
            </a:r>
            <a:endParaRPr sz="12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35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2333625"/>
            <a:ext cx="76200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r>
              <a:rPr lang="en-US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生态融合</a:t>
            </a:r>
            <a:endParaRPr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cover-subtitle"/>
          <p:cNvSpPr>
            <a:spLocks noGrp="1"/>
          </p:cNvSpPr>
          <p:nvPr/>
        </p:nvSpPr>
        <p:spPr>
          <a:xfrm>
            <a:off x="609600" y="3476625"/>
            <a:ext cx="70485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10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 Auto 提升 Rust 应用开发效率</a:t>
            </a:r>
            <a:endParaRPr sz="210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报告导航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885950"/>
            <a:ext cx="857250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34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733550" y="1885950"/>
            <a:ext cx="97155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AutoOS</a:t>
            </a:r>
            <a:endParaRPr sz="285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733550" y="2466975"/>
            <a:ext cx="9715500" cy="495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 OS 桌面与应用生态，Linux / Rust 内核发行版</a:t>
            </a:r>
            <a:endParaRPr sz="19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238500"/>
            <a:ext cx="857250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34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733550" y="3238500"/>
            <a:ext cx="97155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AutoUI</a:t>
            </a:r>
            <a:endParaRPr sz="285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733550" y="3819525"/>
            <a:ext cx="9715500" cy="495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跨平台界面、iced 后端与开发工具</a:t>
            </a:r>
            <a:endParaRPr sz="19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4591050"/>
            <a:ext cx="857250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34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733550" y="4591050"/>
            <a:ext cx="97155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85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Auto/Rust 融合</a:t>
            </a:r>
            <a:endParaRPr sz="285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733550" y="5172075"/>
            <a:ext cx="9715500" cy="495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AutoVM 快速开发、a2r 转译发布与 Rust 生态互操作</a:t>
            </a:r>
            <a:endParaRPr sz="19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Auto与Rust融合生态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E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section-text-0"/>
          <p:cNvSpPr>
            <a:spLocks noGrp="1"/>
          </p:cNvSpPr>
          <p:nvPr/>
        </p:nvSpPr>
        <p:spPr>
          <a:xfrm>
            <a:off x="685800" y="1047750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/ 03</a:t>
            </a:r>
            <a:endParaRPr sz="2400" b="0">
              <a:solidFill>
                <a:srgbClr val="86B5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section-text-1"/>
          <p:cNvSpPr>
            <a:spLocks noGrp="1"/>
          </p:cNvSpPr>
          <p:nvPr/>
        </p:nvSpPr>
        <p:spPr>
          <a:xfrm>
            <a:off x="609600" y="2409825"/>
            <a:ext cx="10972800" cy="1162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AutoOS</a:t>
            </a:r>
            <a:endParaRPr sz="6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ection-text-2"/>
          <p:cNvSpPr>
            <a:spLocks noGrp="1"/>
          </p:cNvSpPr>
          <p:nvPr/>
        </p:nvSpPr>
        <p:spPr>
          <a:xfrm>
            <a:off x="685800" y="3819525"/>
            <a:ext cx="108204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 OS 桌面、应用生态与发行版路线</a:t>
            </a:r>
            <a:endParaRPr sz="24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ection-text-3"/>
          <p:cNvSpPr>
            <a:spLocks noGrp="1"/>
          </p:cNvSpPr>
          <p:nvPr/>
        </p:nvSpPr>
        <p:spPr>
          <a:xfrm>
            <a:off x="685800" y="6343650"/>
            <a:ext cx="9525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Auto/Rust 生态融合</a:t>
            </a:r>
            <a:endParaRPr sz="12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ection-text-4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35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AutoOS：桌面、窗口与应用已经连接起来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AutoOS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810345"/>
            <a:ext cx="5286375" cy="3303984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1810345"/>
            <a:ext cx="5286375" cy="3303984"/>
          </a:xfrm>
          <a:prstGeom prst="rect">
            <a:avLst/>
          </a:prstGeom>
        </p:spPr>
      </p:pic>
      <p:sp>
        <p:nvSpPr>
          <p:cNvPr id="6" name="text-3"/>
          <p:cNvSpPr>
            <a:spLocks noGrp="1"/>
          </p:cNvSpPr>
          <p:nvPr/>
        </p:nvSpPr>
        <p:spPr>
          <a:xfrm>
            <a:off x="609600" y="5429250"/>
            <a:ext cx="5238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桌面与常驻小组件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4"/>
          <p:cNvSpPr>
            <a:spLocks noGrp="1"/>
          </p:cNvSpPr>
          <p:nvPr/>
        </p:nvSpPr>
        <p:spPr>
          <a:xfrm>
            <a:off x="6286500" y="5429250"/>
            <a:ext cx="5238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窗口与多应用工作区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AutoEdit / AutoShell：代码与命令工作台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AutoOS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81150"/>
            <a:ext cx="528637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AutoEdit  代码、搜索与对比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286500" y="1581150"/>
            <a:ext cx="528637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AutoShell  命令与结构化管道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961" y="2143125"/>
            <a:ext cx="5143653" cy="333375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2156631"/>
            <a:ext cx="5286375" cy="3306738"/>
          </a:xfrm>
          <a:prstGeom prst="rect">
            <a:avLst/>
          </a:prstGeom>
        </p:spPr>
      </p:pic>
      <p:sp>
        <p:nvSpPr>
          <p:cNvPr id="8" name="text-5"/>
          <p:cNvSpPr>
            <a:spLocks noGrp="1"/>
          </p:cNvSpPr>
          <p:nvPr/>
        </p:nvSpPr>
        <p:spPr>
          <a:xfrm>
            <a:off x="609600" y="57816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组织工作流，Rust 提供编辑、文件与命令执行能力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AutoMusk / AutoJade：Agent与知识工作台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AutoOS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81150"/>
            <a:ext cx="528637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AutoMusk  Coding Agent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286500" y="1581150"/>
            <a:ext cx="528637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AutoJade  文档与知识库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158008"/>
            <a:ext cx="5286375" cy="3303984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680" y="2143125"/>
            <a:ext cx="5176015" cy="3333750"/>
          </a:xfrm>
          <a:prstGeom prst="rect">
            <a:avLst/>
          </a:prstGeom>
        </p:spPr>
      </p:pic>
      <p:sp>
        <p:nvSpPr>
          <p:cNvPr id="8" name="text-5"/>
          <p:cNvSpPr>
            <a:spLocks noGrp="1"/>
          </p:cNvSpPr>
          <p:nvPr/>
        </p:nvSpPr>
        <p:spPr>
          <a:xfrm>
            <a:off x="609600" y="57816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主力 App 反过来驱动语言、GUI 与 Rust 互操作能力完善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AutoOS 的三步走战略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AutoOS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676400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  跨 OS 的虚拟桌面与应用生态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09600" y="2190750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 AutoUI 覆盖 Web 与桌面，积累可复用的应用和系统服务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5"/>
          <p:cNvSpPr>
            <a:spLocks noGrp="1"/>
          </p:cNvSpPr>
          <p:nvPr/>
        </p:nvSpPr>
        <p:spPr>
          <a:xfrm>
            <a:off x="609600" y="3133725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第二步  独立发行版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6"/>
          <p:cNvSpPr>
            <a:spLocks noGrp="1"/>
          </p:cNvSpPr>
          <p:nvPr/>
        </p:nvSpPr>
        <p:spPr>
          <a:xfrm>
            <a:off x="609600" y="3648075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结合 Linux / Rust 内核，补齐系统集成、硬件支持与发行工程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4591050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第三步  自主内核与专用系统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8"/>
          <p:cNvSpPr>
            <a:spLocks noGrp="1"/>
          </p:cNvSpPr>
          <p:nvPr/>
        </p:nvSpPr>
        <p:spPr>
          <a:xfrm>
            <a:off x="609600" y="5105400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 MCU / SoC 等目标，逐步掌握内核、运行时和设备能力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Linux 发行版路径：借鉴 Pop!_OS / COSMIC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AutoOS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200400"/>
        </p:xfrm>
        <a:graphic>
          <a:graphicData uri="http://schemas.openxmlformats.org/drawingml/2006/table">
            <a:tbl>
              <a:tblPr/>
              <a:tblGrid>
                <a:gridCol w="2190750"/>
                <a:gridCol w="4381500"/>
                <a:gridCol w="4400550"/>
              </a:tblGrid>
              <a:tr h="8001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系统层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COSMIC / Pop!_OS 参考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AutoOS 路线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应用与桌面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应用、libcosmic / iced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 应用 + Rust 能力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图形宿主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桌面协议、合成与系统集成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AutoUI / iced，再补系统集成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内核与设备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Linux 内核与驱动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Linux / Rust 内核路线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49592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主要提高应用层迭代效率，Rust / Linux 承担底层系统能力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kernel-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AutoOS 外壳如何对接 uCore / rCore / zCore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kernel-text-1"/>
          <p:cNvSpPr>
            <a:spLocks noGrp="1"/>
          </p:cNvSpPr>
          <p:nvPr/>
        </p:nvSpPr>
        <p:spPr>
          <a:xfrm>
            <a:off x="609600" y="15240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结合方案：在用户态补齐平台接口与运行时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kernel-text-2"/>
          <p:cNvSpPr>
            <a:spLocks noGrp="1"/>
          </p:cNvSpPr>
          <p:nvPr/>
        </p:nvSpPr>
        <p:spPr>
          <a:xfrm>
            <a:off x="609600" y="2266950"/>
            <a:ext cx="5143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AutoOS / AutoUI / 应用</a:t>
            </a:r>
            <a:endParaRPr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kernel-text-3"/>
          <p:cNvSpPr>
            <a:spLocks noGrp="1"/>
          </p:cNvSpPr>
          <p:nvPr/>
        </p:nvSpPr>
        <p:spPr>
          <a:xfrm>
            <a:off x="609600" y="2752725"/>
            <a:ext cx="51435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保留桌面、状态与业务逻辑</a:t>
            </a:r>
            <a:endParaRPr sz="195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kernel-text-4"/>
          <p:cNvSpPr>
            <a:spLocks noGrp="1"/>
          </p:cNvSpPr>
          <p:nvPr/>
        </p:nvSpPr>
        <p:spPr>
          <a:xfrm>
            <a:off x="609600" y="3476625"/>
            <a:ext cx="5143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用户态平台适配层</a:t>
            </a:r>
            <a:endParaRPr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kernel-text-5"/>
          <p:cNvSpPr>
            <a:spLocks noGrp="1"/>
          </p:cNvSpPr>
          <p:nvPr/>
        </p:nvSpPr>
        <p:spPr>
          <a:xfrm>
            <a:off x="609600" y="3962400"/>
            <a:ext cx="51435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 ABI、libc / Rust 运行时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图形、输入、文件、线程与时钟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kernel-text-6"/>
          <p:cNvSpPr>
            <a:spLocks noGrp="1"/>
          </p:cNvSpPr>
          <p:nvPr/>
        </p:nvSpPr>
        <p:spPr>
          <a:xfrm>
            <a:off x="609600" y="4972050"/>
            <a:ext cx="5143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uCore / rCore / zCore</a:t>
            </a:r>
            <a:endParaRPr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kernel-text-7"/>
          <p:cNvSpPr>
            <a:spLocks noGrp="1"/>
          </p:cNvSpPr>
          <p:nvPr/>
        </p:nvSpPr>
        <p:spPr>
          <a:xfrm>
            <a:off x="609600" y="545782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 syscall 或 IPC 提供内核服务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kernel-text-8"/>
          <p:cNvSpPr>
            <a:spLocks noGrp="1"/>
          </p:cNvSpPr>
          <p:nvPr/>
        </p:nvSpPr>
        <p:spPr>
          <a:xfrm>
            <a:off x="6477000" y="2266950"/>
            <a:ext cx="509587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uCore：从最小用户程序切入</a:t>
            </a:r>
            <a:endParaRPr sz="21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kernel-text-9"/>
          <p:cNvSpPr>
            <a:spLocks noGrp="1"/>
          </p:cNvSpPr>
          <p:nvPr/>
        </p:nvSpPr>
        <p:spPr>
          <a:xfrm>
            <a:off x="6477000" y="2752725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封装 C ABI / 系统调用，先验证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装载、内存分配与文件 I/O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kernel-text-10"/>
          <p:cNvSpPr>
            <a:spLocks noGrp="1"/>
          </p:cNvSpPr>
          <p:nvPr/>
        </p:nvSpPr>
        <p:spPr>
          <a:xfrm>
            <a:off x="6477000" y="3590925"/>
            <a:ext cx="509587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rCore：按具体分支适配</a:t>
            </a:r>
            <a:endParaRPr sz="21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kernel-text-11"/>
          <p:cNvSpPr>
            <a:spLocks noGrp="1"/>
          </p:cNvSpPr>
          <p:nvPr/>
        </p:nvSpPr>
        <p:spPr>
          <a:xfrm>
            <a:off x="6477000" y="4076700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区分教学版与完整内核，补齐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用户库及 Rust 运行时依赖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kernel-text-12"/>
          <p:cNvSpPr>
            <a:spLocks noGrp="1"/>
          </p:cNvSpPr>
          <p:nvPr/>
        </p:nvSpPr>
        <p:spPr>
          <a:xfrm>
            <a:off x="6477000" y="4914900"/>
            <a:ext cx="509587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zCore：评估 Linux 兼容路径</a:t>
            </a:r>
            <a:endParaRPr sz="21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kernel-text-13"/>
          <p:cNvSpPr>
            <a:spLocks noGrp="1"/>
          </p:cNvSpPr>
          <p:nvPr/>
        </p:nvSpPr>
        <p:spPr>
          <a:xfrm>
            <a:off x="6477000" y="5400675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逐项验证 syscall、线程与图形栈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 AutoOS 宿主依赖的覆盖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kernel-text-14"/>
          <p:cNvSpPr>
            <a:spLocks noGrp="1"/>
          </p:cNvSpPr>
          <p:nvPr/>
        </p:nvSpPr>
        <p:spPr>
          <a:xfrm>
            <a:off x="609600" y="604837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建议先在 QEMU 跑通命令行与文件操作，再接图形和输入。当前为适配路线，尚未完成集成。</a:t>
            </a:r>
            <a:endParaRPr sz="1425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kernel-text-15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AutoOS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kernel-text-16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E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section-text-0"/>
          <p:cNvSpPr>
            <a:spLocks noGrp="1"/>
          </p:cNvSpPr>
          <p:nvPr/>
        </p:nvSpPr>
        <p:spPr>
          <a:xfrm>
            <a:off x="685800" y="1047750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/ 03</a:t>
            </a:r>
            <a:endParaRPr sz="2400" b="0">
              <a:solidFill>
                <a:srgbClr val="86B5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section-text-1"/>
          <p:cNvSpPr>
            <a:spLocks noGrp="1"/>
          </p:cNvSpPr>
          <p:nvPr/>
        </p:nvSpPr>
        <p:spPr>
          <a:xfrm>
            <a:off x="609600" y="2409825"/>
            <a:ext cx="10972800" cy="1162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AutoUI</a:t>
            </a:r>
            <a:endParaRPr sz="6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ection-text-2"/>
          <p:cNvSpPr>
            <a:spLocks noGrp="1"/>
          </p:cNvSpPr>
          <p:nvPr/>
        </p:nvSpPr>
        <p:spPr>
          <a:xfrm>
            <a:off x="685800" y="3819525"/>
            <a:ext cx="108204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跨平台界面与 Rust / iced 后端</a:t>
            </a:r>
            <a:endParaRPr sz="24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ection-text-3"/>
          <p:cNvSpPr>
            <a:spLocks noGrp="1"/>
          </p:cNvSpPr>
          <p:nvPr/>
        </p:nvSpPr>
        <p:spPr>
          <a:xfrm>
            <a:off x="685800" y="6343650"/>
            <a:ext cx="9525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Auto/Rust 生态融合</a:t>
            </a:r>
            <a:endParaRPr sz="12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ection-text-4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35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AutoUI 的多平台映射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AutoUI 与 iced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667125"/>
        </p:xfrm>
        <a:graphic>
          <a:graphicData uri="http://schemas.openxmlformats.org/drawingml/2006/table">
            <a:tbl>
              <a:tblPr/>
              <a:tblGrid>
                <a:gridCol w="3762375"/>
                <a:gridCol w="4476750"/>
                <a:gridCol w="2733675"/>
              </a:tblGrid>
              <a:tr h="733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平台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 生成 / 消费目标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当前定位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Web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Vue 组件 + TypeScript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主要路径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Windows / Linux / macOS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/ iced 原生应用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主要桌面路径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鸿蒙 HarmonyOS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ArkTS / ArkUI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已有 Demo / 可行性验证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安卓 Android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Kotlin / Jetpack Compose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已有 Demo / 可行性验证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72452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同一份 widget 描述，各后端对接自己的组件与运行时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AutoUI Demo：系统工具、图表与媒体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AutoUI 与 iced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2400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文件管理器</a:t>
            </a:r>
            <a:endParaRPr sz="19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0695" y="1895475"/>
            <a:ext cx="2956560" cy="1847850"/>
          </a:xfrm>
          <a:prstGeom prst="rect">
            <a:avLst/>
          </a:prstGeom>
        </p:spPr>
      </p:pic>
      <p:sp>
        <p:nvSpPr>
          <p:cNvPr id="6" name="text-4"/>
          <p:cNvSpPr>
            <a:spLocks noGrp="1"/>
          </p:cNvSpPr>
          <p:nvPr/>
        </p:nvSpPr>
        <p:spPr>
          <a:xfrm>
            <a:off x="6286500" y="152400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图表工坊</a:t>
            </a:r>
            <a:endParaRPr sz="19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7595" y="1895475"/>
            <a:ext cx="2956560" cy="1847850"/>
          </a:xfrm>
          <a:prstGeom prst="rect">
            <a:avLst/>
          </a:prstGeom>
        </p:spPr>
      </p:pic>
      <p:sp>
        <p:nvSpPr>
          <p:cNvPr id="8" name="text-5"/>
          <p:cNvSpPr>
            <a:spLocks noGrp="1"/>
          </p:cNvSpPr>
          <p:nvPr/>
        </p:nvSpPr>
        <p:spPr>
          <a:xfrm>
            <a:off x="609600" y="3838575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音乐播放器</a:t>
            </a:r>
            <a:endParaRPr sz="19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-6"/>
          <p:cNvSpPr>
            <a:spLocks noGrp="1"/>
          </p:cNvSpPr>
          <p:nvPr/>
        </p:nvSpPr>
        <p:spPr>
          <a:xfrm>
            <a:off x="6286500" y="3838575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日历</a:t>
            </a:r>
            <a:endParaRPr sz="19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084" y="4210050"/>
            <a:ext cx="1855582" cy="184785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695" y="4293235"/>
            <a:ext cx="2956560" cy="20262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AutoUI 娱乐应用：媒体与小游戏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52400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图片查看器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229100" y="152400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视频播放器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40481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>
                <a:sym typeface="+mn-ea"/>
              </a:rPr>
              <a:t>音乐播放器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096250" y="1524000"/>
            <a:ext cx="34671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扫雷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995" y="1952625"/>
            <a:ext cx="2813050" cy="184404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605" y="1952625"/>
            <a:ext cx="2813050" cy="183388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05" y="4464685"/>
            <a:ext cx="2804160" cy="184340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278" y="1952625"/>
            <a:ext cx="3233893" cy="4210050"/>
          </a:xfrm>
          <a:prstGeom prst="rect">
            <a:avLst/>
          </a:prstGeom>
        </p:spPr>
      </p:pic>
      <p:sp>
        <p:nvSpPr>
          <p:cNvPr id="11" name="矩形 10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AutoUI 与 iced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229100" y="40481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>
                <a:sym typeface="+mn-ea"/>
              </a:rPr>
              <a:t>纸牌接龙</a:t>
            </a:r>
            <a:endParaRPr lang="zh-CN" altLang="en-US"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95" y="4476750"/>
            <a:ext cx="2853690" cy="17837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AutoUI 管描述，iced 管原生渲染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AutoUI 与 iced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8115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源码节选</a:t>
            </a:r>
            <a:endParaRPr sz="20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mac-code-window"/>
          <p:cNvSpPr>
            <a:spLocks noGrp="1"/>
          </p:cNvSpPr>
          <p:nvPr/>
        </p:nvSpPr>
        <p:spPr>
          <a:xfrm>
            <a:off x="609600" y="2000250"/>
            <a:ext cx="6191250" cy="3810000"/>
          </a:xfrm>
          <a:prstGeom prst="roundRect">
            <a:avLst>
              <a:gd name="adj" fmla="val 3500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2" name="mac-window-control-0"/>
          <p:cNvSpPr>
            <a:spLocks noGrp="1"/>
          </p:cNvSpPr>
          <p:nvPr/>
        </p:nvSpPr>
        <p:spPr>
          <a:xfrm>
            <a:off x="819150" y="21812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3" name="mac-window-control-1"/>
          <p:cNvSpPr>
            <a:spLocks noGrp="1"/>
          </p:cNvSpPr>
          <p:nvPr/>
        </p:nvSpPr>
        <p:spPr>
          <a:xfrm>
            <a:off x="1038225" y="21812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4" name="mac-window-control-2"/>
          <p:cNvSpPr>
            <a:spLocks noGrp="1"/>
          </p:cNvSpPr>
          <p:nvPr/>
        </p:nvSpPr>
        <p:spPr>
          <a:xfrm>
            <a:off x="1257300" y="21812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5" name="code-file-label"/>
          <p:cNvSpPr>
            <a:spLocks noGrp="1"/>
          </p:cNvSpPr>
          <p:nvPr/>
        </p:nvSpPr>
        <p:spPr>
          <a:xfrm>
            <a:off x="3190875" y="209550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app.at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6" name="code-window-rule"/>
          <p:cNvSpPr>
            <a:spLocks noGrp="1"/>
          </p:cNvSpPr>
          <p:nvPr/>
        </p:nvSpPr>
        <p:spPr>
          <a:xfrm>
            <a:off x="781050" y="2428875"/>
            <a:ext cx="58483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5" name="text-4"/>
          <p:cNvSpPr>
            <a:spLocks noGrp="1"/>
          </p:cNvSpPr>
          <p:nvPr/>
        </p:nvSpPr>
        <p:spPr>
          <a:xfrm>
            <a:off x="857250" y="2571750"/>
            <a:ext cx="5695950" cy="3095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widget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App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view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text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`Count: ${.count}`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button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"+"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onclick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6" name="text-5"/>
          <p:cNvSpPr>
            <a:spLocks noGrp="1"/>
          </p:cNvSpPr>
          <p:nvPr/>
        </p:nvSpPr>
        <p:spPr>
          <a:xfrm>
            <a:off x="7524750" y="1771650"/>
            <a:ext cx="4048125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/ AURA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6"/>
          <p:cNvSpPr>
            <a:spLocks noGrp="1"/>
          </p:cNvSpPr>
          <p:nvPr/>
        </p:nvSpPr>
        <p:spPr>
          <a:xfrm>
            <a:off x="7524750" y="2286000"/>
            <a:ext cx="4048125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状态、布局与事件逻辑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统一元素与属性契约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7524750" y="3781425"/>
            <a:ext cx="4048125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/ iced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8"/>
          <p:cNvSpPr>
            <a:spLocks noGrp="1"/>
          </p:cNvSpPr>
          <p:nvPr/>
        </p:nvSpPr>
        <p:spPr>
          <a:xfrm>
            <a:off x="7524750" y="4295775"/>
            <a:ext cx="4048125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窗口、组件与输入事件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绘制、字体与图形资源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脚本模式与现有 UI 热重载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AutoUI 与 iced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429000"/>
        </p:xfrm>
        <a:graphic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85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步骤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现有机制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  改动 Auto widget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检测源码变化，重新解析界面与逻辑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  建立新执行桥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为新 widget 生成字节码 / VM Bridge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  迁移状态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按字段匹配保留值，新字段使用默认值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  切换与刷新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替换 bridge / view template，标记 dirty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6769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脚本修改省去 Rust 重编；宿主或 Rust 库变化仍有构建成本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DevTools：把原生界面映射回组件树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AutoUI 与 iced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8067675" y="1619250"/>
            <a:ext cx="3524250" cy="4095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真实应用</a:t>
            </a:r>
            <a:endParaRPr sz="21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8067675" y="2133600"/>
            <a:ext cx="3524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左侧是照片图库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正在运行的原生界面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5"/>
          <p:cNvSpPr>
            <a:spLocks noGrp="1"/>
          </p:cNvSpPr>
          <p:nvPr/>
        </p:nvSpPr>
        <p:spPr>
          <a:xfrm>
            <a:off x="8067675" y="3124200"/>
            <a:ext cx="3524250" cy="4095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组件树与属性</a:t>
            </a:r>
            <a:endParaRPr sz="21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6"/>
          <p:cNvSpPr>
            <a:spLocks noGrp="1"/>
          </p:cNvSpPr>
          <p:nvPr/>
        </p:nvSpPr>
        <p:spPr>
          <a:xfrm>
            <a:off x="8067675" y="3638550"/>
            <a:ext cx="3524250" cy="1104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8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中间展开 Column / Row</a:t>
            </a:r>
            <a:endParaRPr sz="18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8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选中 Text“全部照片”</a:t>
            </a:r>
            <a:endParaRPr sz="18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8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右侧查看 path 与 content</a:t>
            </a:r>
            <a:endParaRPr sz="18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8067675" y="5048250"/>
            <a:ext cx="352425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725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MCP 提供工具入口</a:t>
            </a:r>
            <a:endParaRPr sz="1725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725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snapshot / inspect</a:t>
            </a:r>
            <a:endParaRPr sz="1725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725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输入、操作与截图</a:t>
            </a:r>
            <a:endParaRPr sz="1725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529027"/>
            <a:ext cx="7048500" cy="456194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同一份应用逻辑，开发与发布各取所长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AutoUI 与 iced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524250"/>
        </p:xfrm>
        <a:graphic>
          <a:graphicData uri="http://schemas.openxmlformats.org/drawingml/2006/table">
            <a:tbl>
              <a:tblPr/>
              <a:tblGrid>
                <a:gridCol w="2000250"/>
                <a:gridCol w="4486275"/>
                <a:gridCol w="4486275"/>
              </a:tblGrid>
              <a:tr h="704850">
                <a:tc>
                  <a:txBody>
                    <a:bodyPr/>
                    <a:lstStyle/>
                    <a:p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开发模式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发布模式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 逻辑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AutoVM 即时执行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a2r 生成 Rust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能力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既有宿主与已制备的绑定包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库在同一 Cargo 图中链接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GUI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VM Bridge + iced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生成 Rust / iced 工程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关注点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反馈速度、调试与热重载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编译、打包与行为对照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76262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高频变化留在 Auto，稳定底座继续使用 Rust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E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section-text-0"/>
          <p:cNvSpPr>
            <a:spLocks noGrp="1"/>
          </p:cNvSpPr>
          <p:nvPr/>
        </p:nvSpPr>
        <p:spPr>
          <a:xfrm>
            <a:off x="685800" y="1047750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86B5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/ 03</a:t>
            </a:r>
            <a:endParaRPr sz="2400" b="0">
              <a:solidFill>
                <a:srgbClr val="86B5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section-text-1"/>
          <p:cNvSpPr>
            <a:spLocks noGrp="1"/>
          </p:cNvSpPr>
          <p:nvPr/>
        </p:nvSpPr>
        <p:spPr>
          <a:xfrm>
            <a:off x="609600" y="2409825"/>
            <a:ext cx="10972800" cy="1162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语言与 Rust 融合</a:t>
            </a:r>
            <a:endParaRPr sz="5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ection-text-2"/>
          <p:cNvSpPr>
            <a:spLocks noGrp="1"/>
          </p:cNvSpPr>
          <p:nvPr/>
        </p:nvSpPr>
        <p:spPr>
          <a:xfrm>
            <a:off x="685800" y="3819525"/>
            <a:ext cx="108204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语言演化、解释执行与原生发布</a:t>
            </a:r>
            <a:endParaRPr sz="24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ection-text-3"/>
          <p:cNvSpPr>
            <a:spLocks noGrp="1"/>
          </p:cNvSpPr>
          <p:nvPr/>
        </p:nvSpPr>
        <p:spPr>
          <a:xfrm>
            <a:off x="685800" y="6343650"/>
            <a:ext cx="9525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Auto/Rust 生态融合</a:t>
            </a:r>
            <a:endParaRPr sz="12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ection-text-4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  <a:endParaRPr sz="135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evolution-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演化 1：从 JSON 出发，让配置更好写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evolution-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语言的演化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evolution-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evolution-text-3"/>
          <p:cNvSpPr>
            <a:spLocks noGrp="1"/>
          </p:cNvSpPr>
          <p:nvPr/>
        </p:nvSpPr>
        <p:spPr>
          <a:xfrm>
            <a:off x="609600" y="15430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先描述数据，再改善配置的书写体验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evolution-text-4"/>
          <p:cNvSpPr>
            <a:spLocks noGrp="1"/>
          </p:cNvSpPr>
          <p:nvPr/>
        </p:nvSpPr>
        <p:spPr>
          <a:xfrm>
            <a:off x="609600" y="2314575"/>
            <a:ext cx="52387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JSON</a:t>
            </a:r>
            <a:endParaRPr sz="2175" b="1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evolution-text-5"/>
          <p:cNvSpPr>
            <a:spLocks noGrp="1"/>
          </p:cNvSpPr>
          <p:nvPr/>
        </p:nvSpPr>
        <p:spPr>
          <a:xfrm>
            <a:off x="6419850" y="2314575"/>
            <a:ext cx="52387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AutoConfig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mac-code-window-0"/>
          <p:cNvSpPr>
            <a:spLocks noGrp="1"/>
          </p:cNvSpPr>
          <p:nvPr/>
        </p:nvSpPr>
        <p:spPr>
          <a:xfrm>
            <a:off x="609600" y="2800350"/>
            <a:ext cx="5238750" cy="2781300"/>
          </a:xfrm>
          <a:prstGeom prst="roundRect">
            <a:avLst>
              <a:gd name="adj" fmla="val 4795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2" name="mac-control-0-0"/>
          <p:cNvSpPr>
            <a:spLocks noGrp="1"/>
          </p:cNvSpPr>
          <p:nvPr/>
        </p:nvSpPr>
        <p:spPr>
          <a:xfrm>
            <a:off x="819150" y="2981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3" name="mac-control-0-1"/>
          <p:cNvSpPr>
            <a:spLocks noGrp="1"/>
          </p:cNvSpPr>
          <p:nvPr/>
        </p:nvSpPr>
        <p:spPr>
          <a:xfrm>
            <a:off x="1038225" y="2981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4" name="mac-control-0-2"/>
          <p:cNvSpPr>
            <a:spLocks noGrp="1"/>
          </p:cNvSpPr>
          <p:nvPr/>
        </p:nvSpPr>
        <p:spPr>
          <a:xfrm>
            <a:off x="1257300" y="2981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5" name="code-file-label-0"/>
          <p:cNvSpPr>
            <a:spLocks noGrp="1"/>
          </p:cNvSpPr>
          <p:nvPr/>
        </p:nvSpPr>
        <p:spPr>
          <a:xfrm>
            <a:off x="2466975" y="2895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config.json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6" name="code-window-rule-0"/>
          <p:cNvSpPr>
            <a:spLocks noGrp="1"/>
          </p:cNvSpPr>
          <p:nvPr/>
        </p:nvSpPr>
        <p:spPr>
          <a:xfrm>
            <a:off x="781050" y="3228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evolution-text-6"/>
          <p:cNvSpPr>
            <a:spLocks noGrp="1"/>
          </p:cNvSpPr>
          <p:nvPr/>
        </p:nvSpPr>
        <p:spPr>
          <a:xfrm>
            <a:off x="838200" y="3314700"/>
            <a:ext cx="4781550" cy="2152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"name"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"Auto"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"port"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8080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"features"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"ui"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"rust"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17" name="mac-code-window-1"/>
          <p:cNvSpPr>
            <a:spLocks noGrp="1"/>
          </p:cNvSpPr>
          <p:nvPr/>
        </p:nvSpPr>
        <p:spPr>
          <a:xfrm>
            <a:off x="6419850" y="2800350"/>
            <a:ext cx="5238750" cy="2781300"/>
          </a:xfrm>
          <a:prstGeom prst="roundRect">
            <a:avLst>
              <a:gd name="adj" fmla="val 4795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8" name="mac-control-1-0"/>
          <p:cNvSpPr>
            <a:spLocks noGrp="1"/>
          </p:cNvSpPr>
          <p:nvPr/>
        </p:nvSpPr>
        <p:spPr>
          <a:xfrm>
            <a:off x="6629400" y="2981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9" name="mac-control-1-1"/>
          <p:cNvSpPr>
            <a:spLocks noGrp="1"/>
          </p:cNvSpPr>
          <p:nvPr/>
        </p:nvSpPr>
        <p:spPr>
          <a:xfrm>
            <a:off x="6848475" y="2981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20" name="mac-control-1-2"/>
          <p:cNvSpPr>
            <a:spLocks noGrp="1"/>
          </p:cNvSpPr>
          <p:nvPr/>
        </p:nvSpPr>
        <p:spPr>
          <a:xfrm>
            <a:off x="7067550" y="2981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1" name="code-file-label-1"/>
          <p:cNvSpPr>
            <a:spLocks noGrp="1"/>
          </p:cNvSpPr>
          <p:nvPr/>
        </p:nvSpPr>
        <p:spPr>
          <a:xfrm>
            <a:off x="8277225" y="2895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config.at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code-window-rule-1"/>
          <p:cNvSpPr>
            <a:spLocks noGrp="1"/>
          </p:cNvSpPr>
          <p:nvPr/>
        </p:nvSpPr>
        <p:spPr>
          <a:xfrm>
            <a:off x="6591300" y="3228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8" name="evolution-text-7"/>
          <p:cNvSpPr>
            <a:spLocks noGrp="1"/>
          </p:cNvSpPr>
          <p:nvPr/>
        </p:nvSpPr>
        <p:spPr>
          <a:xfrm>
            <a:off x="6648450" y="3314700"/>
            <a:ext cx="4781550" cy="2152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application config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name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"Auto"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port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8080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features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"ui"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"rust"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9" name="evolution-text-8"/>
          <p:cNvSpPr>
            <a:spLocks noGrp="1"/>
          </p:cNvSpPr>
          <p:nvPr/>
        </p:nvSpPr>
        <p:spPr>
          <a:xfrm>
            <a:off x="609600" y="58293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注释、无引号键名与换行分隔，让配置更适合人读写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evolution-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演化 2：引入 Node，形成 Atom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evolution-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语言的演化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evolution-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evolution-text-3"/>
          <p:cNvSpPr>
            <a:spLocks noGrp="1"/>
          </p:cNvSpPr>
          <p:nvPr/>
        </p:nvSpPr>
        <p:spPr>
          <a:xfrm>
            <a:off x="609600" y="15430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JSON 的键值数据与 XML 的节点树放在一起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evolution-text-4"/>
          <p:cNvSpPr>
            <a:spLocks noGrp="1"/>
          </p:cNvSpPr>
          <p:nvPr/>
        </p:nvSpPr>
        <p:spPr>
          <a:xfrm>
            <a:off x="609600" y="2314575"/>
            <a:ext cx="52387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XML：名称、属性与子节点</a:t>
            </a:r>
            <a:endParaRPr sz="2175" b="1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evolution-text-5"/>
          <p:cNvSpPr>
            <a:spLocks noGrp="1"/>
          </p:cNvSpPr>
          <p:nvPr/>
        </p:nvSpPr>
        <p:spPr>
          <a:xfrm>
            <a:off x="6419850" y="2314575"/>
            <a:ext cx="52387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Atom：同一棵树，更紧凑的写法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mac-code-window-0"/>
          <p:cNvSpPr>
            <a:spLocks noGrp="1"/>
          </p:cNvSpPr>
          <p:nvPr/>
        </p:nvSpPr>
        <p:spPr>
          <a:xfrm>
            <a:off x="609600" y="2800350"/>
            <a:ext cx="5238750" cy="2781300"/>
          </a:xfrm>
          <a:prstGeom prst="roundRect">
            <a:avLst>
              <a:gd name="adj" fmla="val 4795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2" name="mac-control-0-0"/>
          <p:cNvSpPr>
            <a:spLocks noGrp="1"/>
          </p:cNvSpPr>
          <p:nvPr/>
        </p:nvSpPr>
        <p:spPr>
          <a:xfrm>
            <a:off x="819150" y="2981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3" name="mac-control-0-1"/>
          <p:cNvSpPr>
            <a:spLocks noGrp="1"/>
          </p:cNvSpPr>
          <p:nvPr/>
        </p:nvSpPr>
        <p:spPr>
          <a:xfrm>
            <a:off x="1038225" y="2981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4" name="mac-control-0-2"/>
          <p:cNvSpPr>
            <a:spLocks noGrp="1"/>
          </p:cNvSpPr>
          <p:nvPr/>
        </p:nvSpPr>
        <p:spPr>
          <a:xfrm>
            <a:off x="1257300" y="2981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5" name="code-file-label-0"/>
          <p:cNvSpPr>
            <a:spLocks noGrp="1"/>
          </p:cNvSpPr>
          <p:nvPr/>
        </p:nvSpPr>
        <p:spPr>
          <a:xfrm>
            <a:off x="2466975" y="2895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data.xml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6" name="code-window-rule-0"/>
          <p:cNvSpPr>
            <a:spLocks noGrp="1"/>
          </p:cNvSpPr>
          <p:nvPr/>
        </p:nvSpPr>
        <p:spPr>
          <a:xfrm>
            <a:off x="781050" y="3228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evolution-text-6"/>
          <p:cNvSpPr>
            <a:spLocks noGrp="1"/>
          </p:cNvSpPr>
          <p:nvPr/>
        </p:nvSpPr>
        <p:spPr>
          <a:xfrm>
            <a:off x="838200" y="3314700"/>
            <a:ext cx="4781550" cy="2152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root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id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"123"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name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Puming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name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age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41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age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root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endParaRPr sz="1800"/>
          </a:p>
        </p:txBody>
      </p:sp>
      <p:sp>
        <p:nvSpPr>
          <p:cNvPr id="17" name="mac-code-window-1"/>
          <p:cNvSpPr>
            <a:spLocks noGrp="1"/>
          </p:cNvSpPr>
          <p:nvPr/>
        </p:nvSpPr>
        <p:spPr>
          <a:xfrm>
            <a:off x="6419850" y="2800350"/>
            <a:ext cx="5238750" cy="2781300"/>
          </a:xfrm>
          <a:prstGeom prst="roundRect">
            <a:avLst>
              <a:gd name="adj" fmla="val 4795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8" name="mac-control-1-0"/>
          <p:cNvSpPr>
            <a:spLocks noGrp="1"/>
          </p:cNvSpPr>
          <p:nvPr/>
        </p:nvSpPr>
        <p:spPr>
          <a:xfrm>
            <a:off x="6629400" y="2981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9" name="mac-control-1-1"/>
          <p:cNvSpPr>
            <a:spLocks noGrp="1"/>
          </p:cNvSpPr>
          <p:nvPr/>
        </p:nvSpPr>
        <p:spPr>
          <a:xfrm>
            <a:off x="6848475" y="2981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20" name="mac-control-1-2"/>
          <p:cNvSpPr>
            <a:spLocks noGrp="1"/>
          </p:cNvSpPr>
          <p:nvPr/>
        </p:nvSpPr>
        <p:spPr>
          <a:xfrm>
            <a:off x="7067550" y="2981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1" name="code-file-label-1"/>
          <p:cNvSpPr>
            <a:spLocks noGrp="1"/>
          </p:cNvSpPr>
          <p:nvPr/>
        </p:nvSpPr>
        <p:spPr>
          <a:xfrm>
            <a:off x="8277225" y="2895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data.atom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code-window-rule-1"/>
          <p:cNvSpPr>
            <a:spLocks noGrp="1"/>
          </p:cNvSpPr>
          <p:nvPr/>
        </p:nvSpPr>
        <p:spPr>
          <a:xfrm>
            <a:off x="6591300" y="3228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8" name="evolution-text-7"/>
          <p:cNvSpPr>
            <a:spLocks noGrp="1"/>
          </p:cNvSpPr>
          <p:nvPr/>
        </p:nvSpPr>
        <p:spPr>
          <a:xfrm>
            <a:off x="6648450" y="3314700"/>
            <a:ext cx="4781550" cy="2152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root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id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"123"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name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"Puming"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age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9" name="evolution-text-8"/>
          <p:cNvSpPr>
            <a:spLocks noGrp="1"/>
          </p:cNvSpPr>
          <p:nvPr/>
        </p:nvSpPr>
        <p:spPr>
          <a:xfrm>
            <a:off x="609600" y="58293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Atom（AuTo Object Markup）：配置、UI 与代码生成的结构化载体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evolution-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演化 3：加入计算，配置成为程序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evolution-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语言的演化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evolution-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21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evolution-text-3"/>
          <p:cNvSpPr>
            <a:spLocks noGrp="1"/>
          </p:cNvSpPr>
          <p:nvPr/>
        </p:nvSpPr>
        <p:spPr>
          <a:xfrm>
            <a:off x="609600" y="15430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从“写出结果”到“写出生成结果的规则”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evolution-text-4"/>
          <p:cNvSpPr>
            <a:spLocks noGrp="1"/>
          </p:cNvSpPr>
          <p:nvPr/>
        </p:nvSpPr>
        <p:spPr>
          <a:xfrm>
            <a:off x="609600" y="2438400"/>
            <a:ext cx="4191000" cy="2571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var 让数据可以变化</a:t>
            </a:r>
            <a:endParaRPr sz="21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2100"/>
          </a:p>
          <a:p>
            <a: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fn 让计算规则可以复用</a:t>
            </a:r>
            <a:endParaRPr sz="21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2100"/>
          </a:p>
          <a:p>
            <a: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if / for 按条件批量处理</a:t>
            </a:r>
            <a:endParaRPr sz="21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mac-code-window-0"/>
          <p:cNvSpPr>
            <a:spLocks noGrp="1"/>
          </p:cNvSpPr>
          <p:nvPr/>
        </p:nvSpPr>
        <p:spPr>
          <a:xfrm>
            <a:off x="5381625" y="2133600"/>
            <a:ext cx="6191250" cy="3581400"/>
          </a:xfrm>
          <a:prstGeom prst="roundRect">
            <a:avLst>
              <a:gd name="adj" fmla="val 3723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0" name="mac-control-0-0"/>
          <p:cNvSpPr>
            <a:spLocks noGrp="1"/>
          </p:cNvSpPr>
          <p:nvPr/>
        </p:nvSpPr>
        <p:spPr>
          <a:xfrm>
            <a:off x="5591175" y="231457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1" name="mac-control-0-1"/>
          <p:cNvSpPr>
            <a:spLocks noGrp="1"/>
          </p:cNvSpPr>
          <p:nvPr/>
        </p:nvSpPr>
        <p:spPr>
          <a:xfrm>
            <a:off x="5810250" y="231457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2" name="mac-control-0-2"/>
          <p:cNvSpPr>
            <a:spLocks noGrp="1"/>
          </p:cNvSpPr>
          <p:nvPr/>
        </p:nvSpPr>
        <p:spPr>
          <a:xfrm>
            <a:off x="6029325" y="231457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3" name="code-file-label-0"/>
          <p:cNvSpPr>
            <a:spLocks noGrp="1"/>
          </p:cNvSpPr>
          <p:nvPr/>
        </p:nvSpPr>
        <p:spPr>
          <a:xfrm>
            <a:off x="7715250" y="222885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report.at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4" name="code-window-rule-0"/>
          <p:cNvSpPr>
            <a:spLocks noGrp="1"/>
          </p:cNvSpPr>
          <p:nvPr/>
        </p:nvSpPr>
        <p:spPr>
          <a:xfrm>
            <a:off x="5553075" y="2562225"/>
            <a:ext cx="58483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evolution-text-5"/>
          <p:cNvSpPr>
            <a:spLocks noGrp="1"/>
          </p:cNvSpPr>
          <p:nvPr/>
        </p:nvSpPr>
        <p:spPr>
          <a:xfrm>
            <a:off x="5610225" y="2647950"/>
            <a:ext cx="5734050" cy="2952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report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3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每项为 [分数, 考生人数]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3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var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bands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95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12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58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8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81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20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3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for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bands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63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60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</a:t>
            </a:r>
            <a:r>
              <a:rPr sz="163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</a:t>
            </a:r>
            <a:r>
              <a:rPr sz="163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score-info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63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candidates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63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630"/>
          </a:p>
          <a:p>
            <a:pPr>
              <a:lnSpc>
                <a:spcPts val="1925"/>
              </a:lnSpc>
              <a:buNone/>
            </a:pPr>
            <a:r>
              <a:rPr sz="163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report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63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630"/>
          </a:p>
        </p:txBody>
      </p:sp>
      <p:sp>
        <p:nvSpPr>
          <p:cNvPr id="7" name="evolution-text-6"/>
          <p:cNvSpPr>
            <a:spLocks noGrp="1"/>
          </p:cNvSpPr>
          <p:nvPr/>
        </p:nvSpPr>
        <p:spPr>
          <a:xfrm>
            <a:off x="609600" y="58293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动态配置与脚本共用变量、函数和控制流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evolution-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演化 4：补上类型，接入 Rust 静态生态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evolution-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语言的演化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evolution-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22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evolution-text-3"/>
          <p:cNvSpPr>
            <a:spLocks noGrp="1"/>
          </p:cNvSpPr>
          <p:nvPr/>
        </p:nvSpPr>
        <p:spPr>
          <a:xfrm>
            <a:off x="609600" y="15430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数据、对象行为与复用关系，都有了静态表达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evolution-text-4"/>
          <p:cNvSpPr>
            <a:spLocks noGrp="1"/>
          </p:cNvSpPr>
          <p:nvPr/>
        </p:nvSpPr>
        <p:spPr>
          <a:xfrm>
            <a:off x="609600" y="2428875"/>
            <a:ext cx="4191000" cy="2590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type 与方法组织对象</a:t>
            </a:r>
            <a:endParaRPr sz="21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2100"/>
          </a:p>
          <a:p>
            <a: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&lt;K, V&gt; 表达泛型复用</a:t>
            </a:r>
            <a:endParaRPr sz="21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2100"/>
          </a:p>
          <a:p>
            <a:pPr>
              <a:def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#[...] 为工具链提供标注</a:t>
            </a:r>
            <a:endParaRPr sz="2100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mac-code-window-0"/>
          <p:cNvSpPr>
            <a:spLocks noGrp="1"/>
          </p:cNvSpPr>
          <p:nvPr/>
        </p:nvSpPr>
        <p:spPr>
          <a:xfrm>
            <a:off x="5381625" y="2076450"/>
            <a:ext cx="6191250" cy="3638550"/>
          </a:xfrm>
          <a:prstGeom prst="roundRect">
            <a:avLst>
              <a:gd name="adj" fmla="val 3665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0" name="mac-control-0-0"/>
          <p:cNvSpPr>
            <a:spLocks noGrp="1"/>
          </p:cNvSpPr>
          <p:nvPr/>
        </p:nvSpPr>
        <p:spPr>
          <a:xfrm>
            <a:off x="5591175" y="22574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1" name="mac-control-0-1"/>
          <p:cNvSpPr>
            <a:spLocks noGrp="1"/>
          </p:cNvSpPr>
          <p:nvPr/>
        </p:nvSpPr>
        <p:spPr>
          <a:xfrm>
            <a:off x="5810250" y="22574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2" name="mac-control-0-2"/>
          <p:cNvSpPr>
            <a:spLocks noGrp="1"/>
          </p:cNvSpPr>
          <p:nvPr/>
        </p:nvSpPr>
        <p:spPr>
          <a:xfrm>
            <a:off x="6029325" y="22574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3" name="code-file-label-0"/>
          <p:cNvSpPr>
            <a:spLocks noGrp="1"/>
          </p:cNvSpPr>
          <p:nvPr/>
        </p:nvSpPr>
        <p:spPr>
          <a:xfrm>
            <a:off x="7715250" y="21717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types.at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4" name="code-window-rule-0"/>
          <p:cNvSpPr>
            <a:spLocks noGrp="1"/>
          </p:cNvSpPr>
          <p:nvPr/>
        </p:nvSpPr>
        <p:spPr>
          <a:xfrm>
            <a:off x="5553075" y="2505075"/>
            <a:ext cx="58483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evolution-text-5"/>
          <p:cNvSpPr>
            <a:spLocks noGrp="1"/>
          </p:cNvSpPr>
          <p:nvPr/>
        </p:nvSpPr>
        <p:spPr>
          <a:xfrm>
            <a:off x="5610225" y="2590800"/>
            <a:ext cx="5734050" cy="3009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derive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Debug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Clone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type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Pair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key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K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get_val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self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self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val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Pair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key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"hello"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get_val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</p:txBody>
      </p:sp>
      <p:sp>
        <p:nvSpPr>
          <p:cNvPr id="7" name="evolution-text-6"/>
          <p:cNvSpPr>
            <a:spLocks noGrp="1"/>
          </p:cNvSpPr>
          <p:nvPr/>
        </p:nvSpPr>
        <p:spPr>
          <a:xfrm>
            <a:off x="609600" y="58293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a2r 将受支持的语法映射为 Rust，接上类型检查与原生发布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evolution-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演化 5：解释器进入编译期，实现元编程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evolution-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语言的演化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evolution-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23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evolution-text-3"/>
          <p:cNvSpPr>
            <a:spLocks noGrp="1"/>
          </p:cNvSpPr>
          <p:nvPr/>
        </p:nvSpPr>
        <p:spPr>
          <a:xfrm>
            <a:off x="609600" y="15430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同一套语言既写应用，也参与生成应用代码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evolution-text-4"/>
          <p:cNvSpPr>
            <a:spLocks noGrp="1"/>
          </p:cNvSpPr>
          <p:nvPr/>
        </p:nvSpPr>
        <p:spPr>
          <a:xfrm>
            <a:off x="609600" y="2228850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Auto：编译期条件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evolution-text-5"/>
          <p:cNvSpPr>
            <a:spLocks noGrp="1"/>
          </p:cNvSpPr>
          <p:nvPr/>
        </p:nvSpPr>
        <p:spPr>
          <a:xfrm>
            <a:off x="6419850" y="2228850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裁剪后的 Auto，再交给 a2r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mac-code-window-0"/>
          <p:cNvSpPr>
            <a:spLocks noGrp="1"/>
          </p:cNvSpPr>
          <p:nvPr/>
        </p:nvSpPr>
        <p:spPr>
          <a:xfrm>
            <a:off x="609600" y="2686050"/>
            <a:ext cx="5238750" cy="3028950"/>
          </a:xfrm>
          <a:prstGeom prst="roundRect">
            <a:avLst>
              <a:gd name="adj" fmla="val 4403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3" name="mac-control-0-0"/>
          <p:cNvSpPr>
            <a:spLocks noGrp="1"/>
          </p:cNvSpPr>
          <p:nvPr/>
        </p:nvSpPr>
        <p:spPr>
          <a:xfrm>
            <a:off x="819150" y="28670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4" name="mac-control-0-1"/>
          <p:cNvSpPr>
            <a:spLocks noGrp="1"/>
          </p:cNvSpPr>
          <p:nvPr/>
        </p:nvSpPr>
        <p:spPr>
          <a:xfrm>
            <a:off x="1038225" y="28670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5" name="mac-control-0-2"/>
          <p:cNvSpPr>
            <a:spLocks noGrp="1"/>
          </p:cNvSpPr>
          <p:nvPr/>
        </p:nvSpPr>
        <p:spPr>
          <a:xfrm>
            <a:off x="1257300" y="28670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6" name="code-file-label-0"/>
          <p:cNvSpPr>
            <a:spLocks noGrp="1"/>
          </p:cNvSpPr>
          <p:nvPr/>
        </p:nvSpPr>
        <p:spPr>
          <a:xfrm>
            <a:off x="2466975" y="27813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comptime.at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7" name="code-window-rule-0"/>
          <p:cNvSpPr>
            <a:spLocks noGrp="1"/>
          </p:cNvSpPr>
          <p:nvPr/>
        </p:nvSpPr>
        <p:spPr>
          <a:xfrm>
            <a:off x="781050" y="31146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evolution-text-6"/>
          <p:cNvSpPr>
            <a:spLocks noGrp="1"/>
          </p:cNvSpPr>
          <p:nvPr/>
        </p:nvSpPr>
        <p:spPr>
          <a:xfrm>
            <a:off x="838200" y="3200400"/>
            <a:ext cx="4781550" cy="2400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#if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true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76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 </a:t>
            </a:r>
            <a:r>
              <a:rPr sz="176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return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"Auto + Rust"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else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76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 </a:t>
            </a:r>
            <a:r>
              <a:rPr sz="176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return</a:t>
            </a: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76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"fallback"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760"/>
          </a:p>
          <a:p>
            <a:pPr>
              <a:lnSpc>
                <a:spcPts val="2080"/>
              </a:lnSpc>
              <a:buNone/>
            </a:pPr>
            <a:r>
              <a:rPr sz="176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760"/>
          </a:p>
        </p:txBody>
      </p:sp>
      <p:sp>
        <p:nvSpPr>
          <p:cNvPr id="18" name="mac-code-window-1"/>
          <p:cNvSpPr>
            <a:spLocks noGrp="1"/>
          </p:cNvSpPr>
          <p:nvPr/>
        </p:nvSpPr>
        <p:spPr>
          <a:xfrm>
            <a:off x="6419850" y="2686050"/>
            <a:ext cx="5238750" cy="1533525"/>
          </a:xfrm>
          <a:prstGeom prst="roundRect">
            <a:avLst>
              <a:gd name="adj" fmla="val 8696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9" name="mac-control-1-0"/>
          <p:cNvSpPr>
            <a:spLocks noGrp="1"/>
          </p:cNvSpPr>
          <p:nvPr/>
        </p:nvSpPr>
        <p:spPr>
          <a:xfrm>
            <a:off x="6629400" y="28670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20" name="mac-control-1-1"/>
          <p:cNvSpPr>
            <a:spLocks noGrp="1"/>
          </p:cNvSpPr>
          <p:nvPr/>
        </p:nvSpPr>
        <p:spPr>
          <a:xfrm>
            <a:off x="6848475" y="28670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21" name="mac-control-1-2"/>
          <p:cNvSpPr>
            <a:spLocks noGrp="1"/>
          </p:cNvSpPr>
          <p:nvPr/>
        </p:nvSpPr>
        <p:spPr>
          <a:xfrm>
            <a:off x="7067550" y="28670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2" name="code-file-label-1"/>
          <p:cNvSpPr>
            <a:spLocks noGrp="1"/>
          </p:cNvSpPr>
          <p:nvPr/>
        </p:nvSpPr>
        <p:spPr>
          <a:xfrm>
            <a:off x="8277225" y="27813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expanded.at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3" name="code-window-rule-1"/>
          <p:cNvSpPr>
            <a:spLocks noGrp="1"/>
          </p:cNvSpPr>
          <p:nvPr/>
        </p:nvSpPr>
        <p:spPr>
          <a:xfrm>
            <a:off x="6591300" y="31146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8" name="evolution-text-7"/>
          <p:cNvSpPr>
            <a:spLocks noGrp="1"/>
          </p:cNvSpPr>
          <p:nvPr/>
        </p:nvSpPr>
        <p:spPr>
          <a:xfrm>
            <a:off x="6648450" y="3200400"/>
            <a:ext cx="478155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return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"Auto + Rust"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9" name="evolution-text-8"/>
          <p:cNvSpPr>
            <a:spLocks noGrp="1"/>
          </p:cNvSpPr>
          <p:nvPr/>
        </p:nvSpPr>
        <p:spPr>
          <a:xfrm>
            <a:off x="6419850" y="4400550"/>
            <a:ext cx="523875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解释器在编译期裁剪 AST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转译器消费裁剪后的程序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evolution-text-9"/>
          <p:cNvSpPr>
            <a:spLocks noGrp="1"/>
          </p:cNvSpPr>
          <p:nvPr/>
        </p:nvSpPr>
        <p:spPr>
          <a:xfrm>
            <a:off x="609600" y="58293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当前已支持语句级 CTE，表达式级替换与完整 Rust 兼容仍有边界</a:t>
            </a:r>
            <a:endParaRPr sz="1725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编程语言的“不可能三角”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作为 Rust 的“寄生语言”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7334250" y="1714500"/>
            <a:ext cx="41910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开发效率</a:t>
            </a:r>
            <a:endParaRPr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7334250" y="2238375"/>
            <a:ext cx="4191000" cy="838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脚本执行与热重载，减少每次修改的等待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5"/>
          <p:cNvSpPr>
            <a:spLocks noGrp="1"/>
          </p:cNvSpPr>
          <p:nvPr/>
        </p:nvSpPr>
        <p:spPr>
          <a:xfrm>
            <a:off x="7334250" y="3143250"/>
            <a:ext cx="41910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运行性能</a:t>
            </a:r>
            <a:endParaRPr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6"/>
          <p:cNvSpPr>
            <a:spLocks noGrp="1"/>
          </p:cNvSpPr>
          <p:nvPr/>
        </p:nvSpPr>
        <p:spPr>
          <a:xfrm>
            <a:off x="7334250" y="3667125"/>
            <a:ext cx="4191000" cy="838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把稳定逻辑转成 Rust，交给原生工具链优化与发布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7334250" y="4572000"/>
            <a:ext cx="41910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</a:t>
            </a:r>
            <a:endParaRPr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8"/>
          <p:cNvSpPr>
            <a:spLocks noGrp="1"/>
          </p:cNvSpPr>
          <p:nvPr/>
        </p:nvSpPr>
        <p:spPr>
          <a:xfrm>
            <a:off x="7334250" y="50958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表达资源访问意图，结合静态分析与运行时约束</a:t>
            </a:r>
            <a:endParaRPr sz="187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-9"/>
          <p:cNvSpPr>
            <a:spLocks noGrp="1"/>
          </p:cNvSpPr>
          <p:nvPr/>
        </p:nvSpPr>
        <p:spPr>
          <a:xfrm>
            <a:off x="609600" y="59055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动静相宜：动态开发效率、静态发布性能，安全贯穿两条路径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riangle-three-goals"/>
          <p:cNvSpPr>
            <a:spLocks noGrp="1"/>
          </p:cNvSpPr>
          <p:nvPr/>
        </p:nvSpPr>
        <p:spPr>
          <a:xfrm>
            <a:off x="1047750" y="2533650"/>
            <a:ext cx="5048250" cy="2705100"/>
          </a:xfrm>
          <a:custGeom>
            <a:avLst/>
            <a:gdLst/>
            <a:ahLst/>
            <a:cxnLst/>
            <a:pathLst>
              <a:path w="5048250" h="2705100">
                <a:moveTo>
                  <a:pt x="2524125" y="0"/>
                </a:moveTo>
                <a:lnTo>
                  <a:pt x="5048250" y="2705100"/>
                </a:lnTo>
                <a:lnTo>
                  <a:pt x="0" y="2705100"/>
                </a:lnTo>
                <a:close/>
              </a:path>
            </a:pathLst>
          </a:custGeom>
          <a:solidFill>
            <a:srgbClr val="EEF3FF"/>
          </a:solidFill>
          <a:ln w="28575">
            <a:solidFill>
              <a:srgbClr val="7698DE"/>
            </a:solidFill>
          </a:ln>
        </p:spPr>
      </p:sp>
      <p:sp>
        <p:nvSpPr>
          <p:cNvPr id="13" name="goal-vertex"/>
          <p:cNvSpPr>
            <a:spLocks noGrp="1"/>
          </p:cNvSpPr>
          <p:nvPr/>
        </p:nvSpPr>
        <p:spPr>
          <a:xfrm>
            <a:off x="3505200" y="24669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</p:sp>
      <p:sp>
        <p:nvSpPr>
          <p:cNvPr id="14" name="goal-vertex"/>
          <p:cNvSpPr>
            <a:spLocks noGrp="1"/>
          </p:cNvSpPr>
          <p:nvPr/>
        </p:nvSpPr>
        <p:spPr>
          <a:xfrm>
            <a:off x="981075" y="51720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</p:sp>
      <p:sp>
        <p:nvSpPr>
          <p:cNvPr id="15" name="goal-vertex"/>
          <p:cNvSpPr>
            <a:spLocks noGrp="1"/>
          </p:cNvSpPr>
          <p:nvPr/>
        </p:nvSpPr>
        <p:spPr>
          <a:xfrm>
            <a:off x="6029325" y="51720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</p:sp>
      <p:sp>
        <p:nvSpPr>
          <p:cNvPr id="16" name="triangle-label"/>
          <p:cNvSpPr>
            <a:spLocks noGrp="1"/>
          </p:cNvSpPr>
          <p:nvPr/>
        </p:nvSpPr>
        <p:spPr>
          <a:xfrm>
            <a:off x="2333625" y="1857375"/>
            <a:ext cx="2476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ctr">
              <a:def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def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开发效率</a:t>
            </a:r>
            <a:endParaRPr sz="24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riangle-label"/>
          <p:cNvSpPr>
            <a:spLocks noGrp="1"/>
          </p:cNvSpPr>
          <p:nvPr/>
        </p:nvSpPr>
        <p:spPr>
          <a:xfrm>
            <a:off x="419100" y="5410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ctr">
              <a:def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def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运行性能</a:t>
            </a:r>
            <a:endParaRPr sz="24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riangle-label"/>
          <p:cNvSpPr>
            <a:spLocks noGrp="1"/>
          </p:cNvSpPr>
          <p:nvPr/>
        </p:nvSpPr>
        <p:spPr>
          <a:xfrm>
            <a:off x="5086350" y="54102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ctr">
              <a:def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def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</a:t>
            </a:r>
            <a:endParaRPr sz="24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riangle-label"/>
          <p:cNvSpPr>
            <a:spLocks noGrp="1"/>
          </p:cNvSpPr>
          <p:nvPr/>
        </p:nvSpPr>
        <p:spPr>
          <a:xfrm>
            <a:off x="2476500" y="3714750"/>
            <a:ext cx="2190750" cy="590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ctr">
              <a:defRPr sz="36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defRPr sz="36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6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36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riangle-label"/>
          <p:cNvSpPr>
            <a:spLocks noGrp="1"/>
          </p:cNvSpPr>
          <p:nvPr/>
        </p:nvSpPr>
        <p:spPr>
          <a:xfrm>
            <a:off x="2476500" y="4333875"/>
            <a:ext cx="21907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ctr"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def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动静相宜</a:t>
            </a:r>
            <a:endParaRPr sz="19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“寄生”Rust：共享库生态，补上脚本开发层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作为 Rust 的“寄生语言”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219452"/>
        </p:xfrm>
        <a:graphic>
          <a:graphicData uri="http://schemas.openxmlformats.org/drawingml/2006/table">
            <a:tbl>
              <a:tblPr/>
              <a:tblGrid>
                <a:gridCol w="1809750"/>
                <a:gridCol w="4533900"/>
                <a:gridCol w="4629150"/>
              </a:tblGrid>
              <a:tr h="80486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路径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 这一侧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那一侧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开发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源码 / AST、ABC、AutoVM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native / shim、真实 Rust 库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发布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AST、CTEE、逃逸分析、a2r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源码、Cargo / rustc、机器码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共同契约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类型与资源意图、可观察行为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库 API、生命周期、错误与线程规则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5245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提供能力与交付，Auto 降低调用这些能力的迭代成本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use.rs：直接消费 Rust 三方库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Rust 互操作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regex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version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"1.11.3"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use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rs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regex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Regex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Regex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new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"\d+"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unwrap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is_match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"abc123"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"matched"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use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regex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Regex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Regex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new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r"\d+"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unwrap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is_match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"abc123"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println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"matched"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节选来自真实 crate 对拍，右侧为对应 Rust 调用示意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ABI：动态加载的是制备好的绑定包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Rust 互操作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27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2400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00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默认 ABI 与 repr(Rust) 布局不承诺跨构建稳定</a:t>
            </a:r>
            <a:endParaRPr sz="2100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09600" y="2133600"/>
          <a:ext cx="10972800" cy="3181350"/>
        </p:xfrm>
        <a:graphic>
          <a:graphicData uri="http://schemas.openxmlformats.org/drawingml/2006/table">
            <a:tbl>
              <a:tblPr/>
              <a:tblGrid>
                <a:gridCol w="2238375"/>
                <a:gridCol w="8734425"/>
              </a:tblGrid>
              <a:tr h="63627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时刻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发生的工作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63627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构建期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读取签名 / 类型，选择可支持接口与具体泛型实例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编译期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生成并编译 shim，冻结本次构建的调用与对象操作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63627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装载期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检查 target、工具链 / 依赖 / 指纹，装入匹配的包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调用与释放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参数封送、opaque handle、正确析构与库保活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sp>
        <p:nvSpPr>
          <p:cNvPr id="6" name="text-4"/>
          <p:cNvSpPr>
            <a:spLocks noGrp="1"/>
          </p:cNvSpPr>
          <p:nvPr/>
        </p:nvSpPr>
        <p:spPr>
          <a:xfrm>
            <a:off x="609600" y="576262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use.rs 是语言入口，签名、布局与生命周期合同才是互操作基础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两种库使用方式：Auto 封装或直接 Rust API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Rust 互操作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28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505200"/>
        </p:xfrm>
        <a:graphic>
          <a:graphicData uri="http://schemas.openxmlformats.org/drawingml/2006/table">
            <a:tbl>
              <a:tblPr/>
              <a:tblGrid>
                <a:gridCol w="1714500"/>
                <a:gridCol w="4629150"/>
                <a:gridCol w="4629150"/>
              </a:tblGrid>
              <a:tr h="701040">
                <a:tc>
                  <a:txBody>
                    <a:bodyPr/>
                    <a:lstStyle/>
                    <a:p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 标准库封装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生态直用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源码侧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 风格 API / auto.*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use.rs std::… / dep crate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VM 侧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native shim 调 Rust 实现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预编译绑定包 / Rust 宿主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a2r 侧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a2r-std 镜像或对应映射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生成 Rust use 与库调用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适用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统一 API、降低常见任务接线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复用既有 Rust 工程和库语义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sp>
        <p:nvSpPr>
          <p:cNvPr id="8" name="mac-code-window-0"/>
          <p:cNvSpPr>
            <a:spLocks noGrp="1"/>
          </p:cNvSpPr>
          <p:nvPr/>
        </p:nvSpPr>
        <p:spPr>
          <a:xfrm>
            <a:off x="609600" y="5324475"/>
            <a:ext cx="10972800" cy="914400"/>
          </a:xfrm>
          <a:prstGeom prst="roundRect">
            <a:avLst>
              <a:gd name="adj" fmla="val 14583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9" name="mac-control-0-0"/>
          <p:cNvSpPr>
            <a:spLocks noGrp="1"/>
          </p:cNvSpPr>
          <p:nvPr/>
        </p:nvSpPr>
        <p:spPr>
          <a:xfrm>
            <a:off x="819150" y="5505450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0" name="mac-control-0-1"/>
          <p:cNvSpPr>
            <a:spLocks noGrp="1"/>
          </p:cNvSpPr>
          <p:nvPr/>
        </p:nvSpPr>
        <p:spPr>
          <a:xfrm>
            <a:off x="1038225" y="5505450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1" name="mac-control-0-2"/>
          <p:cNvSpPr>
            <a:spLocks noGrp="1"/>
          </p:cNvSpPr>
          <p:nvPr/>
        </p:nvSpPr>
        <p:spPr>
          <a:xfrm>
            <a:off x="1257300" y="5505450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2" name="code-window-rule-0"/>
          <p:cNvSpPr>
            <a:spLocks noGrp="1"/>
          </p:cNvSpPr>
          <p:nvPr/>
        </p:nvSpPr>
        <p:spPr>
          <a:xfrm>
            <a:off x="781050" y="5753100"/>
            <a:ext cx="1062990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4"/>
          <p:cNvSpPr>
            <a:spLocks noGrp="1"/>
          </p:cNvSpPr>
          <p:nvPr/>
        </p:nvSpPr>
        <p:spPr>
          <a:xfrm>
            <a:off x="838200" y="583882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fs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read_to_string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&amp;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path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unwrap_or_default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</p:txBody>
      </p:sp>
      <p:sp>
        <p:nvSpPr>
          <p:cNvPr id="5" name="text-3"/>
          <p:cNvSpPr>
            <a:spLocks noGrp="1"/>
          </p:cNvSpPr>
          <p:nvPr/>
        </p:nvSpPr>
        <p:spPr>
          <a:xfrm>
            <a:off x="2000250" y="5410200"/>
            <a:ext cx="8382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1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75" b="1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现有 read_text 的 Rust 实现</a:t>
            </a:r>
            <a:endParaRPr sz="1275" b="1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语句级语义对应，需要三种证据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语义一致性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29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219452"/>
        </p:xfrm>
        <a:graphic>
          <a:graphicData uri="http://schemas.openxmlformats.org/drawingml/2006/table">
            <a:tbl>
              <a:tblPr/>
              <a:tblGrid>
                <a:gridCol w="2667000"/>
                <a:gridCol w="4429125"/>
                <a:gridCol w="3876675"/>
              </a:tblGrid>
              <a:tr h="80486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证据层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能回答什么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不能替代什么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源码 / Rust 金样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语法和 lowering 如何对应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实际 Rust 编译和运行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rustc 实编 + 运行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产物可构建，行为符合样例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VM 与 Rust 的双轨一致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三方 parity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AutoVM / a2r / 原生 Rust 的结果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未覆盖签名与并发的全局证明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54355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测试同时覆盖成功结果、错误结果与边界行为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 1：变量、分支和循环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/ Rust 语义对照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loop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break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for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j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j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mut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loop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break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count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for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j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println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"{}"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j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节选与排版整理。let / const 及 while 同样有对应生成规则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 2：is 对应 Rust 的 match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/ Rust 语义对照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31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10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is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 is ZERO"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 is ONE"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else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 is Large"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match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println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 is ZERO"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println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 is ONE"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_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println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 is Large"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改变 x，可在 Playground 对照分支输出与生成的 match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 3：type、字段与方法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/ Rust 语义对照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32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type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Calculator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value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add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struct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Calculator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pub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value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impl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Calculator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add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&amp;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self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数据声明生成 struct，方法生成 impl。Rust derive 属性从节选中省略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 4：?T / !T 与 Option / Result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/ Rust 语义对照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33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?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Some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?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None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chain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safe_divide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?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完整泛型写法也合法：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Option&lt;int&gt; / Result&lt;int, str&gt;</a:t>
            </a:r>
            <a:endParaRPr sz="180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Option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Some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Option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None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E = Box&lt;dyn std::error::Error&gt;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chain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Result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safe_divide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?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常用 ?T / !T 简写，也支持显式 Option&lt;T&gt; / Result&lt;T, E&gt;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 5：~T、Future 与 async fn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/ Rust 语义对照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34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fetch_data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url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~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return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url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异步表达式节选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~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work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await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work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await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async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fetch_data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url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&amp;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String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return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url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to_string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async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move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work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await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work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await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脚本模式的 ? / ! / ~ 统一简写：设计方向，尚未完整实现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 6：spec 与有约束泛型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/ Rust 语义对照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35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spec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Comparable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9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compare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other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690"/>
          </a:p>
          <a:p>
            <a:pPr>
              <a:lnSpc>
                <a:spcPts val="1990"/>
              </a:lnSpc>
              <a:buNone/>
            </a:pP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max_of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has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Comparable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9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按 compare 选择 a 或 b</a:t>
            </a: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690"/>
          </a:p>
          <a:p>
            <a:pPr>
              <a:lnSpc>
                <a:spcPts val="1990"/>
              </a:lnSpc>
              <a:buNone/>
            </a:pP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type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as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Comparable</a:t>
            </a: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69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69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字段与方法</a:t>
            </a:r>
            <a:endParaRPr sz="1690"/>
          </a:p>
          <a:p>
            <a:pPr>
              <a:lnSpc>
                <a:spcPts val="1990"/>
              </a:lnSpc>
              <a:buNone/>
            </a:pPr>
            <a:r>
              <a:rPr sz="169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69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trait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Comparable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&amp;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self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other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max_of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Comparable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mut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,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mut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对应选择逻辑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impl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Comparable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for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…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接口与函数头取自金样，省略的函数体用注释标明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 7：编译期执行与元编程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Auto / Rust 语义对照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endParaRPr sz="21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19850" y="15621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A74F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endParaRPr sz="2175" b="1">
              <a:solidFill>
                <a:srgbClr val="A74F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mac-code-window-0"/>
          <p:cNvSpPr>
            <a:spLocks noGrp="1"/>
          </p:cNvSpPr>
          <p:nvPr/>
        </p:nvSpPr>
        <p:spPr>
          <a:xfrm>
            <a:off x="60960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1" name="mac-control-0-0"/>
          <p:cNvSpPr>
            <a:spLocks noGrp="1"/>
          </p:cNvSpPr>
          <p:nvPr/>
        </p:nvSpPr>
        <p:spPr>
          <a:xfrm>
            <a:off x="81915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2" name="mac-control-0-1"/>
          <p:cNvSpPr>
            <a:spLocks noGrp="1"/>
          </p:cNvSpPr>
          <p:nvPr/>
        </p:nvSpPr>
        <p:spPr>
          <a:xfrm>
            <a:off x="103822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3" name="mac-control-0-2"/>
          <p:cNvSpPr>
            <a:spLocks noGrp="1"/>
          </p:cNvSpPr>
          <p:nvPr/>
        </p:nvSpPr>
        <p:spPr>
          <a:xfrm>
            <a:off x="125730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14" name="code-file-label-0"/>
          <p:cNvSpPr>
            <a:spLocks noGrp="1"/>
          </p:cNvSpPr>
          <p:nvPr/>
        </p:nvSpPr>
        <p:spPr>
          <a:xfrm>
            <a:off x="246697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main.at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code-window-rule-0"/>
          <p:cNvSpPr>
            <a:spLocks noGrp="1"/>
          </p:cNvSpPr>
          <p:nvPr/>
        </p:nvSpPr>
        <p:spPr>
          <a:xfrm>
            <a:off x="78105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6" name="text-5"/>
          <p:cNvSpPr>
            <a:spLocks noGrp="1"/>
          </p:cNvSpPr>
          <p:nvPr/>
        </p:nvSpPr>
        <p:spPr>
          <a:xfrm>
            <a:off x="83820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answer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return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8190A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路径省略的等价写法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const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SOUL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read_text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path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</p:txBody>
      </p:sp>
      <p:sp>
        <p:nvSpPr>
          <p:cNvPr id="16" name="mac-code-window-1"/>
          <p:cNvSpPr>
            <a:spLocks noGrp="1"/>
          </p:cNvSpPr>
          <p:nvPr/>
        </p:nvSpPr>
        <p:spPr>
          <a:xfrm>
            <a:off x="6419850" y="2038350"/>
            <a:ext cx="5238750" cy="3676650"/>
          </a:xfrm>
          <a:prstGeom prst="roundRect">
            <a:avLst>
              <a:gd name="adj" fmla="val 3627"/>
            </a:avLst>
          </a:prstGeom>
          <a:solidFill>
            <a:srgbClr val="161E2C"/>
          </a:solidFill>
          <a:ln w="9525">
            <a:solidFill>
              <a:srgbClr val="2A374D"/>
            </a:solidFill>
          </a:ln>
        </p:spPr>
      </p:sp>
      <p:sp>
        <p:nvSpPr>
          <p:cNvPr id="17" name="mac-control-1-0"/>
          <p:cNvSpPr>
            <a:spLocks noGrp="1"/>
          </p:cNvSpPr>
          <p:nvPr/>
        </p:nvSpPr>
        <p:spPr>
          <a:xfrm>
            <a:off x="6629400" y="2219325"/>
            <a:ext cx="123825" cy="123825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</p:sp>
      <p:sp>
        <p:nvSpPr>
          <p:cNvPr id="18" name="mac-control-1-1"/>
          <p:cNvSpPr>
            <a:spLocks noGrp="1"/>
          </p:cNvSpPr>
          <p:nvPr/>
        </p:nvSpPr>
        <p:spPr>
          <a:xfrm>
            <a:off x="6848475" y="2219325"/>
            <a:ext cx="123825" cy="123825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</p:sp>
      <p:sp>
        <p:nvSpPr>
          <p:cNvPr id="19" name="mac-control-1-2"/>
          <p:cNvSpPr>
            <a:spLocks noGrp="1"/>
          </p:cNvSpPr>
          <p:nvPr/>
        </p:nvSpPr>
        <p:spPr>
          <a:xfrm>
            <a:off x="7067550" y="2219325"/>
            <a:ext cx="123825" cy="123825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</p:sp>
      <p:sp>
        <p:nvSpPr>
          <p:cNvPr id="20" name="code-file-label-1"/>
          <p:cNvSpPr>
            <a:spLocks noGrp="1"/>
          </p:cNvSpPr>
          <p:nvPr/>
        </p:nvSpPr>
        <p:spPr>
          <a:xfrm>
            <a:off x="8277225" y="21336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  <a:lvl1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1pPr>
            <a:lvl2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2pPr>
            <a:lvl3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3pPr>
            <a:lvl4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4pPr>
            <a:lvl5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5pPr>
            <a:lvl6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6pPr>
            <a:lvl7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7pPr>
            <a:lvl8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8pPr>
            <a:lvl9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lvl9pPr>
          </a:lstStyle>
          <a:p>
            <a:pPr>
              <a:def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75">
                <a:solidFill>
                  <a:srgbClr val="94A3B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main.rs</a:t>
            </a:r>
            <a:endParaRPr sz="1275">
              <a:solidFill>
                <a:srgbClr val="94A3B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1" name="code-window-rule-1"/>
          <p:cNvSpPr>
            <a:spLocks noGrp="1"/>
          </p:cNvSpPr>
          <p:nvPr/>
        </p:nvSpPr>
        <p:spPr>
          <a:xfrm>
            <a:off x="6591300" y="2466975"/>
            <a:ext cx="4895850" cy="0"/>
          </a:xfrm>
          <a:prstGeom prst="line">
            <a:avLst/>
          </a:prstGeom>
          <a:noFill/>
          <a:ln w="9525">
            <a:solidFill>
              <a:srgbClr val="2A374D"/>
            </a:solidFill>
          </a:ln>
        </p:spPr>
      </p:sp>
      <p:sp>
        <p:nvSpPr>
          <p:cNvPr id="7" name="text-6"/>
          <p:cNvSpPr>
            <a:spLocks noGrp="1"/>
          </p:cNvSpPr>
          <p:nvPr/>
        </p:nvSpPr>
        <p:spPr>
          <a:xfrm>
            <a:off x="6648450" y="2552700"/>
            <a:ext cx="4781550" cy="30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/>
          <a:lstStyle/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answer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i64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return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F5AF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F4C97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800"/>
          </a:p>
          <a:p>
            <a:pPr>
              <a:lnSpc>
                <a:spcPts val="2125"/>
              </a:lnSpc>
              <a:buNone/>
            </a:pP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C4A5F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const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7DD3FC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SOUL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: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&amp;</a:t>
            </a:r>
            <a:r>
              <a:rPr sz="1800">
                <a:solidFill>
                  <a:srgbClr val="A2CFF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str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endParaRPr sz="1800"/>
          </a:p>
          <a:p>
            <a:pPr>
              <a:lnSpc>
                <a:spcPts val="2125"/>
              </a:lnSpc>
              <a:buNone/>
            </a:pP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800">
                <a:solidFill>
                  <a:srgbClr val="A7D88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"Hello from comptime!"</a:t>
            </a:r>
            <a:r>
              <a:rPr sz="1800">
                <a:solidFill>
                  <a:srgbClr val="DCE6F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;</a:t>
            </a:r>
            <a:endParaRPr sz="1800"/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编译期求值后，Rust 侧得到常量或生成结果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Playground：把语言对照变成现场实验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演示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37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886700" y="1743075"/>
            <a:ext cx="36957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改分支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4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886700" y="2257425"/>
            <a:ext cx="36957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调整 </a:t>
            </a:r>
            <a:r>
              <a:rPr lang="en-US"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</a:t>
            </a: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的输入，</a:t>
            </a:r>
            <a:r>
              <a:rPr lang="zh-CN"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也可以运行</a:t>
            </a: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观察输出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5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886700" y="3190875"/>
            <a:ext cx="36957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看 Rust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7886700" y="3705225"/>
            <a:ext cx="36957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检查生成的</a:t>
            </a:r>
            <a:r>
              <a:rPr lang="en-US"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</a:t>
            </a:r>
            <a:r>
              <a:rPr lang="zh-CN"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886700" y="4638675"/>
            <a:ext cx="36957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编译期值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-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886700" y="5153025"/>
            <a:ext cx="36957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查看常量如何进入产物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25" y="1209040"/>
            <a:ext cx="7032625" cy="458152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难点一：</a:t>
            </a:r>
            <a:r>
              <a:rPr lang="zh-CN"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异步问题，</a:t>
            </a: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Task / Msg 如何接上 Tokio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生态融合的难点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38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219452"/>
        </p:xfrm>
        <a:graphic>
          <a:graphicData uri="http://schemas.openxmlformats.org/drawingml/2006/table">
            <a:tbl>
              <a:tblPr/>
              <a:tblGrid>
                <a:gridCol w="3048000"/>
                <a:gridCol w="4162425"/>
                <a:gridCol w="3762375"/>
              </a:tblGrid>
              <a:tr h="80486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 语义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/ Tokio 对应机制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融合要点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task 状态与 on handler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异步任务、消息队列、actor loop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状态寿命与消息顺序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~T / await / reply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Future、唤醒、oneshot / channel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等待、取消与完成条件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.go 与跨任务调用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tokio::spawn、Send 边界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捕获、线程安全、资源释放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5530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关键不是改写 async 语法，而是让两种调度模型保持同样的语义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难点二：自动借用分析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生态融合的难点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39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190876"/>
        </p:xfrm>
        <a:graphic>
          <a:graphicData uri="http://schemas.openxmlformats.org/drawingml/2006/table">
            <a:tbl>
              <a:tblPr/>
              <a:tblGrid>
                <a:gridCol w="2000250"/>
                <a:gridCol w="5000625"/>
                <a:gridCol w="3971925"/>
              </a:tblGrid>
              <a:tr h="797719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当前可说明的机制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仍需解决的问题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AutoVM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RC 持有关系、捕获帧有效期守卫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复杂别名、回收与完整模型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a2r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局部借用 / 保守降级 + rustc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跨函数推导、逃逸与 Send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下一步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统一值 / 所有权 / 借用语义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新检查器与 VM / native 对齐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54355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目标是隐藏不必要的 lifetime 标注，安全责任仍由语言与运行时承担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难点三：Rust 构建成本被 AI 并行开发放大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生态融合的难点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647825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重复原生构建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09600" y="2162175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修改、单态化、代码生成与链接，增加反馈等待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5"/>
          <p:cNvSpPr>
            <a:spLocks noGrp="1"/>
          </p:cNvSpPr>
          <p:nvPr/>
        </p:nvSpPr>
        <p:spPr>
          <a:xfrm>
            <a:off x="609600" y="3133725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 worktree 放大资源成本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6"/>
          <p:cNvSpPr>
            <a:spLocks noGrp="1"/>
          </p:cNvSpPr>
          <p:nvPr/>
        </p:nvSpPr>
        <p:spPr>
          <a:xfrm>
            <a:off x="609600" y="3648075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独立输出目录叠加，内存、磁盘与锁竞争随并发上升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4619625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缓存命中仍不等于共享运行时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8"/>
          <p:cNvSpPr>
            <a:spLocks noGrp="1"/>
          </p:cNvSpPr>
          <p:nvPr/>
        </p:nvSpPr>
        <p:spPr>
          <a:xfrm>
            <a:off x="609600" y="5133975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sccache 复用编译结果，仍需恢复产物、链接和装载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下一代：统一语义前端与原生 Runtime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 AC / ACC 演进架构 · 目标与原型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41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724278"/>
        </p:xfrm>
        <a:graphic>
          <a:graphicData uri="http://schemas.openxmlformats.org/drawingml/2006/table">
            <a:tbl>
              <a:tblPr/>
              <a:tblGrid>
                <a:gridCol w="2619375"/>
                <a:gridCol w="8353425"/>
              </a:tblGrid>
              <a:tr h="6207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共同职责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62071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增量前端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语法快照、语义查询、类型 / 资源分析、编译期求值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71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Checked HIR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带校验与 profile 的公共语义表示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62071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后端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Cranelift 原生发射；VM / 转译各自消费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71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外部生态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共享接口元信息，Rust / Python / C 分别适配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62071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Module Runtime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发现、装载、常驻服务、代际与安全回收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8293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6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目标架构；有限 AC 原生闭环已有实现，完整统一系统仍在建设</a:t>
            </a:r>
            <a:endParaRPr sz="16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AutoABI 与模块热重载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 AC / ACC 演进架构 · 目标与原型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42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628775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版本化边界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09600" y="2143125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ABI 域、target、接口指纹、所有权与释放规则显式校验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5"/>
          <p:cNvSpPr>
            <a:spLocks noGrp="1"/>
          </p:cNvSpPr>
          <p:nvPr/>
        </p:nvSpPr>
        <p:spPr>
          <a:xfrm>
            <a:off x="609600" y="3124200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代际切换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6"/>
          <p:cNvSpPr>
            <a:spLocks noGrp="1"/>
          </p:cNvSpPr>
          <p:nvPr/>
        </p:nvSpPr>
        <p:spPr>
          <a:xfrm>
            <a:off x="609600" y="3638550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装入新模块，经过安全点与状态迁移，再切换稳定入口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7"/>
          <p:cNvSpPr>
            <a:spLocks noGrp="1"/>
          </p:cNvSpPr>
          <p:nvPr/>
        </p:nvSpPr>
        <p:spPr>
          <a:xfrm>
            <a:off x="609600" y="4619625"/>
            <a:ext cx="108585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延迟卸载</a:t>
            </a:r>
            <a:endParaRPr sz="23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8"/>
          <p:cNvSpPr>
            <a:spLocks noGrp="1"/>
          </p:cNvSpPr>
          <p:nvPr/>
        </p:nvSpPr>
        <p:spPr>
          <a:xfrm>
            <a:off x="609600" y="5133975"/>
            <a:ext cx="10858500" cy="8953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在途调用、回调与资源释放仍引用旧代码时，保留旧代</a:t>
            </a:r>
            <a:endParaRPr sz="2025" b="0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亚秒周转：从全局产物共享开始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 AC / ACC 演进架构 · 目标与原型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43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2800352"/>
        </p:xfrm>
        <a:graphic>
          <a:graphicData uri="http://schemas.openxmlformats.org/drawingml/2006/table">
            <a:tbl>
              <a:tblPr/>
              <a:tblGrid>
                <a:gridCol w="3714750"/>
                <a:gridCol w="7258050"/>
              </a:tblGrid>
              <a:tr h="7000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设计环节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减少的重复工作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7000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内容寻址的全局 store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跨工程 / worktree 共享不可变产物与数据块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0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阶段依赖与真实失效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只重算受修改影响的语义、HIR 和对象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7000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有界工作集 + lease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按需读取，保活在用代码，自动回收陈旧数据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4914900"/>
            <a:ext cx="10953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2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端到端目标  P95 &lt; 1 秒</a:t>
            </a:r>
            <a:endParaRPr sz="32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4"/>
          <p:cNvSpPr>
            <a:spLocks noGrp="1"/>
          </p:cNvSpPr>
          <p:nvPr/>
        </p:nvSpPr>
        <p:spPr>
          <a:xfrm>
            <a:off x="609600" y="5743575"/>
            <a:ext cx="109537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8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针对约定参考环境与代表编辑负载，尚不代表已全面达成</a:t>
            </a:r>
            <a:endParaRPr sz="18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42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 / ACC：自举与后端演进分开验收</a:t>
            </a:r>
            <a:endParaRPr sz="3300" b="1">
              <a:solidFill>
                <a:srgbClr val="1425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 AC / ACC 演进架构 · 目标与原型</a:t>
            </a:r>
            <a:endParaRPr sz="120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2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44</a:t>
            </a:r>
            <a:endParaRPr sz="1350" b="0">
              <a:solidFill>
                <a:srgbClr val="5362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733550"/>
          <a:ext cx="10972800" cy="3219452"/>
        </p:xfrm>
        <a:graphic>
          <a:graphicData uri="http://schemas.openxmlformats.org/drawingml/2006/table">
            <a:tbl>
              <a:tblPr/>
              <a:tblGrid>
                <a:gridCol w="2476500"/>
                <a:gridCol w="5638800"/>
                <a:gridCol w="2857500"/>
              </a:tblGrid>
              <a:tr h="80486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阶段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重点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状态 / 方向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T w="9525">
                      <a:solidFill>
                        <a:srgbClr val="D8E0EB"/>
                      </a:solidFill>
                    </a:lnT>
                    <a:lnB w="9525">
                      <a:solidFill>
                        <a:srgbClr val="D8E0EB"/>
                      </a:solidFill>
                    </a:lnB>
                    <a:solidFill>
                      <a:srgbClr val="111E32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AC 有限原型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Rust 前端 / Checked HIR / Cranelift / PE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已有受限原生闭环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v0.6 目标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AC 扩面、ACC 自举、ABI、增量与统一测试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按独立计划推进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EDF2F8"/>
                    </a:solidFill>
                  </a:tcPr>
                </a:tc>
              </a:tr>
              <a:tr h="8048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v0.7 方向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L w="9525">
                      <a:solidFill>
                        <a:srgbClr val="D8E0EB"/>
                      </a:solidFill>
                    </a:lnL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按基准选择优化与后端演进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3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按收益决定 MIR / 自主后端</a:t>
                      </a:r>
                      <a:endParaRPr sz="1875">
                        <a:solidFill>
                          <a:srgbClr val="14253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42875" marT="114300" marB="114300" anchor="ctr">
                    <a:lnR w="9525">
                      <a:solidFill>
                        <a:srgbClr val="D8E0EB"/>
                      </a:solidFill>
                    </a:lnR>
                    <a:lnB w="9525">
                      <a:solidFill>
                        <a:srgbClr val="D8E0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/>
          <p:cNvSpPr>
            <a:spLocks noGrp="1"/>
          </p:cNvSpPr>
          <p:nvPr/>
        </p:nvSpPr>
        <p:spPr>
          <a:xfrm>
            <a:off x="609600" y="553402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自举改变编译器的实现语言，后端重写改变机器码生成实现</a:t>
            </a:r>
            <a:endParaRPr sz="1950" b="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E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0"/>
          <p:cNvSpPr>
            <a:spLocks noGrp="1"/>
          </p:cNvSpPr>
          <p:nvPr/>
        </p:nvSpPr>
        <p:spPr>
          <a:xfrm>
            <a:off x="609600" y="4953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与 Rust 的分工</a:t>
            </a:r>
            <a:endParaRPr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"/>
          <p:cNvSpPr>
            <a:spLocks noGrp="1"/>
          </p:cNvSpPr>
          <p:nvPr/>
        </p:nvSpPr>
        <p:spPr>
          <a:xfrm>
            <a:off x="609600" y="6343650"/>
            <a:ext cx="10287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讨论</a:t>
            </a:r>
            <a:endParaRPr sz="12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2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45</a:t>
            </a:r>
            <a:endParaRPr sz="135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"/>
          <p:cNvSpPr>
            <a:spLocks noGrp="1"/>
          </p:cNvSpPr>
          <p:nvPr/>
        </p:nvSpPr>
        <p:spPr>
          <a:xfrm>
            <a:off x="609600" y="19621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提供可靠的能力底座</a:t>
            </a:r>
            <a:endParaRPr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提供高频变化的应用层</a:t>
            </a:r>
            <a:endParaRPr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4"/>
          <p:cNvSpPr>
            <a:spLocks noGrp="1"/>
          </p:cNvSpPr>
          <p:nvPr/>
        </p:nvSpPr>
        <p:spPr>
          <a:xfrm>
            <a:off x="647700" y="4276725"/>
            <a:ext cx="10858500" cy="1428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BDD2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buNone/>
              <a:defRPr sz="2400" b="0">
                <a:solidFill>
                  <a:srgbClr val="BDD2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BDD2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AutoOS 组织系统与应用</a:t>
            </a:r>
            <a:endParaRPr sz="2400" b="0">
              <a:solidFill>
                <a:srgbClr val="BDD2E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2400" b="0">
                <a:solidFill>
                  <a:srgbClr val="BDD2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BDD2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AutoUI 连接平台后端</a:t>
            </a:r>
            <a:endParaRPr sz="2400" b="0">
              <a:solidFill>
                <a:srgbClr val="BDD2E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2400" b="0">
                <a:solidFill>
                  <a:srgbClr val="BDD2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BDD2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AutoVM / a2r 缩短开发到发布的距离</a:t>
            </a:r>
            <a:endParaRPr sz="2400" b="0">
              <a:solidFill>
                <a:srgbClr val="BDD2E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E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thanks-title"/>
          <p:cNvSpPr>
            <a:spLocks noGrp="1"/>
          </p:cNvSpPr>
          <p:nvPr/>
        </p:nvSpPr>
        <p:spPr>
          <a:xfrm>
            <a:off x="685800" y="723900"/>
            <a:ext cx="6858000" cy="1143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6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Thanks</a:t>
            </a:r>
            <a:endParaRPr sz="6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label-0"/>
          <p:cNvSpPr>
            <a:spLocks noGrp="1"/>
          </p:cNvSpPr>
          <p:nvPr/>
        </p:nvSpPr>
        <p:spPr>
          <a:xfrm>
            <a:off x="723900" y="2609850"/>
            <a:ext cx="6286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官网</a:t>
            </a:r>
            <a:endParaRPr sz="1500" b="0">
              <a:solidFill>
                <a:srgbClr val="A8BDD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link-0"/>
          <p:cNvSpPr>
            <a:spLocks noGrp="1"/>
          </p:cNvSpPr>
          <p:nvPr/>
        </p:nvSpPr>
        <p:spPr>
          <a:xfrm>
            <a:off x="685800" y="2943225"/>
            <a:ext cx="666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hlinkClick r:id="rId1"/>
              </a:rPr>
              <a:t>auto-lang.cn/zh/</a:t>
            </a:r>
            <a:endParaRPr sz="2100" b="0">
              <a:solidFill>
                <a:srgbClr val="E7F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hlinkClick r:id="rId1"/>
            </a:endParaRPr>
          </a:p>
        </p:txBody>
      </p:sp>
      <p:sp>
        <p:nvSpPr>
          <p:cNvPr id="4" name="label-1"/>
          <p:cNvSpPr>
            <a:spLocks noGrp="1"/>
          </p:cNvSpPr>
          <p:nvPr/>
        </p:nvSpPr>
        <p:spPr>
          <a:xfrm>
            <a:off x="723900" y="3676650"/>
            <a:ext cx="6286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GitHub</a:t>
            </a:r>
            <a:endParaRPr sz="1500" b="0">
              <a:solidFill>
                <a:srgbClr val="A8BDD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link-1"/>
          <p:cNvSpPr>
            <a:spLocks noGrp="1"/>
          </p:cNvSpPr>
          <p:nvPr/>
        </p:nvSpPr>
        <p:spPr>
          <a:xfrm>
            <a:off x="685800" y="4010025"/>
            <a:ext cx="666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hlinkClick r:id="rId2"/>
              </a:rPr>
              <a:t>github.com/auto-stack/auto-lang</a:t>
            </a:r>
            <a:endParaRPr sz="2100" b="0">
              <a:solidFill>
                <a:srgbClr val="E7F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hlinkClick r:id="rId2"/>
            </a:endParaRPr>
          </a:p>
        </p:txBody>
      </p:sp>
      <p:sp>
        <p:nvSpPr>
          <p:cNvPr id="6" name="label-2"/>
          <p:cNvSpPr>
            <a:spLocks noGrp="1"/>
          </p:cNvSpPr>
          <p:nvPr/>
        </p:nvSpPr>
        <p:spPr>
          <a:xfrm>
            <a:off x="723900" y="4743450"/>
            <a:ext cx="6286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A8BDD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公众号文章</a:t>
            </a:r>
            <a:endParaRPr sz="1500" b="0">
              <a:solidFill>
                <a:srgbClr val="A8BDD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link-2"/>
          <p:cNvSpPr>
            <a:spLocks noGrp="1"/>
          </p:cNvSpPr>
          <p:nvPr/>
        </p:nvSpPr>
        <p:spPr>
          <a:xfrm>
            <a:off x="685800" y="5076825"/>
            <a:ext cx="666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E7F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hlinkClick r:id="rId3"/>
              </a:rPr>
              <a:t>阅读 Auto 生态介绍</a:t>
            </a:r>
            <a:endParaRPr sz="2100" b="0">
              <a:solidFill>
                <a:srgbClr val="E7F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hlinkClick r:id="rId3"/>
            </a:endParaRPr>
          </a:p>
        </p:txBody>
      </p:sp>
      <p:sp>
        <p:nvSpPr>
          <p:cNvPr id="8" name="group-name"/>
          <p:cNvSpPr>
            <a:spLocks noGrp="1"/>
          </p:cNvSpPr>
          <p:nvPr/>
        </p:nvSpPr>
        <p:spPr>
          <a:xfrm>
            <a:off x="8201025" y="2038350"/>
            <a:ext cx="34290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 语言讨论群</a:t>
            </a:r>
            <a:endParaRPr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group-caption"/>
          <p:cNvSpPr>
            <a:spLocks noGrp="1"/>
          </p:cNvSpPr>
          <p:nvPr/>
        </p:nvSpPr>
        <p:spPr>
          <a:xfrm>
            <a:off x="8448675" y="5686425"/>
            <a:ext cx="30480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6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扫码加入，一起交流</a:t>
            </a:r>
            <a:endParaRPr sz="165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footer"/>
          <p:cNvSpPr>
            <a:spLocks noGrp="1"/>
          </p:cNvSpPr>
          <p:nvPr/>
        </p:nvSpPr>
        <p:spPr>
          <a:xfrm>
            <a:off x="685800" y="6343650"/>
            <a:ext cx="95250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Auto/Rust 生态融合</a:t>
            </a:r>
            <a:endParaRPr sz="120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page"/>
          <p:cNvSpPr>
            <a:spLocks noGrp="1"/>
          </p:cNvSpPr>
          <p:nvPr/>
        </p:nvSpPr>
        <p:spPr>
          <a:xfrm>
            <a:off x="11144250" y="632460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BCD0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46</a:t>
            </a:r>
            <a:endParaRPr sz="1350" b="0">
              <a:solidFill>
                <a:srgbClr val="BCD0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rcRect l="19212" t="39040" r="19310" b="2258"/>
          <a:stretch>
            <a:fillRect/>
          </a:stretch>
        </p:blipFill>
        <p:spPr>
          <a:xfrm>
            <a:off x="8286750" y="2600325"/>
            <a:ext cx="3009900" cy="30099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39,&quot;left&quot;:621,&quot;top&quot;:137.25,&quot;width&quot;:291}"/>
</p:tagLst>
</file>

<file path=ppt/tags/tag2.xml><?xml version="1.0" encoding="utf-8"?>
<p:tagLst xmlns:p="http://schemas.openxmlformats.org/presentationml/2006/main">
  <p:tag name="KSO_WM_DIAGRAM_VIRTUALLY_FRAME" val="{&quot;height&quot;:339,&quot;left&quot;:621,&quot;top&quot;:137.25,&quot;width&quot;:291}"/>
</p:tagLst>
</file>

<file path=ppt/tags/tag3.xml><?xml version="1.0" encoding="utf-8"?>
<p:tagLst xmlns:p="http://schemas.openxmlformats.org/presentationml/2006/main">
  <p:tag name="KSO_WM_DIAGRAM_VIRTUALLY_FRAME" val="{&quot;height&quot;:339,&quot;left&quot;:621,&quot;top&quot;:137.25,&quot;width&quot;:291}"/>
</p:tagLst>
</file>

<file path=ppt/tags/tag4.xml><?xml version="1.0" encoding="utf-8"?>
<p:tagLst xmlns:p="http://schemas.openxmlformats.org/presentationml/2006/main">
  <p:tag name="KSO_WM_DIAGRAM_VIRTUALLY_FRAME" val="{&quot;height&quot;:339,&quot;left&quot;:621,&quot;top&quot;:137.25,&quot;width&quot;:291}"/>
</p:tagLst>
</file>

<file path=ppt/tags/tag5.xml><?xml version="1.0" encoding="utf-8"?>
<p:tagLst xmlns:p="http://schemas.openxmlformats.org/presentationml/2006/main">
  <p:tag name="KSO_WM_DIAGRAM_VIRTUALLY_FRAME" val="{&quot;height&quot;:339,&quot;left&quot;:621,&quot;top&quot;:137.25,&quot;width&quot;:291}"/>
</p:tagLst>
</file>

<file path=ppt/tags/tag6.xml><?xml version="1.0" encoding="utf-8"?>
<p:tagLst xmlns:p="http://schemas.openxmlformats.org/presentationml/2006/main">
  <p:tag name="KSO_WM_DIAGRAM_VIRTUALLY_FRAME" val="{&quot;height&quot;:339,&quot;left&quot;:621,&quot;top&quot;:137.25,&quot;width&quot;:291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9426</Words>
  <Application>WPS 演示</Application>
  <PresentationFormat>Converted Presentation</PresentationFormat>
  <Paragraphs>1213</Paragraphs>
  <Slides>46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3" baseType="lpstr">
      <vt:lpstr>Arial</vt:lpstr>
      <vt:lpstr>宋体</vt:lpstr>
      <vt:lpstr>Wingdings</vt:lpstr>
      <vt:lpstr>微软雅黑</vt:lpstr>
      <vt:lpstr>Arial Unicode MS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璟</cp:lastModifiedBy>
  <cp:revision>12</cp:revision>
  <dcterms:created xsi:type="dcterms:W3CDTF">2026-10-16T02:54:00Z</dcterms:created>
  <dcterms:modified xsi:type="dcterms:W3CDTF">2026-10-19T01:37:04Z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A8B88C6DA08A4359BF8EFE9B081F0162_12</vt:lpwstr>
  </property>
  <property fmtid="{D5CDD505-2E9C-101B-9397-08002B2CF9AE}" pid="3" name="KSOProductBuildVer">
    <vt:lpwstr>2052-12.1.0.29161</vt:lpwstr>
  </property>
</Properties>
</file>